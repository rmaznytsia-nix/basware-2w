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comment1.xml" ContentType="application/vnd.openxmlformats-officedocument.presentationml.comment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omments/comment2.xml" ContentType="application/vnd.openxmlformats-officedocument.presentationml.comment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8"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evin Barlow" initials="" lastIdx="3" clrIdx="0"/>
  <p:cmAuthor id="2" name="Scott Smith" initials="" lastIdx="1" clrIdx="1"/>
  <p:cmAuthor id="3" name="Satish Garla" initials="" lastIdx="1" clrIdx="2"/>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50068"/>
  </p:normalViewPr>
  <p:slideViewPr>
    <p:cSldViewPr snapToGrid="0">
      <p:cViewPr varScale="1">
        <p:scale>
          <a:sx n="60" d="100"/>
          <a:sy n="60" d="100"/>
        </p:scale>
        <p:origin x="309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03-20T22:04:45.083" idx="2">
    <p:pos x="4737" y="1752"/>
    <p:text>@satish.garla@databricks.com Is this OK to leave behind with partners?</p:text>
  </p:cm>
  <p:cm authorId="2" dt="2023-03-28T20:00:43.129" idx="1">
    <p:pos x="4737" y="1752"/>
    <p:text>@scott.smith@databricks.com To make available as a download
_Reassigned to Scott Smith_</p:text>
  </p:cm>
  <p:cm authorId="3" dt="2023-03-28T20:00:43.129" idx="1">
    <p:pos x="4737" y="1752"/>
    <p:text>yes should be ok</p:text>
  </p:cm>
</p:cmLst>
</file>

<file path=ppt/comments/comment2.xml><?xml version="1.0" encoding="utf-8"?>
<p:cmLst xmlns:a="http://schemas.openxmlformats.org/drawingml/2006/main" xmlns:r="http://schemas.openxmlformats.org/officeDocument/2006/relationships" xmlns:p="http://schemas.openxmlformats.org/presentationml/2006/main">
  <p:cm authorId="1" dt="2023-03-20T14:23:03.347" idx="3">
    <p:pos x="6000" y="0"/>
    <p:text>@scott.smith@databricks.com How about this new slide? I think it does a better job of highlighting our own capabilities, and showing partners as plugging into our solution as opposed to driving it
_Assigned to Scott Smith_</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D3ACC1-8C8E-0244-AE76-634393C29A97}" type="datetimeFigureOut">
              <a:rPr lang="en-US" smtClean="0"/>
              <a:t>5/5/23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1261AB-149F-6648-95A5-A2361786C751}" type="slidenum">
              <a:rPr lang="en-US" smtClean="0"/>
              <a:t>‹#›</a:t>
            </a:fld>
            <a:endParaRPr lang="en-US"/>
          </a:p>
        </p:txBody>
      </p:sp>
    </p:spTree>
    <p:extLst>
      <p:ext uri="{BB962C8B-B14F-4D97-AF65-F5344CB8AC3E}">
        <p14:creationId xmlns:p14="http://schemas.microsoft.com/office/powerpoint/2010/main" val="40268419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1"/>
        <p:cNvGrpSpPr/>
        <p:nvPr/>
      </p:nvGrpSpPr>
      <p:grpSpPr>
        <a:xfrm>
          <a:off x="0" y="0"/>
          <a:ext cx="0" cy="0"/>
          <a:chOff x="0" y="0"/>
          <a:chExt cx="0" cy="0"/>
        </a:xfrm>
      </p:grpSpPr>
      <p:sp>
        <p:nvSpPr>
          <p:cNvPr id="2962" name="Google Shape;2962;g1172701f59c_0_4995: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3" name="Google Shape;2963;g1172701f59c_0_49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7"/>
        <p:cNvGrpSpPr/>
        <p:nvPr/>
      </p:nvGrpSpPr>
      <p:grpSpPr>
        <a:xfrm>
          <a:off x="0" y="0"/>
          <a:ext cx="0" cy="0"/>
          <a:chOff x="0" y="0"/>
          <a:chExt cx="0" cy="0"/>
        </a:xfrm>
      </p:grpSpPr>
      <p:sp>
        <p:nvSpPr>
          <p:cNvPr id="2968" name="Google Shape;2968;g190aed8afbd_0_17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endParaRPr dirty="0"/>
          </a:p>
        </p:txBody>
      </p:sp>
      <p:sp>
        <p:nvSpPr>
          <p:cNvPr id="2969" name="Google Shape;2969;g190aed8afbd_0_1797: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2"/>
        <p:cNvGrpSpPr/>
        <p:nvPr/>
      </p:nvGrpSpPr>
      <p:grpSpPr>
        <a:xfrm>
          <a:off x="0" y="0"/>
          <a:ext cx="0" cy="0"/>
          <a:chOff x="0" y="0"/>
          <a:chExt cx="0" cy="0"/>
        </a:xfrm>
      </p:grpSpPr>
      <p:sp>
        <p:nvSpPr>
          <p:cNvPr id="3023" name="Google Shape;3023;g2175b156017_0_0:notes"/>
          <p:cNvSpPr>
            <a:spLocks noGrp="1" noRot="1" noChangeAspect="1"/>
          </p:cNvSpPr>
          <p:nvPr>
            <p:ph type="sldImg" idx="2"/>
          </p:nvPr>
        </p:nvSpPr>
        <p:spPr>
          <a:xfrm>
            <a:off x="685772"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24" name="Google Shape;3024;g2175b15601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25" name="Google Shape;3025;g2175b156017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5"/>
        <p:cNvGrpSpPr/>
        <p:nvPr/>
      </p:nvGrpSpPr>
      <p:grpSpPr>
        <a:xfrm>
          <a:off x="0" y="0"/>
          <a:ext cx="0" cy="0"/>
          <a:chOff x="0" y="0"/>
          <a:chExt cx="0" cy="0"/>
        </a:xfrm>
      </p:grpSpPr>
      <p:sp>
        <p:nvSpPr>
          <p:cNvPr id="3046" name="Google Shape;3046;g2175b156017_0_483:notes"/>
          <p:cNvSpPr>
            <a:spLocks noGrp="1" noRot="1" noChangeAspect="1"/>
          </p:cNvSpPr>
          <p:nvPr>
            <p:ph type="sldImg" idx="2"/>
          </p:nvPr>
        </p:nvSpPr>
        <p:spPr>
          <a:xfrm>
            <a:off x="685772"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47" name="Google Shape;3047;g2175b156017_0_48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48" name="Google Shape;3048;g2175b156017_0_48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2"/>
        <p:cNvGrpSpPr/>
        <p:nvPr/>
      </p:nvGrpSpPr>
      <p:grpSpPr>
        <a:xfrm>
          <a:off x="0" y="0"/>
          <a:ext cx="0" cy="0"/>
          <a:chOff x="0" y="0"/>
          <a:chExt cx="0" cy="0"/>
        </a:xfrm>
      </p:grpSpPr>
      <p:sp>
        <p:nvSpPr>
          <p:cNvPr id="3073" name="Google Shape;3073;g2175b156017_0_556:notes"/>
          <p:cNvSpPr>
            <a:spLocks noGrp="1" noRot="1" noChangeAspect="1"/>
          </p:cNvSpPr>
          <p:nvPr>
            <p:ph type="sldImg" idx="2"/>
          </p:nvPr>
        </p:nvSpPr>
        <p:spPr>
          <a:xfrm>
            <a:off x="685772"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4" name="Google Shape;3074;g2175b156017_0_55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75" name="Google Shape;3075;g2175b156017_0_55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4"/>
        <p:cNvGrpSpPr/>
        <p:nvPr/>
      </p:nvGrpSpPr>
      <p:grpSpPr>
        <a:xfrm>
          <a:off x="0" y="0"/>
          <a:ext cx="0" cy="0"/>
          <a:chOff x="0" y="0"/>
          <a:chExt cx="0" cy="0"/>
        </a:xfrm>
      </p:grpSpPr>
      <p:sp>
        <p:nvSpPr>
          <p:cNvPr id="3115" name="Google Shape;3115;g2175b156017_0_410:notes"/>
          <p:cNvSpPr>
            <a:spLocks noGrp="1" noRot="1" noChangeAspect="1"/>
          </p:cNvSpPr>
          <p:nvPr>
            <p:ph type="sldImg" idx="2"/>
          </p:nvPr>
        </p:nvSpPr>
        <p:spPr>
          <a:xfrm>
            <a:off x="685772"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16" name="Google Shape;3116;g2175b156017_0_4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17" name="Google Shape;3117;g2175b156017_0_4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2"/>
        <p:cNvGrpSpPr/>
        <p:nvPr/>
      </p:nvGrpSpPr>
      <p:grpSpPr>
        <a:xfrm>
          <a:off x="0" y="0"/>
          <a:ext cx="0" cy="0"/>
          <a:chOff x="0" y="0"/>
          <a:chExt cx="0" cy="0"/>
        </a:xfrm>
      </p:grpSpPr>
      <p:sp>
        <p:nvSpPr>
          <p:cNvPr id="3183" name="Google Shape;3183;g2175b156017_0_1002:notes"/>
          <p:cNvSpPr>
            <a:spLocks noGrp="1" noRot="1" noChangeAspect="1"/>
          </p:cNvSpPr>
          <p:nvPr>
            <p:ph type="sldImg" idx="2"/>
          </p:nvPr>
        </p:nvSpPr>
        <p:spPr>
          <a:xfrm>
            <a:off x="382063" y="685800"/>
            <a:ext cx="60945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4" name="Google Shape;3184;g2175b156017_0_10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We've achieved delivering analytics on the lakehouse with world-class performance and data lake economics. </a:t>
            </a:r>
            <a:endParaRPr/>
          </a:p>
          <a:p>
            <a:pPr marL="0" lvl="0" indent="0" algn="l" rtl="0">
              <a:spcBef>
                <a:spcPts val="0"/>
              </a:spcBef>
              <a:spcAft>
                <a:spcPts val="0"/>
              </a:spcAft>
              <a:buNone/>
            </a:pPr>
            <a:endParaRPr/>
          </a:p>
          <a:p>
            <a:pPr marL="0" lvl="0" indent="0" algn="l" rtl="0">
              <a:spcBef>
                <a:spcPts val="0"/>
              </a:spcBef>
              <a:spcAft>
                <a:spcPts val="0"/>
              </a:spcAft>
              <a:buNone/>
            </a:pPr>
            <a:r>
              <a:rPr lang="en"/>
              <a:t>But the benefits are more than simply building a DW on a DL - now you can run all data BI and AI workloads on one source of truth for ALL your data - without vendor lock-in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3"/>
        <p:cNvGrpSpPr/>
        <p:nvPr/>
      </p:nvGrpSpPr>
      <p:grpSpPr>
        <a:xfrm>
          <a:off x="0" y="0"/>
          <a:ext cx="0" cy="0"/>
          <a:chOff x="0" y="0"/>
          <a:chExt cx="0" cy="0"/>
        </a:xfrm>
      </p:grpSpPr>
      <p:sp>
        <p:nvSpPr>
          <p:cNvPr id="3214" name="Google Shape;3214;g2175b156017_0_1361:notes"/>
          <p:cNvSpPr>
            <a:spLocks noGrp="1" noRot="1" noChangeAspect="1"/>
          </p:cNvSpPr>
          <p:nvPr>
            <p:ph type="sldImg" idx="2"/>
          </p:nvPr>
        </p:nvSpPr>
        <p:spPr>
          <a:xfrm>
            <a:off x="381763" y="685800"/>
            <a:ext cx="60945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15" name="Google Shape;3215;g2175b156017_0_13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360"/>
              </a:spcBef>
              <a:spcAft>
                <a:spcPts val="0"/>
              </a:spcAft>
              <a:buClr>
                <a:schemeClr val="dk1"/>
              </a:buClr>
              <a:buSzPts val="1400"/>
              <a:buFont typeface="Calibri"/>
              <a:buNone/>
            </a:pPr>
            <a:r>
              <a:rPr lang="en"/>
              <a:t>Many customers have migrated away from a Snowflake-centric architecture into a Databricks Lakehouse architecture. Overall, the migration process is pretty seamless and very beneficial for you.</a:t>
            </a:r>
            <a:endParaRPr/>
          </a:p>
          <a:p>
            <a:pPr marL="0" lvl="0" indent="0" algn="l" rtl="0">
              <a:lnSpc>
                <a:spcPct val="100000"/>
              </a:lnSpc>
              <a:spcBef>
                <a:spcPts val="360"/>
              </a:spcBef>
              <a:spcAft>
                <a:spcPts val="0"/>
              </a:spcAft>
              <a:buClr>
                <a:schemeClr val="dk1"/>
              </a:buClr>
              <a:buSzPts val="1400"/>
              <a:buFont typeface="Calibri"/>
              <a:buNone/>
            </a:pPr>
            <a:endParaRPr/>
          </a:p>
          <a:p>
            <a:pPr marL="0" lvl="0" indent="0" algn="l" rtl="0">
              <a:lnSpc>
                <a:spcPct val="100000"/>
              </a:lnSpc>
              <a:spcBef>
                <a:spcPts val="360"/>
              </a:spcBef>
              <a:spcAft>
                <a:spcPts val="0"/>
              </a:spcAft>
              <a:buClr>
                <a:schemeClr val="dk1"/>
              </a:buClr>
              <a:buSzPts val="1400"/>
              <a:buFont typeface="Calibri"/>
              <a:buNone/>
            </a:pPr>
            <a:r>
              <a:rPr lang="en"/>
              <a:t>On the Snowflake side, you will see many of the most common problems that we see companies run into when building around Snowflake. (At this point, highlight the ones that are most important to the customer).</a:t>
            </a:r>
            <a:endParaRPr/>
          </a:p>
          <a:p>
            <a:pPr marL="0" lvl="0" indent="0" algn="l" rtl="0">
              <a:lnSpc>
                <a:spcPct val="100000"/>
              </a:lnSpc>
              <a:spcBef>
                <a:spcPts val="360"/>
              </a:spcBef>
              <a:spcAft>
                <a:spcPts val="0"/>
              </a:spcAft>
              <a:buClr>
                <a:schemeClr val="dk1"/>
              </a:buClr>
              <a:buSzPts val="1400"/>
              <a:buFont typeface="Calibri"/>
              <a:buNone/>
            </a:pPr>
            <a:endParaRPr/>
          </a:p>
          <a:p>
            <a:pPr marL="0" lvl="0" indent="0" algn="l" rtl="0">
              <a:lnSpc>
                <a:spcPct val="100000"/>
              </a:lnSpc>
              <a:spcBef>
                <a:spcPts val="360"/>
              </a:spcBef>
              <a:spcAft>
                <a:spcPts val="0"/>
              </a:spcAft>
              <a:buClr>
                <a:schemeClr val="dk1"/>
              </a:buClr>
              <a:buSzPts val="1400"/>
              <a:buFont typeface="Calibri"/>
              <a:buNone/>
            </a:pPr>
            <a:r>
              <a:rPr lang="en"/>
              <a:t>When moving to a Databricks architecture, customers can benefit from a variety of tools included in our platform that encompass the entire data and AI lifecycle. (Highlight the most important sections for the customer).</a:t>
            </a:r>
            <a:endParaRPr/>
          </a:p>
        </p:txBody>
      </p:sp>
      <p:sp>
        <p:nvSpPr>
          <p:cNvPr id="3216" name="Google Shape;3216;g2175b156017_0_136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1"/>
        <p:cNvGrpSpPr/>
        <p:nvPr/>
      </p:nvGrpSpPr>
      <p:grpSpPr>
        <a:xfrm>
          <a:off x="0" y="0"/>
          <a:ext cx="0" cy="0"/>
          <a:chOff x="0" y="0"/>
          <a:chExt cx="0" cy="0"/>
        </a:xfrm>
      </p:grpSpPr>
      <p:sp>
        <p:nvSpPr>
          <p:cNvPr id="3252" name="Google Shape;3252;g1b21699e73b_0_3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3" name="Google Shape;3253;g1b21699e73b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9"/>
        <p:cNvGrpSpPr/>
        <p:nvPr/>
      </p:nvGrpSpPr>
      <p:grpSpPr>
        <a:xfrm>
          <a:off x="0" y="0"/>
          <a:ext cx="0" cy="0"/>
          <a:chOff x="0" y="0"/>
          <a:chExt cx="0" cy="0"/>
        </a:xfrm>
      </p:grpSpPr>
      <p:sp>
        <p:nvSpPr>
          <p:cNvPr id="3280" name="Google Shape;3280;g1b21699e73b_0_733: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81" name="Google Shape;3281;g1b21699e73b_0_7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5"/>
        <p:cNvGrpSpPr/>
        <p:nvPr/>
      </p:nvGrpSpPr>
      <p:grpSpPr>
        <a:xfrm>
          <a:off x="0" y="0"/>
          <a:ext cx="0" cy="0"/>
          <a:chOff x="0" y="0"/>
          <a:chExt cx="0" cy="0"/>
        </a:xfrm>
      </p:grpSpPr>
      <p:sp>
        <p:nvSpPr>
          <p:cNvPr id="3286" name="Google Shape;3286;g1172701f59c_0_359: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87" name="Google Shape;3287;g1172701f59c_0_359: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 PC - , stored prcs, views.. </a:t>
            </a:r>
            <a:endParaRPr/>
          </a:p>
        </p:txBody>
      </p:sp>
      <p:sp>
        <p:nvSpPr>
          <p:cNvPr id="3288" name="Google Shape;3288;g1172701f59c_0_3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6"/>
        <p:cNvGrpSpPr/>
        <p:nvPr/>
      </p:nvGrpSpPr>
      <p:grpSpPr>
        <a:xfrm>
          <a:off x="0" y="0"/>
          <a:ext cx="0" cy="0"/>
          <a:chOff x="0" y="0"/>
          <a:chExt cx="0" cy="0"/>
        </a:xfrm>
      </p:grpSpPr>
      <p:sp>
        <p:nvSpPr>
          <p:cNvPr id="3297" name="Google Shape;3297;g1b21699e73b_0_1847: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8" name="Google Shape;3298;g1b21699e73b_0_18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4"/>
        <p:cNvGrpSpPr/>
        <p:nvPr/>
      </p:nvGrpSpPr>
      <p:grpSpPr>
        <a:xfrm>
          <a:off x="0" y="0"/>
          <a:ext cx="0" cy="0"/>
          <a:chOff x="0" y="0"/>
          <a:chExt cx="0" cy="0"/>
        </a:xfrm>
      </p:grpSpPr>
      <p:sp>
        <p:nvSpPr>
          <p:cNvPr id="3305" name="Google Shape;3305;g2175b156017_0_630:notes"/>
          <p:cNvSpPr>
            <a:spLocks noGrp="1" noRot="1" noChangeAspect="1"/>
          </p:cNvSpPr>
          <p:nvPr>
            <p:ph type="sldImg" idx="2"/>
          </p:nvPr>
        </p:nvSpPr>
        <p:spPr>
          <a:xfrm>
            <a:off x="382063" y="685800"/>
            <a:ext cx="60945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6" name="Google Shape;3306;g2175b156017_0_6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3"/>
        <p:cNvGrpSpPr/>
        <p:nvPr/>
      </p:nvGrpSpPr>
      <p:grpSpPr>
        <a:xfrm>
          <a:off x="0" y="0"/>
          <a:ext cx="0" cy="0"/>
          <a:chOff x="0" y="0"/>
          <a:chExt cx="0" cy="0"/>
        </a:xfrm>
      </p:grpSpPr>
      <p:sp>
        <p:nvSpPr>
          <p:cNvPr id="3314" name="Google Shape;3314;g1172701f59c_0_49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5" name="Google Shape;3315;g1172701f59c_0_49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9"/>
        <p:cNvGrpSpPr/>
        <p:nvPr/>
      </p:nvGrpSpPr>
      <p:grpSpPr>
        <a:xfrm>
          <a:off x="0" y="0"/>
          <a:ext cx="0" cy="0"/>
          <a:chOff x="0" y="0"/>
          <a:chExt cx="0" cy="0"/>
        </a:xfrm>
      </p:grpSpPr>
      <p:sp>
        <p:nvSpPr>
          <p:cNvPr id="3320" name="Google Shape;3320;g209574e6c9d_0_1053: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1" name="Google Shape;3321;g209574e6c9d_0_10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300" dirty="0">
                <a:latin typeface="DM Sans Medium"/>
                <a:ea typeface="DM Sans Medium"/>
                <a:cs typeface="DM Sans Medium"/>
                <a:sym typeface="DM Sans Medium"/>
              </a:rPr>
              <a:t>Curate Data and Offer Trusted Data-as-Products</a:t>
            </a:r>
            <a:endParaRPr sz="1300" dirty="0">
              <a:latin typeface="DM Sans Medium"/>
              <a:ea typeface="DM Sans Medium"/>
              <a:cs typeface="DM Sans Medium"/>
              <a:sym typeface="DM Sans Medium"/>
            </a:endParaRPr>
          </a:p>
          <a:p>
            <a:pPr marL="0" lvl="0" indent="0" algn="l" rtl="0">
              <a:spcBef>
                <a:spcPts val="400"/>
              </a:spcBef>
              <a:spcAft>
                <a:spcPts val="0"/>
              </a:spcAft>
              <a:buNone/>
            </a:pPr>
            <a:r>
              <a:rPr lang="en" sz="1200" dirty="0">
                <a:solidFill>
                  <a:srgbClr val="1B5162"/>
                </a:solidFill>
                <a:latin typeface="DM Sans"/>
                <a:ea typeface="DM Sans"/>
                <a:cs typeface="DM Sans"/>
                <a:sym typeface="DM Sans"/>
              </a:rPr>
              <a:t>Curating data is essential to create a high value data lake for BI and ML/AI:</a:t>
            </a:r>
            <a:endParaRPr sz="1200" dirty="0">
              <a:solidFill>
                <a:srgbClr val="1B5162"/>
              </a:solidFill>
              <a:latin typeface="DM Sans"/>
              <a:ea typeface="DM Sans"/>
              <a:cs typeface="DM Sans"/>
              <a:sym typeface="DM Sans"/>
            </a:endParaRPr>
          </a:p>
          <a:p>
            <a:pPr marL="457200" lvl="0" indent="-304800" algn="l" rtl="0">
              <a:spcBef>
                <a:spcPts val="0"/>
              </a:spcBef>
              <a:spcAft>
                <a:spcPts val="0"/>
              </a:spcAft>
              <a:buClr>
                <a:srgbClr val="1B5162"/>
              </a:buClr>
              <a:buSzPts val="1200"/>
              <a:buFont typeface="DM Sans"/>
              <a:buChar char="●"/>
            </a:pPr>
            <a:r>
              <a:rPr lang="en" sz="1200" dirty="0">
                <a:solidFill>
                  <a:srgbClr val="1B5162"/>
                </a:solidFill>
                <a:latin typeface="DM Sans"/>
                <a:ea typeface="DM Sans"/>
                <a:cs typeface="DM Sans"/>
                <a:sym typeface="DM Sans"/>
              </a:rPr>
              <a:t>Treat data like a product with a clear definition, schema, and lifecycle</a:t>
            </a:r>
            <a:endParaRPr sz="1200" dirty="0">
              <a:solidFill>
                <a:srgbClr val="1B5162"/>
              </a:solidFill>
              <a:latin typeface="DM Sans"/>
              <a:ea typeface="DM Sans"/>
              <a:cs typeface="DM Sans"/>
              <a:sym typeface="DM Sans"/>
            </a:endParaRPr>
          </a:p>
          <a:p>
            <a:pPr marL="457200" lvl="0" indent="-304800" algn="l" rtl="0">
              <a:spcBef>
                <a:spcPts val="0"/>
              </a:spcBef>
              <a:spcAft>
                <a:spcPts val="0"/>
              </a:spcAft>
              <a:buClr>
                <a:srgbClr val="1B5162"/>
              </a:buClr>
              <a:buSzPts val="1200"/>
              <a:buFont typeface="DM Sans"/>
              <a:buChar char="●"/>
            </a:pPr>
            <a:r>
              <a:rPr lang="en" sz="1200" dirty="0">
                <a:solidFill>
                  <a:srgbClr val="1B5162"/>
                </a:solidFill>
                <a:latin typeface="DM Sans"/>
                <a:ea typeface="DM Sans"/>
                <a:cs typeface="DM Sans"/>
                <a:sym typeface="DM Sans"/>
              </a:rPr>
              <a:t>Ensure semantic consistency and that business users can fully trust the data</a:t>
            </a:r>
            <a:endParaRPr sz="1200" dirty="0">
              <a:solidFill>
                <a:srgbClr val="1B5162"/>
              </a:solidFill>
              <a:latin typeface="DM Sans"/>
              <a:ea typeface="DM Sans"/>
              <a:cs typeface="DM Sans"/>
              <a:sym typeface="DM Sans"/>
            </a:endParaRPr>
          </a:p>
          <a:p>
            <a:pPr marL="0" lvl="0" indent="0" algn="l" rtl="0">
              <a:spcBef>
                <a:spcPts val="0"/>
              </a:spcBef>
              <a:spcAft>
                <a:spcPts val="0"/>
              </a:spcAft>
              <a:buNone/>
            </a:pPr>
            <a:endParaRPr sz="1300" dirty="0">
              <a:latin typeface="DM Sans Medium"/>
              <a:ea typeface="DM Sans Medium"/>
              <a:cs typeface="DM Sans Medium"/>
              <a:sym typeface="DM Sans Medium"/>
            </a:endParaRPr>
          </a:p>
          <a:p>
            <a:pPr marL="0" lvl="0" indent="0" algn="l" rtl="0">
              <a:spcBef>
                <a:spcPts val="400"/>
              </a:spcBef>
              <a:spcAft>
                <a:spcPts val="0"/>
              </a:spcAft>
              <a:buNone/>
            </a:pPr>
            <a:r>
              <a:rPr lang="en" sz="1300" dirty="0">
                <a:latin typeface="DM Sans Medium"/>
                <a:ea typeface="DM Sans Medium"/>
                <a:cs typeface="DM Sans Medium"/>
                <a:sym typeface="DM Sans Medium"/>
              </a:rPr>
              <a:t>Remove Data Silos and Minimize Data Movement</a:t>
            </a:r>
            <a:endParaRPr sz="1300" dirty="0">
              <a:latin typeface="DM Sans Medium"/>
              <a:ea typeface="DM Sans Medium"/>
              <a:cs typeface="DM Sans Medium"/>
              <a:sym typeface="DM Sans Medium"/>
            </a:endParaRPr>
          </a:p>
          <a:p>
            <a:pPr marL="0" lvl="0" indent="0" algn="l" rtl="0">
              <a:spcBef>
                <a:spcPts val="400"/>
              </a:spcBef>
              <a:spcAft>
                <a:spcPts val="0"/>
              </a:spcAft>
              <a:buNone/>
            </a:pPr>
            <a:r>
              <a:rPr lang="en" sz="1200" dirty="0">
                <a:solidFill>
                  <a:srgbClr val="1B5162"/>
                </a:solidFill>
                <a:latin typeface="DM Sans"/>
                <a:ea typeface="DM Sans"/>
                <a:cs typeface="DM Sans"/>
                <a:sym typeface="DM Sans"/>
              </a:rPr>
              <a:t>Eliminating data silos is another important principle for building a trusted data lake:</a:t>
            </a:r>
            <a:endParaRPr sz="1200" dirty="0">
              <a:solidFill>
                <a:srgbClr val="1B5162"/>
              </a:solidFill>
              <a:latin typeface="DM Sans"/>
              <a:ea typeface="DM Sans"/>
              <a:cs typeface="DM Sans"/>
              <a:sym typeface="DM Sans"/>
            </a:endParaRPr>
          </a:p>
          <a:p>
            <a:pPr marL="457200" lvl="0" indent="-304800" algn="l" rtl="0">
              <a:spcBef>
                <a:spcPts val="0"/>
              </a:spcBef>
              <a:spcAft>
                <a:spcPts val="0"/>
              </a:spcAft>
              <a:buClr>
                <a:srgbClr val="1B5162"/>
              </a:buClr>
              <a:buSzPts val="1200"/>
              <a:buFont typeface="DM Sans"/>
              <a:buChar char="●"/>
            </a:pPr>
            <a:r>
              <a:rPr lang="en" sz="1200" dirty="0">
                <a:solidFill>
                  <a:srgbClr val="1B5162"/>
                </a:solidFill>
                <a:latin typeface="DM Sans"/>
                <a:ea typeface="DM Sans"/>
                <a:cs typeface="DM Sans"/>
                <a:sym typeface="DM Sans"/>
              </a:rPr>
              <a:t>Don’t create copies of the same data with business processes relying on these different copies</a:t>
            </a:r>
            <a:endParaRPr sz="1200" dirty="0">
              <a:solidFill>
                <a:srgbClr val="1B5162"/>
              </a:solidFill>
              <a:latin typeface="DM Sans"/>
              <a:ea typeface="DM Sans"/>
              <a:cs typeface="DM Sans"/>
              <a:sym typeface="DM Sans"/>
            </a:endParaRPr>
          </a:p>
          <a:p>
            <a:pPr marL="457200" lvl="0" indent="-304800" algn="l" rtl="0">
              <a:spcBef>
                <a:spcPts val="0"/>
              </a:spcBef>
              <a:spcAft>
                <a:spcPts val="0"/>
              </a:spcAft>
              <a:buClr>
                <a:srgbClr val="1B5162"/>
              </a:buClr>
              <a:buSzPts val="1200"/>
              <a:buFont typeface="DM Sans"/>
              <a:buChar char="●"/>
            </a:pPr>
            <a:r>
              <a:rPr lang="en" sz="1200" dirty="0">
                <a:solidFill>
                  <a:srgbClr val="1B5162"/>
                </a:solidFill>
                <a:latin typeface="DM Sans"/>
                <a:ea typeface="DM Sans"/>
                <a:cs typeface="DM Sans"/>
                <a:sym typeface="DM Sans"/>
              </a:rPr>
              <a:t>They become data silos that will get out of sync, leading to outdated or even incorrect insights. </a:t>
            </a:r>
            <a:endParaRPr sz="1200" dirty="0">
              <a:solidFill>
                <a:srgbClr val="1B5162"/>
              </a:solidFill>
              <a:latin typeface="DM Sans"/>
              <a:ea typeface="DM Sans"/>
              <a:cs typeface="DM Sans"/>
              <a:sym typeface="DM Sans"/>
            </a:endParaRPr>
          </a:p>
          <a:p>
            <a:pPr marL="0" lvl="0" indent="0" algn="l" rtl="0">
              <a:spcBef>
                <a:spcPts val="0"/>
              </a:spcBef>
              <a:spcAft>
                <a:spcPts val="0"/>
              </a:spcAft>
              <a:buNone/>
            </a:pPr>
            <a:endParaRPr sz="1300" dirty="0">
              <a:latin typeface="DM Sans Medium"/>
              <a:ea typeface="DM Sans Medium"/>
              <a:cs typeface="DM Sans Medium"/>
              <a:sym typeface="DM Sans Medium"/>
            </a:endParaRPr>
          </a:p>
          <a:p>
            <a:pPr marL="0" lvl="0" indent="0" algn="l" rtl="0">
              <a:spcBef>
                <a:spcPts val="400"/>
              </a:spcBef>
              <a:spcAft>
                <a:spcPts val="0"/>
              </a:spcAft>
              <a:buNone/>
            </a:pPr>
            <a:r>
              <a:rPr lang="en" sz="1300" dirty="0">
                <a:latin typeface="DM Sans Medium"/>
                <a:ea typeface="DM Sans Medium"/>
                <a:cs typeface="DM Sans Medium"/>
                <a:sym typeface="DM Sans Medium"/>
              </a:rPr>
              <a:t>Democratize Value Creation through Self-Service Experience</a:t>
            </a:r>
            <a:endParaRPr sz="1300" dirty="0">
              <a:latin typeface="DM Sans Medium"/>
              <a:ea typeface="DM Sans Medium"/>
              <a:cs typeface="DM Sans Medium"/>
              <a:sym typeface="DM Sans Medium"/>
            </a:endParaRPr>
          </a:p>
          <a:p>
            <a:pPr marL="0" lvl="0" indent="0" algn="l" rtl="0">
              <a:spcBef>
                <a:spcPts val="400"/>
              </a:spcBef>
              <a:spcAft>
                <a:spcPts val="0"/>
              </a:spcAft>
              <a:buNone/>
            </a:pPr>
            <a:r>
              <a:rPr lang="en" sz="1200" dirty="0">
                <a:solidFill>
                  <a:srgbClr val="1B5162"/>
                </a:solidFill>
                <a:latin typeface="DM Sans"/>
                <a:ea typeface="DM Sans"/>
                <a:cs typeface="DM Sans"/>
                <a:sym typeface="DM Sans"/>
              </a:rPr>
              <a:t>Users must be able to work with data and platform for their BI and ML/AI tasks easily: </a:t>
            </a:r>
            <a:endParaRPr sz="1200" dirty="0">
              <a:solidFill>
                <a:srgbClr val="1B5162"/>
              </a:solidFill>
              <a:latin typeface="DM Sans"/>
              <a:ea typeface="DM Sans"/>
              <a:cs typeface="DM Sans"/>
              <a:sym typeface="DM Sans"/>
            </a:endParaRPr>
          </a:p>
          <a:p>
            <a:pPr marL="457200" lvl="0" indent="-304800" algn="l" rtl="0">
              <a:spcBef>
                <a:spcPts val="0"/>
              </a:spcBef>
              <a:spcAft>
                <a:spcPts val="0"/>
              </a:spcAft>
              <a:buClr>
                <a:srgbClr val="1B5162"/>
              </a:buClr>
              <a:buSzPts val="1200"/>
              <a:buFont typeface="DM Sans"/>
              <a:buChar char="●"/>
            </a:pPr>
            <a:r>
              <a:rPr lang="en" sz="1200" dirty="0">
                <a:solidFill>
                  <a:srgbClr val="1B5162"/>
                </a:solidFill>
                <a:latin typeface="DM Sans"/>
                <a:ea typeface="DM Sans"/>
                <a:cs typeface="DM Sans"/>
                <a:sym typeface="DM Sans"/>
              </a:rPr>
              <a:t>Lower the barriers to access data and platform for all business units. </a:t>
            </a:r>
            <a:endParaRPr sz="1200" dirty="0">
              <a:solidFill>
                <a:srgbClr val="1B5162"/>
              </a:solidFill>
              <a:latin typeface="DM Sans"/>
              <a:ea typeface="DM Sans"/>
              <a:cs typeface="DM Sans"/>
              <a:sym typeface="DM Sans"/>
            </a:endParaRPr>
          </a:p>
          <a:p>
            <a:pPr marL="457200" lvl="0" indent="-304800" algn="l" rtl="0">
              <a:spcBef>
                <a:spcPts val="0"/>
              </a:spcBef>
              <a:spcAft>
                <a:spcPts val="0"/>
              </a:spcAft>
              <a:buClr>
                <a:srgbClr val="1B5162"/>
              </a:buClr>
              <a:buSzPts val="1200"/>
              <a:buFont typeface="DM Sans"/>
              <a:buChar char="●"/>
            </a:pPr>
            <a:r>
              <a:rPr lang="en" sz="1200" dirty="0">
                <a:solidFill>
                  <a:srgbClr val="1B5162"/>
                </a:solidFill>
                <a:latin typeface="DM Sans"/>
                <a:ea typeface="DM Sans"/>
                <a:cs typeface="DM Sans"/>
                <a:sym typeface="DM Sans"/>
              </a:rPr>
              <a:t>This can be enabled through lean data management processes and self-service access, …</a:t>
            </a:r>
            <a:endParaRPr sz="1200" dirty="0">
              <a:solidFill>
                <a:srgbClr val="1B5162"/>
              </a:solidFill>
              <a:latin typeface="DM Sans"/>
              <a:ea typeface="DM Sans"/>
              <a:cs typeface="DM Sans"/>
              <a:sym typeface="DM Sans"/>
            </a:endParaRPr>
          </a:p>
          <a:p>
            <a:pPr marL="0" lvl="0" indent="0" algn="l" rtl="0">
              <a:spcBef>
                <a:spcPts val="0"/>
              </a:spcBef>
              <a:spcAft>
                <a:spcPts val="0"/>
              </a:spcAft>
              <a:buNone/>
            </a:pPr>
            <a:endParaRPr sz="1300" dirty="0">
              <a:latin typeface="DM Sans Medium"/>
              <a:ea typeface="DM Sans Medium"/>
              <a:cs typeface="DM Sans Medium"/>
              <a:sym typeface="DM Sans Medium"/>
            </a:endParaRPr>
          </a:p>
          <a:p>
            <a:pPr marL="0" lvl="0" indent="0" algn="l" rtl="0">
              <a:spcBef>
                <a:spcPts val="400"/>
              </a:spcBef>
              <a:spcAft>
                <a:spcPts val="0"/>
              </a:spcAft>
              <a:buNone/>
            </a:pPr>
            <a:r>
              <a:rPr lang="en" sz="1300" dirty="0">
                <a:latin typeface="DM Sans Medium"/>
                <a:ea typeface="DM Sans Medium"/>
                <a:cs typeface="DM Sans Medium"/>
                <a:sym typeface="DM Sans Medium"/>
              </a:rPr>
              <a:t>Adopt an Organization-wide Data Governance Strategy</a:t>
            </a:r>
            <a:endParaRPr sz="1300" dirty="0">
              <a:latin typeface="DM Sans Medium"/>
              <a:ea typeface="DM Sans Medium"/>
              <a:cs typeface="DM Sans Medium"/>
              <a:sym typeface="DM Sans Medium"/>
            </a:endParaRPr>
          </a:p>
          <a:p>
            <a:pPr marL="0" lvl="0" indent="0" algn="l" rtl="0">
              <a:spcBef>
                <a:spcPts val="400"/>
              </a:spcBef>
              <a:spcAft>
                <a:spcPts val="0"/>
              </a:spcAft>
              <a:buNone/>
            </a:pPr>
            <a:r>
              <a:rPr lang="en" sz="1200" dirty="0">
                <a:solidFill>
                  <a:srgbClr val="1B5162"/>
                </a:solidFill>
                <a:latin typeface="DM Sans"/>
                <a:ea typeface="DM Sans"/>
                <a:cs typeface="DM Sans"/>
                <a:sym typeface="DM Sans"/>
              </a:rPr>
              <a:t>Data is a critical asset of any organization:</a:t>
            </a:r>
            <a:endParaRPr sz="1200" dirty="0">
              <a:solidFill>
                <a:srgbClr val="1B5162"/>
              </a:solidFill>
              <a:latin typeface="DM Sans"/>
              <a:ea typeface="DM Sans"/>
              <a:cs typeface="DM Sans"/>
              <a:sym typeface="DM Sans"/>
            </a:endParaRPr>
          </a:p>
          <a:p>
            <a:pPr marL="457200" lvl="0" indent="-304800" algn="l" rtl="0">
              <a:spcBef>
                <a:spcPts val="0"/>
              </a:spcBef>
              <a:spcAft>
                <a:spcPts val="0"/>
              </a:spcAft>
              <a:buClr>
                <a:srgbClr val="1B5162"/>
              </a:buClr>
              <a:buSzPts val="1200"/>
              <a:buFont typeface="DM Sans"/>
              <a:buChar char="●"/>
            </a:pPr>
            <a:r>
              <a:rPr lang="en" sz="1200" dirty="0">
                <a:solidFill>
                  <a:srgbClr val="1B5162"/>
                </a:solidFill>
                <a:latin typeface="DM Sans"/>
                <a:ea typeface="DM Sans"/>
                <a:cs typeface="DM Sans"/>
                <a:sym typeface="DM Sans"/>
              </a:rPr>
              <a:t>It must be actively managed.</a:t>
            </a:r>
            <a:endParaRPr sz="1200" dirty="0">
              <a:solidFill>
                <a:srgbClr val="1B5162"/>
              </a:solidFill>
              <a:latin typeface="DM Sans"/>
              <a:ea typeface="DM Sans"/>
              <a:cs typeface="DM Sans"/>
              <a:sym typeface="DM Sans"/>
            </a:endParaRPr>
          </a:p>
          <a:p>
            <a:pPr marL="457200" lvl="0" indent="-304800" algn="l" rtl="0">
              <a:spcBef>
                <a:spcPts val="0"/>
              </a:spcBef>
              <a:spcAft>
                <a:spcPts val="0"/>
              </a:spcAft>
              <a:buClr>
                <a:srgbClr val="1B5162"/>
              </a:buClr>
              <a:buSzPts val="1200"/>
              <a:buFont typeface="DM Sans"/>
              <a:buChar char="●"/>
            </a:pPr>
            <a:r>
              <a:rPr lang="en" sz="1200" dirty="0">
                <a:solidFill>
                  <a:srgbClr val="1B5162"/>
                </a:solidFill>
                <a:latin typeface="DM Sans"/>
                <a:ea typeface="DM Sans"/>
                <a:cs typeface="DM Sans"/>
                <a:sym typeface="DM Sans"/>
              </a:rPr>
              <a:t>Access control, auditing and lineage tracking are key for the correct and secure use of data.</a:t>
            </a:r>
            <a:endParaRPr sz="1200" dirty="0">
              <a:solidFill>
                <a:srgbClr val="1B5162"/>
              </a:solidFill>
              <a:latin typeface="DM Sans"/>
              <a:ea typeface="DM Sans"/>
              <a:cs typeface="DM Sans"/>
              <a:sym typeface="DM Sans"/>
            </a:endParaRPr>
          </a:p>
          <a:p>
            <a:pPr marL="0" lvl="0" indent="0" algn="l" rtl="0">
              <a:spcBef>
                <a:spcPts val="0"/>
              </a:spcBef>
              <a:spcAft>
                <a:spcPts val="0"/>
              </a:spcAft>
              <a:buNone/>
            </a:pPr>
            <a:endParaRPr sz="1300" dirty="0">
              <a:latin typeface="DM Sans Medium"/>
              <a:ea typeface="DM Sans Medium"/>
              <a:cs typeface="DM Sans Medium"/>
              <a:sym typeface="DM Sans Medium"/>
            </a:endParaRPr>
          </a:p>
          <a:p>
            <a:pPr marL="0" lvl="0" indent="0" algn="l" rtl="0">
              <a:spcBef>
                <a:spcPts val="400"/>
              </a:spcBef>
              <a:spcAft>
                <a:spcPts val="0"/>
              </a:spcAft>
              <a:buNone/>
            </a:pPr>
            <a:r>
              <a:rPr lang="en" sz="1300" dirty="0">
                <a:latin typeface="DM Sans Medium"/>
                <a:ea typeface="DM Sans Medium"/>
                <a:cs typeface="DM Sans Medium"/>
                <a:sym typeface="DM Sans Medium"/>
              </a:rPr>
              <a:t>Encourage the Use of Open Interfaces and Open Formats</a:t>
            </a:r>
            <a:endParaRPr sz="1300" dirty="0">
              <a:latin typeface="DM Sans Medium"/>
              <a:ea typeface="DM Sans Medium"/>
              <a:cs typeface="DM Sans Medium"/>
              <a:sym typeface="DM Sans Medium"/>
            </a:endParaRPr>
          </a:p>
          <a:p>
            <a:pPr marL="0" lvl="0" indent="0" algn="l" rtl="0">
              <a:spcBef>
                <a:spcPts val="400"/>
              </a:spcBef>
              <a:spcAft>
                <a:spcPts val="0"/>
              </a:spcAft>
              <a:buNone/>
            </a:pPr>
            <a:r>
              <a:rPr lang="en" sz="1200" dirty="0">
                <a:solidFill>
                  <a:srgbClr val="1B5162"/>
                </a:solidFill>
                <a:latin typeface="DM Sans"/>
                <a:ea typeface="DM Sans"/>
                <a:cs typeface="DM Sans"/>
                <a:sym typeface="DM Sans"/>
              </a:rPr>
              <a:t>Open interfaces and data formats are crucial for interoperability between Lakehouse and other tool:</a:t>
            </a:r>
            <a:endParaRPr sz="1200" dirty="0">
              <a:solidFill>
                <a:srgbClr val="1B5162"/>
              </a:solidFill>
              <a:latin typeface="DM Sans"/>
              <a:ea typeface="DM Sans"/>
              <a:cs typeface="DM Sans"/>
              <a:sym typeface="DM Sans"/>
            </a:endParaRPr>
          </a:p>
          <a:p>
            <a:pPr marL="457200" lvl="0" indent="-304800" algn="l" rtl="0">
              <a:spcBef>
                <a:spcPts val="0"/>
              </a:spcBef>
              <a:spcAft>
                <a:spcPts val="0"/>
              </a:spcAft>
              <a:buClr>
                <a:srgbClr val="1B5162"/>
              </a:buClr>
              <a:buSzPts val="1200"/>
              <a:buFont typeface="DM Sans"/>
              <a:buChar char="●"/>
            </a:pPr>
            <a:r>
              <a:rPr lang="en" sz="1200" dirty="0">
                <a:solidFill>
                  <a:srgbClr val="1B5162"/>
                </a:solidFill>
                <a:latin typeface="DM Sans"/>
                <a:ea typeface="DM Sans"/>
                <a:cs typeface="DM Sans"/>
                <a:sym typeface="DM Sans"/>
              </a:rPr>
              <a:t>Simplifies integration with existing systems.</a:t>
            </a:r>
            <a:endParaRPr sz="1200" dirty="0">
              <a:solidFill>
                <a:srgbClr val="1B5162"/>
              </a:solidFill>
              <a:latin typeface="DM Sans"/>
              <a:ea typeface="DM Sans"/>
              <a:cs typeface="DM Sans"/>
              <a:sym typeface="DM Sans"/>
            </a:endParaRPr>
          </a:p>
          <a:p>
            <a:pPr marL="457200" lvl="0" indent="-304800" algn="l" rtl="0">
              <a:spcBef>
                <a:spcPts val="0"/>
              </a:spcBef>
              <a:spcAft>
                <a:spcPts val="0"/>
              </a:spcAft>
              <a:buClr>
                <a:srgbClr val="1B5162"/>
              </a:buClr>
              <a:buSzPts val="1200"/>
              <a:buFont typeface="DM Sans"/>
              <a:buChar char="●"/>
            </a:pPr>
            <a:r>
              <a:rPr lang="en" sz="1200" dirty="0">
                <a:solidFill>
                  <a:srgbClr val="1B5162"/>
                </a:solidFill>
                <a:latin typeface="DM Sans"/>
                <a:ea typeface="DM Sans"/>
                <a:cs typeface="DM Sans"/>
                <a:sym typeface="DM Sans"/>
              </a:rPr>
              <a:t>Opens up an ecosystem of partners who have integrated their tools with the Lakehouse platform.</a:t>
            </a:r>
            <a:endParaRPr sz="1200" dirty="0">
              <a:solidFill>
                <a:srgbClr val="1B5162"/>
              </a:solidFill>
              <a:latin typeface="DM Sans"/>
              <a:ea typeface="DM Sans"/>
              <a:cs typeface="DM Sans"/>
              <a:sym typeface="DM Sans"/>
            </a:endParaRPr>
          </a:p>
          <a:p>
            <a:pPr marL="0" lvl="0" indent="0" algn="l" rtl="0">
              <a:spcBef>
                <a:spcPts val="0"/>
              </a:spcBef>
              <a:spcAft>
                <a:spcPts val="0"/>
              </a:spcAft>
              <a:buNone/>
            </a:pPr>
            <a:endParaRPr sz="1300" dirty="0">
              <a:latin typeface="DM Sans Medium"/>
              <a:ea typeface="DM Sans Medium"/>
              <a:cs typeface="DM Sans Medium"/>
              <a:sym typeface="DM Sans Medium"/>
            </a:endParaRPr>
          </a:p>
          <a:p>
            <a:pPr marL="0" lvl="0" indent="0" algn="l" rtl="0">
              <a:spcBef>
                <a:spcPts val="400"/>
              </a:spcBef>
              <a:spcAft>
                <a:spcPts val="0"/>
              </a:spcAft>
              <a:buNone/>
            </a:pPr>
            <a:r>
              <a:rPr lang="en" sz="1300" dirty="0">
                <a:latin typeface="DM Sans Medium"/>
                <a:ea typeface="DM Sans Medium"/>
                <a:cs typeface="DM Sans Medium"/>
                <a:sym typeface="DM Sans Medium"/>
              </a:rPr>
              <a:t>Build to Scale and Optimize for Performance &amp; Cost</a:t>
            </a:r>
            <a:endParaRPr sz="1300" dirty="0">
              <a:latin typeface="DM Sans Medium"/>
              <a:ea typeface="DM Sans Medium"/>
              <a:cs typeface="DM Sans Medium"/>
              <a:sym typeface="DM Sans Medium"/>
            </a:endParaRPr>
          </a:p>
          <a:p>
            <a:pPr marL="0" lvl="0" indent="0" algn="l" rtl="0">
              <a:spcBef>
                <a:spcPts val="400"/>
              </a:spcBef>
              <a:spcAft>
                <a:spcPts val="0"/>
              </a:spcAft>
              <a:buNone/>
            </a:pPr>
            <a:r>
              <a:rPr lang="en" sz="1200" dirty="0">
                <a:solidFill>
                  <a:srgbClr val="1B5162"/>
                </a:solidFill>
                <a:latin typeface="DM Sans"/>
                <a:ea typeface="DM Sans"/>
                <a:cs typeface="DM Sans"/>
                <a:sym typeface="DM Sans"/>
              </a:rPr>
              <a:t>Data will grow: </a:t>
            </a:r>
            <a:endParaRPr sz="1200" dirty="0">
              <a:solidFill>
                <a:srgbClr val="1B5162"/>
              </a:solidFill>
              <a:latin typeface="DM Sans"/>
              <a:ea typeface="DM Sans"/>
              <a:cs typeface="DM Sans"/>
              <a:sym typeface="DM Sans"/>
            </a:endParaRPr>
          </a:p>
          <a:p>
            <a:pPr marL="457200" lvl="0" indent="-304800" algn="l" rtl="0">
              <a:spcBef>
                <a:spcPts val="0"/>
              </a:spcBef>
              <a:spcAft>
                <a:spcPts val="0"/>
              </a:spcAft>
              <a:buClr>
                <a:srgbClr val="1B5162"/>
              </a:buClr>
              <a:buSzPts val="1200"/>
              <a:buFont typeface="DM Sans"/>
              <a:buChar char="●"/>
            </a:pPr>
            <a:r>
              <a:rPr lang="en" sz="1200" dirty="0">
                <a:solidFill>
                  <a:srgbClr val="1B5162"/>
                </a:solidFill>
                <a:latin typeface="DM Sans"/>
                <a:ea typeface="DM Sans"/>
                <a:cs typeface="DM Sans"/>
                <a:sym typeface="DM Sans"/>
              </a:rPr>
              <a:t>To be prepared for the future, take advantage of Lakehouse's scaling capabilities. </a:t>
            </a:r>
            <a:endParaRPr sz="1200" dirty="0">
              <a:solidFill>
                <a:srgbClr val="1B5162"/>
              </a:solidFill>
              <a:latin typeface="DM Sans"/>
              <a:ea typeface="DM Sans"/>
              <a:cs typeface="DM Sans"/>
              <a:sym typeface="DM Sans"/>
            </a:endParaRPr>
          </a:p>
          <a:p>
            <a:pPr marL="457200" lvl="0" indent="-304800" algn="l" rtl="0">
              <a:spcBef>
                <a:spcPts val="0"/>
              </a:spcBef>
              <a:spcAft>
                <a:spcPts val="0"/>
              </a:spcAft>
              <a:buClr>
                <a:srgbClr val="1B5162"/>
              </a:buClr>
              <a:buSzPts val="1200"/>
              <a:buFont typeface="DM Sans"/>
              <a:buChar char="●"/>
            </a:pPr>
            <a:r>
              <a:rPr lang="en" sz="1200" dirty="0">
                <a:solidFill>
                  <a:srgbClr val="1B5162"/>
                </a:solidFill>
                <a:latin typeface="DM Sans"/>
                <a:ea typeface="DM Sans"/>
                <a:cs typeface="DM Sans"/>
                <a:sym typeface="DM Sans"/>
              </a:rPr>
              <a:t>Use these features to get insights faster and to optimize for performance and costs.</a:t>
            </a:r>
            <a:endParaRPr sz="1200" dirty="0">
              <a:solidFill>
                <a:srgbClr val="1B5162"/>
              </a:solidFill>
              <a:latin typeface="DM Sans"/>
              <a:ea typeface="DM Sans"/>
              <a:cs typeface="DM Sans"/>
              <a:sym typeface="DM Sans"/>
            </a:endParaRPr>
          </a:p>
          <a:p>
            <a:pPr marL="0" lvl="0" indent="0" algn="l" rtl="0">
              <a:spcBef>
                <a:spcPts val="0"/>
              </a:spcBef>
              <a:spcAft>
                <a:spcPts val="0"/>
              </a:spcAft>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3"/>
        <p:cNvGrpSpPr/>
        <p:nvPr/>
      </p:nvGrpSpPr>
      <p:grpSpPr>
        <a:xfrm>
          <a:off x="0" y="0"/>
          <a:ext cx="0" cy="0"/>
          <a:chOff x="0" y="0"/>
          <a:chExt cx="0" cy="0"/>
        </a:xfrm>
      </p:grpSpPr>
      <p:sp>
        <p:nvSpPr>
          <p:cNvPr id="3344" name="Google Shape;3344;g209574e6c9d_0_563: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5" name="Google Shape;3345;g209574e6c9d_0_5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300"/>
              </a:spcBef>
              <a:spcAft>
                <a:spcPts val="0"/>
              </a:spcAft>
              <a:buClr>
                <a:schemeClr val="dk1"/>
              </a:buClr>
              <a:buSzPts val="1100"/>
              <a:buFont typeface="Arial"/>
              <a:buNone/>
            </a:pPr>
            <a:endParaRPr dirty="0">
              <a:solidFill>
                <a:schemeClr val="dk1"/>
              </a:solidFill>
              <a:latin typeface="DM Sans"/>
              <a:ea typeface="DM Sans"/>
              <a:cs typeface="DM Sans"/>
              <a:sym typeface="DM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2"/>
        <p:cNvGrpSpPr/>
        <p:nvPr/>
      </p:nvGrpSpPr>
      <p:grpSpPr>
        <a:xfrm>
          <a:off x="0" y="0"/>
          <a:ext cx="0" cy="0"/>
          <a:chOff x="0" y="0"/>
          <a:chExt cx="0" cy="0"/>
        </a:xfrm>
      </p:grpSpPr>
      <p:sp>
        <p:nvSpPr>
          <p:cNvPr id="3373" name="Google Shape;3373;g209574e6c9d_0_591: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4" name="Google Shape;3374;g209574e6c9d_0_5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300"/>
              </a:spcBef>
              <a:spcAft>
                <a:spcPts val="0"/>
              </a:spcAft>
              <a:buClr>
                <a:schemeClr val="dk1"/>
              </a:buClr>
              <a:buSzPts val="1100"/>
              <a:buFont typeface="Arial"/>
              <a:buNone/>
            </a:pPr>
            <a:endParaRPr dirty="0">
              <a:solidFill>
                <a:schemeClr val="dk1"/>
              </a:solidFill>
              <a:latin typeface="DM Sans"/>
              <a:ea typeface="DM Sans"/>
              <a:cs typeface="DM Sans"/>
              <a:sym typeface="DM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7"/>
        <p:cNvGrpSpPr/>
        <p:nvPr/>
      </p:nvGrpSpPr>
      <p:grpSpPr>
        <a:xfrm>
          <a:off x="0" y="0"/>
          <a:ext cx="0" cy="0"/>
          <a:chOff x="0" y="0"/>
          <a:chExt cx="0" cy="0"/>
        </a:xfrm>
      </p:grpSpPr>
      <p:sp>
        <p:nvSpPr>
          <p:cNvPr id="3458" name="Google Shape;3458;g209574e6c9d_0_6: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dirty="0"/>
          </a:p>
        </p:txBody>
      </p:sp>
      <p:sp>
        <p:nvSpPr>
          <p:cNvPr id="3459" name="Google Shape;3459;g209574e6c9d_0_6: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3"/>
        <p:cNvGrpSpPr/>
        <p:nvPr/>
      </p:nvGrpSpPr>
      <p:grpSpPr>
        <a:xfrm>
          <a:off x="0" y="0"/>
          <a:ext cx="0" cy="0"/>
          <a:chOff x="0" y="0"/>
          <a:chExt cx="0" cy="0"/>
        </a:xfrm>
      </p:grpSpPr>
      <p:sp>
        <p:nvSpPr>
          <p:cNvPr id="3484" name="Google Shape;3484;g209574e6c9d_0_1327: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5" name="Google Shape;3485;g209574e6c9d_0_13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dirty="0">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4"/>
        <p:cNvGrpSpPr/>
        <p:nvPr/>
      </p:nvGrpSpPr>
      <p:grpSpPr>
        <a:xfrm>
          <a:off x="0" y="0"/>
          <a:ext cx="0" cy="0"/>
          <a:chOff x="0" y="0"/>
          <a:chExt cx="0" cy="0"/>
        </a:xfrm>
      </p:grpSpPr>
      <p:sp>
        <p:nvSpPr>
          <p:cNvPr id="3495" name="Google Shape;3495;g209574e6c9d_0_109: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6" name="Google Shape;3496;g209574e6c9d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latin typeface="DM Sans"/>
                <a:ea typeface="DM Sans"/>
                <a:cs typeface="DM Sans"/>
                <a:sym typeface="DM Sans"/>
              </a:rPr>
              <a:t>Level: 300</a:t>
            </a:r>
            <a:endParaRPr sz="1800" b="1">
              <a:solidFill>
                <a:schemeClr val="dk1"/>
              </a:solidFill>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9"/>
        <p:cNvGrpSpPr/>
        <p:nvPr/>
      </p:nvGrpSpPr>
      <p:grpSpPr>
        <a:xfrm>
          <a:off x="0" y="0"/>
          <a:ext cx="0" cy="0"/>
          <a:chOff x="0" y="0"/>
          <a:chExt cx="0" cy="0"/>
        </a:xfrm>
      </p:grpSpPr>
      <p:sp>
        <p:nvSpPr>
          <p:cNvPr id="3550" name="Google Shape;3550;g209574e6c9d_0_928: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1" name="Google Shape;3551;g209574e6c9d_0_9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latin typeface="DM Sans"/>
                <a:ea typeface="DM Sans"/>
                <a:cs typeface="DM Sans"/>
                <a:sym typeface="DM Sans"/>
              </a:rPr>
              <a:t>Level: 300</a:t>
            </a:r>
            <a:endParaRPr sz="1800" b="1">
              <a:solidFill>
                <a:schemeClr val="dk1"/>
              </a:solidFill>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6"/>
        <p:cNvGrpSpPr/>
        <p:nvPr/>
      </p:nvGrpSpPr>
      <p:grpSpPr>
        <a:xfrm>
          <a:off x="0" y="0"/>
          <a:ext cx="0" cy="0"/>
          <a:chOff x="0" y="0"/>
          <a:chExt cx="0" cy="0"/>
        </a:xfrm>
      </p:grpSpPr>
      <p:sp>
        <p:nvSpPr>
          <p:cNvPr id="3627" name="Google Shape;3627;g209574e6c9d_0_48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8" name="Google Shape;3628;g209574e6c9d_0_4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latin typeface="DM Sans"/>
                <a:ea typeface="DM Sans"/>
                <a:cs typeface="DM Sans"/>
                <a:sym typeface="DM Sans"/>
              </a:rPr>
              <a:t>Level: 300</a:t>
            </a:r>
            <a:endParaRPr sz="1800" b="1">
              <a:solidFill>
                <a:schemeClr val="dk1"/>
              </a:solidFill>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9CF31-C22B-F504-1AD9-DD9EE87FD0B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072FE12-4F83-C212-5FED-B3A18836FD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606407D-C119-F244-D598-4E37C0FD3B70}"/>
              </a:ext>
            </a:extLst>
          </p:cNvPr>
          <p:cNvSpPr>
            <a:spLocks noGrp="1"/>
          </p:cNvSpPr>
          <p:nvPr>
            <p:ph type="dt" sz="half" idx="10"/>
          </p:nvPr>
        </p:nvSpPr>
        <p:spPr/>
        <p:txBody>
          <a:bodyPr/>
          <a:lstStyle/>
          <a:p>
            <a:fld id="{CEF53A75-B31A-C143-A19C-2CFAC595C448}" type="datetimeFigureOut">
              <a:rPr lang="en-US" smtClean="0"/>
              <a:t>5/5/23</a:t>
            </a:fld>
            <a:endParaRPr lang="en-US"/>
          </a:p>
        </p:txBody>
      </p:sp>
      <p:sp>
        <p:nvSpPr>
          <p:cNvPr id="5" name="Footer Placeholder 4">
            <a:extLst>
              <a:ext uri="{FF2B5EF4-FFF2-40B4-BE49-F238E27FC236}">
                <a16:creationId xmlns:a16="http://schemas.microsoft.com/office/drawing/2014/main" id="{CAC3CFA1-6952-F47F-6857-B323715076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58CDB6-BF05-BFD9-0F9D-D625E4F97E42}"/>
              </a:ext>
            </a:extLst>
          </p:cNvPr>
          <p:cNvSpPr>
            <a:spLocks noGrp="1"/>
          </p:cNvSpPr>
          <p:nvPr>
            <p:ph type="sldNum" sz="quarter" idx="12"/>
          </p:nvPr>
        </p:nvSpPr>
        <p:spPr/>
        <p:txBody>
          <a:bodyPr/>
          <a:lstStyle/>
          <a:p>
            <a:fld id="{7F05CEB5-3B19-6942-BA5C-6D20F1EAEB26}" type="slidenum">
              <a:rPr lang="en-US" smtClean="0"/>
              <a:t>‹#›</a:t>
            </a:fld>
            <a:endParaRPr lang="en-US"/>
          </a:p>
        </p:txBody>
      </p:sp>
    </p:spTree>
    <p:extLst>
      <p:ext uri="{BB962C8B-B14F-4D97-AF65-F5344CB8AC3E}">
        <p14:creationId xmlns:p14="http://schemas.microsoft.com/office/powerpoint/2010/main" val="2705801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3E058-DC68-C2A2-3691-A04FD192657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90EA88C-DFDB-6071-26B4-95EFC742143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A94C8E-E39C-CF1F-744E-509E566D263E}"/>
              </a:ext>
            </a:extLst>
          </p:cNvPr>
          <p:cNvSpPr>
            <a:spLocks noGrp="1"/>
          </p:cNvSpPr>
          <p:nvPr>
            <p:ph type="dt" sz="half" idx="10"/>
          </p:nvPr>
        </p:nvSpPr>
        <p:spPr/>
        <p:txBody>
          <a:bodyPr/>
          <a:lstStyle/>
          <a:p>
            <a:fld id="{CEF53A75-B31A-C143-A19C-2CFAC595C448}" type="datetimeFigureOut">
              <a:rPr lang="en-US" smtClean="0"/>
              <a:t>5/5/23</a:t>
            </a:fld>
            <a:endParaRPr lang="en-US"/>
          </a:p>
        </p:txBody>
      </p:sp>
      <p:sp>
        <p:nvSpPr>
          <p:cNvPr id="5" name="Footer Placeholder 4">
            <a:extLst>
              <a:ext uri="{FF2B5EF4-FFF2-40B4-BE49-F238E27FC236}">
                <a16:creationId xmlns:a16="http://schemas.microsoft.com/office/drawing/2014/main" id="{061B6699-3318-C15C-A808-9A610B79BD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839330-EC60-9387-6D1A-EB9E6AC59A23}"/>
              </a:ext>
            </a:extLst>
          </p:cNvPr>
          <p:cNvSpPr>
            <a:spLocks noGrp="1"/>
          </p:cNvSpPr>
          <p:nvPr>
            <p:ph type="sldNum" sz="quarter" idx="12"/>
          </p:nvPr>
        </p:nvSpPr>
        <p:spPr/>
        <p:txBody>
          <a:bodyPr/>
          <a:lstStyle/>
          <a:p>
            <a:fld id="{7F05CEB5-3B19-6942-BA5C-6D20F1EAEB26}" type="slidenum">
              <a:rPr lang="en-US" smtClean="0"/>
              <a:t>‹#›</a:t>
            </a:fld>
            <a:endParaRPr lang="en-US"/>
          </a:p>
        </p:txBody>
      </p:sp>
    </p:spTree>
    <p:extLst>
      <p:ext uri="{BB962C8B-B14F-4D97-AF65-F5344CB8AC3E}">
        <p14:creationId xmlns:p14="http://schemas.microsoft.com/office/powerpoint/2010/main" val="25734132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6864E-D924-B45E-F1DA-7D25C7CDE4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A2D6893-81CE-C589-B20A-E937C80A04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816E69-24E1-5F45-B59D-A1FB323BB31C}"/>
              </a:ext>
            </a:extLst>
          </p:cNvPr>
          <p:cNvSpPr>
            <a:spLocks noGrp="1"/>
          </p:cNvSpPr>
          <p:nvPr>
            <p:ph type="dt" sz="half" idx="10"/>
          </p:nvPr>
        </p:nvSpPr>
        <p:spPr/>
        <p:txBody>
          <a:bodyPr/>
          <a:lstStyle/>
          <a:p>
            <a:fld id="{CEF53A75-B31A-C143-A19C-2CFAC595C448}" type="datetimeFigureOut">
              <a:rPr lang="en-US" smtClean="0"/>
              <a:t>5/5/23</a:t>
            </a:fld>
            <a:endParaRPr lang="en-US"/>
          </a:p>
        </p:txBody>
      </p:sp>
      <p:sp>
        <p:nvSpPr>
          <p:cNvPr id="5" name="Footer Placeholder 4">
            <a:extLst>
              <a:ext uri="{FF2B5EF4-FFF2-40B4-BE49-F238E27FC236}">
                <a16:creationId xmlns:a16="http://schemas.microsoft.com/office/drawing/2014/main" id="{F0732057-A019-DC80-8D03-19861A6143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6848C2-EC97-CB10-5D59-55CDE09113CF}"/>
              </a:ext>
            </a:extLst>
          </p:cNvPr>
          <p:cNvSpPr>
            <a:spLocks noGrp="1"/>
          </p:cNvSpPr>
          <p:nvPr>
            <p:ph type="sldNum" sz="quarter" idx="12"/>
          </p:nvPr>
        </p:nvSpPr>
        <p:spPr/>
        <p:txBody>
          <a:bodyPr/>
          <a:lstStyle/>
          <a:p>
            <a:fld id="{7F05CEB5-3B19-6942-BA5C-6D20F1EAEB26}" type="slidenum">
              <a:rPr lang="en-US" smtClean="0"/>
              <a:t>‹#›</a:t>
            </a:fld>
            <a:endParaRPr lang="en-US"/>
          </a:p>
        </p:txBody>
      </p:sp>
    </p:spTree>
    <p:extLst>
      <p:ext uri="{BB962C8B-B14F-4D97-AF65-F5344CB8AC3E}">
        <p14:creationId xmlns:p14="http://schemas.microsoft.com/office/powerpoint/2010/main" val="4168023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A7BEA-48C5-1EB1-F119-B28FEA0BBF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976EB7-B9AA-00B0-F4CD-CE6437B602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018867F-E5EF-03B0-8185-8CB1161B978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CB58AB8-B243-F15C-01A0-B2AE40933493}"/>
              </a:ext>
            </a:extLst>
          </p:cNvPr>
          <p:cNvSpPr>
            <a:spLocks noGrp="1"/>
          </p:cNvSpPr>
          <p:nvPr>
            <p:ph type="dt" sz="half" idx="10"/>
          </p:nvPr>
        </p:nvSpPr>
        <p:spPr/>
        <p:txBody>
          <a:bodyPr/>
          <a:lstStyle/>
          <a:p>
            <a:fld id="{CEF53A75-B31A-C143-A19C-2CFAC595C448}" type="datetimeFigureOut">
              <a:rPr lang="en-US" smtClean="0"/>
              <a:t>5/5/23</a:t>
            </a:fld>
            <a:endParaRPr lang="en-US"/>
          </a:p>
        </p:txBody>
      </p:sp>
      <p:sp>
        <p:nvSpPr>
          <p:cNvPr id="6" name="Footer Placeholder 5">
            <a:extLst>
              <a:ext uri="{FF2B5EF4-FFF2-40B4-BE49-F238E27FC236}">
                <a16:creationId xmlns:a16="http://schemas.microsoft.com/office/drawing/2014/main" id="{2C98E311-392C-F755-5C08-258EECDBB0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FD60B7-5824-6D43-8AC7-9F028677E861}"/>
              </a:ext>
            </a:extLst>
          </p:cNvPr>
          <p:cNvSpPr>
            <a:spLocks noGrp="1"/>
          </p:cNvSpPr>
          <p:nvPr>
            <p:ph type="sldNum" sz="quarter" idx="12"/>
          </p:nvPr>
        </p:nvSpPr>
        <p:spPr/>
        <p:txBody>
          <a:bodyPr/>
          <a:lstStyle/>
          <a:p>
            <a:fld id="{7F05CEB5-3B19-6942-BA5C-6D20F1EAEB26}" type="slidenum">
              <a:rPr lang="en-US" smtClean="0"/>
              <a:t>‹#›</a:t>
            </a:fld>
            <a:endParaRPr lang="en-US"/>
          </a:p>
        </p:txBody>
      </p:sp>
    </p:spTree>
    <p:extLst>
      <p:ext uri="{BB962C8B-B14F-4D97-AF65-F5344CB8AC3E}">
        <p14:creationId xmlns:p14="http://schemas.microsoft.com/office/powerpoint/2010/main" val="1876141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42FC0-2464-D06D-E2F8-97C768FEA82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4D2359B-9A95-FF87-3FD6-7EEF1F0D4B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FED6414-0B75-735E-8F18-C427B63F970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62F5AD4-6CD9-870F-6544-3E6746DF2BC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59A9261-012A-0F26-375D-9E0102B12B6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1D99271-F181-A6DC-5CF6-E32924A26761}"/>
              </a:ext>
            </a:extLst>
          </p:cNvPr>
          <p:cNvSpPr>
            <a:spLocks noGrp="1"/>
          </p:cNvSpPr>
          <p:nvPr>
            <p:ph type="dt" sz="half" idx="10"/>
          </p:nvPr>
        </p:nvSpPr>
        <p:spPr/>
        <p:txBody>
          <a:bodyPr/>
          <a:lstStyle/>
          <a:p>
            <a:fld id="{CEF53A75-B31A-C143-A19C-2CFAC595C448}" type="datetimeFigureOut">
              <a:rPr lang="en-US" smtClean="0"/>
              <a:t>5/5/23</a:t>
            </a:fld>
            <a:endParaRPr lang="en-US"/>
          </a:p>
        </p:txBody>
      </p:sp>
      <p:sp>
        <p:nvSpPr>
          <p:cNvPr id="8" name="Footer Placeholder 7">
            <a:extLst>
              <a:ext uri="{FF2B5EF4-FFF2-40B4-BE49-F238E27FC236}">
                <a16:creationId xmlns:a16="http://schemas.microsoft.com/office/drawing/2014/main" id="{38C3AFA5-161D-A0D1-AB3E-D0CCA557955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569A8F9-6ABE-7596-DEF7-FEA0DBEF1A55}"/>
              </a:ext>
            </a:extLst>
          </p:cNvPr>
          <p:cNvSpPr>
            <a:spLocks noGrp="1"/>
          </p:cNvSpPr>
          <p:nvPr>
            <p:ph type="sldNum" sz="quarter" idx="12"/>
          </p:nvPr>
        </p:nvSpPr>
        <p:spPr/>
        <p:txBody>
          <a:bodyPr/>
          <a:lstStyle/>
          <a:p>
            <a:fld id="{7F05CEB5-3B19-6942-BA5C-6D20F1EAEB26}" type="slidenum">
              <a:rPr lang="en-US" smtClean="0"/>
              <a:t>‹#›</a:t>
            </a:fld>
            <a:endParaRPr lang="en-US"/>
          </a:p>
        </p:txBody>
      </p:sp>
    </p:spTree>
    <p:extLst>
      <p:ext uri="{BB962C8B-B14F-4D97-AF65-F5344CB8AC3E}">
        <p14:creationId xmlns:p14="http://schemas.microsoft.com/office/powerpoint/2010/main" val="28006891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ABD49-FDB0-FE48-52C2-A0C42E83E6D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EE1EBDB-5A36-2C0A-E594-5760B439EFEF}"/>
              </a:ext>
            </a:extLst>
          </p:cNvPr>
          <p:cNvSpPr>
            <a:spLocks noGrp="1"/>
          </p:cNvSpPr>
          <p:nvPr>
            <p:ph type="dt" sz="half" idx="10"/>
          </p:nvPr>
        </p:nvSpPr>
        <p:spPr/>
        <p:txBody>
          <a:bodyPr/>
          <a:lstStyle/>
          <a:p>
            <a:fld id="{CEF53A75-B31A-C143-A19C-2CFAC595C448}" type="datetimeFigureOut">
              <a:rPr lang="en-US" smtClean="0"/>
              <a:t>5/5/23</a:t>
            </a:fld>
            <a:endParaRPr lang="en-US"/>
          </a:p>
        </p:txBody>
      </p:sp>
      <p:sp>
        <p:nvSpPr>
          <p:cNvPr id="4" name="Footer Placeholder 3">
            <a:extLst>
              <a:ext uri="{FF2B5EF4-FFF2-40B4-BE49-F238E27FC236}">
                <a16:creationId xmlns:a16="http://schemas.microsoft.com/office/drawing/2014/main" id="{B59BD6E9-B53E-72FD-2FA4-91D25B154EA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2EFE503-CE8B-3FE8-67AE-7C16801F7A41}"/>
              </a:ext>
            </a:extLst>
          </p:cNvPr>
          <p:cNvSpPr>
            <a:spLocks noGrp="1"/>
          </p:cNvSpPr>
          <p:nvPr>
            <p:ph type="sldNum" sz="quarter" idx="12"/>
          </p:nvPr>
        </p:nvSpPr>
        <p:spPr/>
        <p:txBody>
          <a:bodyPr/>
          <a:lstStyle/>
          <a:p>
            <a:fld id="{7F05CEB5-3B19-6942-BA5C-6D20F1EAEB26}" type="slidenum">
              <a:rPr lang="en-US" smtClean="0"/>
              <a:t>‹#›</a:t>
            </a:fld>
            <a:endParaRPr lang="en-US"/>
          </a:p>
        </p:txBody>
      </p:sp>
    </p:spTree>
    <p:extLst>
      <p:ext uri="{BB962C8B-B14F-4D97-AF65-F5344CB8AC3E}">
        <p14:creationId xmlns:p14="http://schemas.microsoft.com/office/powerpoint/2010/main" val="2664127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A9F37BF-19A3-3A3C-D553-FD4AD563C685}"/>
              </a:ext>
            </a:extLst>
          </p:cNvPr>
          <p:cNvSpPr>
            <a:spLocks noGrp="1"/>
          </p:cNvSpPr>
          <p:nvPr>
            <p:ph type="dt" sz="half" idx="10"/>
          </p:nvPr>
        </p:nvSpPr>
        <p:spPr/>
        <p:txBody>
          <a:bodyPr/>
          <a:lstStyle/>
          <a:p>
            <a:fld id="{CEF53A75-B31A-C143-A19C-2CFAC595C448}" type="datetimeFigureOut">
              <a:rPr lang="en-US" smtClean="0"/>
              <a:t>5/5/23</a:t>
            </a:fld>
            <a:endParaRPr lang="en-US"/>
          </a:p>
        </p:txBody>
      </p:sp>
      <p:sp>
        <p:nvSpPr>
          <p:cNvPr id="3" name="Footer Placeholder 2">
            <a:extLst>
              <a:ext uri="{FF2B5EF4-FFF2-40B4-BE49-F238E27FC236}">
                <a16:creationId xmlns:a16="http://schemas.microsoft.com/office/drawing/2014/main" id="{C4F61FE6-8F14-B2EC-3B08-B9B70A40784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1641629-9276-8859-18BA-10463EE8FC84}"/>
              </a:ext>
            </a:extLst>
          </p:cNvPr>
          <p:cNvSpPr>
            <a:spLocks noGrp="1"/>
          </p:cNvSpPr>
          <p:nvPr>
            <p:ph type="sldNum" sz="quarter" idx="12"/>
          </p:nvPr>
        </p:nvSpPr>
        <p:spPr/>
        <p:txBody>
          <a:bodyPr/>
          <a:lstStyle/>
          <a:p>
            <a:fld id="{7F05CEB5-3B19-6942-BA5C-6D20F1EAEB26}" type="slidenum">
              <a:rPr lang="en-US" smtClean="0"/>
              <a:t>‹#›</a:t>
            </a:fld>
            <a:endParaRPr lang="en-US"/>
          </a:p>
        </p:txBody>
      </p:sp>
    </p:spTree>
    <p:extLst>
      <p:ext uri="{BB962C8B-B14F-4D97-AF65-F5344CB8AC3E}">
        <p14:creationId xmlns:p14="http://schemas.microsoft.com/office/powerpoint/2010/main" val="14259195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35AA8-8332-1577-AE1D-F67582156A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60E935B-21D3-50CC-2FE7-0CF1D7C5026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937876-A0A4-6DC9-A763-D96CF9242A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E4FA86-6B7A-3653-0A74-DE71E54178A9}"/>
              </a:ext>
            </a:extLst>
          </p:cNvPr>
          <p:cNvSpPr>
            <a:spLocks noGrp="1"/>
          </p:cNvSpPr>
          <p:nvPr>
            <p:ph type="dt" sz="half" idx="10"/>
          </p:nvPr>
        </p:nvSpPr>
        <p:spPr/>
        <p:txBody>
          <a:bodyPr/>
          <a:lstStyle/>
          <a:p>
            <a:fld id="{CEF53A75-B31A-C143-A19C-2CFAC595C448}" type="datetimeFigureOut">
              <a:rPr lang="en-US" smtClean="0"/>
              <a:t>5/5/23</a:t>
            </a:fld>
            <a:endParaRPr lang="en-US"/>
          </a:p>
        </p:txBody>
      </p:sp>
      <p:sp>
        <p:nvSpPr>
          <p:cNvPr id="6" name="Footer Placeholder 5">
            <a:extLst>
              <a:ext uri="{FF2B5EF4-FFF2-40B4-BE49-F238E27FC236}">
                <a16:creationId xmlns:a16="http://schemas.microsoft.com/office/drawing/2014/main" id="{800F0E36-81D2-F637-BEB2-81D1A171EC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048927-CA2B-A786-0ADB-FFC13358A2C1}"/>
              </a:ext>
            </a:extLst>
          </p:cNvPr>
          <p:cNvSpPr>
            <a:spLocks noGrp="1"/>
          </p:cNvSpPr>
          <p:nvPr>
            <p:ph type="sldNum" sz="quarter" idx="12"/>
          </p:nvPr>
        </p:nvSpPr>
        <p:spPr/>
        <p:txBody>
          <a:bodyPr/>
          <a:lstStyle/>
          <a:p>
            <a:fld id="{7F05CEB5-3B19-6942-BA5C-6D20F1EAEB26}" type="slidenum">
              <a:rPr lang="en-US" smtClean="0"/>
              <a:t>‹#›</a:t>
            </a:fld>
            <a:endParaRPr lang="en-US"/>
          </a:p>
        </p:txBody>
      </p:sp>
    </p:spTree>
    <p:extLst>
      <p:ext uri="{BB962C8B-B14F-4D97-AF65-F5344CB8AC3E}">
        <p14:creationId xmlns:p14="http://schemas.microsoft.com/office/powerpoint/2010/main" val="34535448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78A5D-9FBB-036A-0147-695B98CB21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0C4C830-076F-259C-C0EC-78D02C037E0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414346B-17D8-E62D-C054-EEA7FBEFE0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CFDBE6-CEF2-2A84-998B-0682F34A8092}"/>
              </a:ext>
            </a:extLst>
          </p:cNvPr>
          <p:cNvSpPr>
            <a:spLocks noGrp="1"/>
          </p:cNvSpPr>
          <p:nvPr>
            <p:ph type="dt" sz="half" idx="10"/>
          </p:nvPr>
        </p:nvSpPr>
        <p:spPr/>
        <p:txBody>
          <a:bodyPr/>
          <a:lstStyle/>
          <a:p>
            <a:fld id="{CEF53A75-B31A-C143-A19C-2CFAC595C448}" type="datetimeFigureOut">
              <a:rPr lang="en-US" smtClean="0"/>
              <a:t>5/5/23</a:t>
            </a:fld>
            <a:endParaRPr lang="en-US"/>
          </a:p>
        </p:txBody>
      </p:sp>
      <p:sp>
        <p:nvSpPr>
          <p:cNvPr id="6" name="Footer Placeholder 5">
            <a:extLst>
              <a:ext uri="{FF2B5EF4-FFF2-40B4-BE49-F238E27FC236}">
                <a16:creationId xmlns:a16="http://schemas.microsoft.com/office/drawing/2014/main" id="{94A7BF20-CCD9-4869-5BF9-99386A4AFA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7D320A-8906-0767-6D53-08E0F11421A1}"/>
              </a:ext>
            </a:extLst>
          </p:cNvPr>
          <p:cNvSpPr>
            <a:spLocks noGrp="1"/>
          </p:cNvSpPr>
          <p:nvPr>
            <p:ph type="sldNum" sz="quarter" idx="12"/>
          </p:nvPr>
        </p:nvSpPr>
        <p:spPr/>
        <p:txBody>
          <a:bodyPr/>
          <a:lstStyle/>
          <a:p>
            <a:fld id="{7F05CEB5-3B19-6942-BA5C-6D20F1EAEB26}" type="slidenum">
              <a:rPr lang="en-US" smtClean="0"/>
              <a:t>‹#›</a:t>
            </a:fld>
            <a:endParaRPr lang="en-US"/>
          </a:p>
        </p:txBody>
      </p:sp>
    </p:spTree>
    <p:extLst>
      <p:ext uri="{BB962C8B-B14F-4D97-AF65-F5344CB8AC3E}">
        <p14:creationId xmlns:p14="http://schemas.microsoft.com/office/powerpoint/2010/main" val="135870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CF596-B938-6CB6-84EB-FE309782F24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B06EB9F-751D-1FEA-AECA-0D6D72787F8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7F130C-C5E0-89E9-7C2D-1B709408389E}"/>
              </a:ext>
            </a:extLst>
          </p:cNvPr>
          <p:cNvSpPr>
            <a:spLocks noGrp="1"/>
          </p:cNvSpPr>
          <p:nvPr>
            <p:ph type="dt" sz="half" idx="10"/>
          </p:nvPr>
        </p:nvSpPr>
        <p:spPr/>
        <p:txBody>
          <a:bodyPr/>
          <a:lstStyle/>
          <a:p>
            <a:fld id="{CEF53A75-B31A-C143-A19C-2CFAC595C448}" type="datetimeFigureOut">
              <a:rPr lang="en-US" smtClean="0"/>
              <a:t>5/5/23</a:t>
            </a:fld>
            <a:endParaRPr lang="en-US"/>
          </a:p>
        </p:txBody>
      </p:sp>
      <p:sp>
        <p:nvSpPr>
          <p:cNvPr id="5" name="Footer Placeholder 4">
            <a:extLst>
              <a:ext uri="{FF2B5EF4-FFF2-40B4-BE49-F238E27FC236}">
                <a16:creationId xmlns:a16="http://schemas.microsoft.com/office/drawing/2014/main" id="{C3DD8C55-E705-9B84-1A3E-546E23A42B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933B1F-BFE3-5CE6-A5B8-EB77E42DD608}"/>
              </a:ext>
            </a:extLst>
          </p:cNvPr>
          <p:cNvSpPr>
            <a:spLocks noGrp="1"/>
          </p:cNvSpPr>
          <p:nvPr>
            <p:ph type="sldNum" sz="quarter" idx="12"/>
          </p:nvPr>
        </p:nvSpPr>
        <p:spPr/>
        <p:txBody>
          <a:bodyPr/>
          <a:lstStyle/>
          <a:p>
            <a:fld id="{7F05CEB5-3B19-6942-BA5C-6D20F1EAEB26}" type="slidenum">
              <a:rPr lang="en-US" smtClean="0"/>
              <a:t>‹#›</a:t>
            </a:fld>
            <a:endParaRPr lang="en-US"/>
          </a:p>
        </p:txBody>
      </p:sp>
    </p:spTree>
    <p:extLst>
      <p:ext uri="{BB962C8B-B14F-4D97-AF65-F5344CB8AC3E}">
        <p14:creationId xmlns:p14="http://schemas.microsoft.com/office/powerpoint/2010/main" val="13361984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793A8A-B4A0-386D-F89A-A5E12A6C933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1B4354B-0B7E-3B3E-2612-C10FD37AE61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B00359-6104-35FD-C51B-9C55E44E76D6}"/>
              </a:ext>
            </a:extLst>
          </p:cNvPr>
          <p:cNvSpPr>
            <a:spLocks noGrp="1"/>
          </p:cNvSpPr>
          <p:nvPr>
            <p:ph type="dt" sz="half" idx="10"/>
          </p:nvPr>
        </p:nvSpPr>
        <p:spPr/>
        <p:txBody>
          <a:bodyPr/>
          <a:lstStyle/>
          <a:p>
            <a:fld id="{CEF53A75-B31A-C143-A19C-2CFAC595C448}" type="datetimeFigureOut">
              <a:rPr lang="en-US" smtClean="0"/>
              <a:t>5/5/23</a:t>
            </a:fld>
            <a:endParaRPr lang="en-US"/>
          </a:p>
        </p:txBody>
      </p:sp>
      <p:sp>
        <p:nvSpPr>
          <p:cNvPr id="5" name="Footer Placeholder 4">
            <a:extLst>
              <a:ext uri="{FF2B5EF4-FFF2-40B4-BE49-F238E27FC236}">
                <a16:creationId xmlns:a16="http://schemas.microsoft.com/office/drawing/2014/main" id="{58355C4A-1854-4FB0-0745-F0989F4CDA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F3E7F0-FD6F-24BF-6B7F-2B0CB82534D5}"/>
              </a:ext>
            </a:extLst>
          </p:cNvPr>
          <p:cNvSpPr>
            <a:spLocks noGrp="1"/>
          </p:cNvSpPr>
          <p:nvPr>
            <p:ph type="sldNum" sz="quarter" idx="12"/>
          </p:nvPr>
        </p:nvSpPr>
        <p:spPr/>
        <p:txBody>
          <a:bodyPr/>
          <a:lstStyle/>
          <a:p>
            <a:fld id="{7F05CEB5-3B19-6942-BA5C-6D20F1EAEB26}" type="slidenum">
              <a:rPr lang="en-US" smtClean="0"/>
              <a:t>‹#›</a:t>
            </a:fld>
            <a:endParaRPr lang="en-US"/>
          </a:p>
        </p:txBody>
      </p:sp>
    </p:spTree>
    <p:extLst>
      <p:ext uri="{BB962C8B-B14F-4D97-AF65-F5344CB8AC3E}">
        <p14:creationId xmlns:p14="http://schemas.microsoft.com/office/powerpoint/2010/main" val="14858582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ntent F - Artistic Divider Dark 1">
  <p:cSld name="Content F - Artistic Divider Dark 1">
    <p:bg>
      <p:bgPr>
        <a:solidFill>
          <a:schemeClr val="dk1"/>
        </a:solidFill>
        <a:effectLst/>
      </p:bgPr>
    </p:bg>
    <p:spTree>
      <p:nvGrpSpPr>
        <p:cNvPr id="1" name="Shape 1891"/>
        <p:cNvGrpSpPr/>
        <p:nvPr/>
      </p:nvGrpSpPr>
      <p:grpSpPr>
        <a:xfrm>
          <a:off x="0" y="0"/>
          <a:ext cx="0" cy="0"/>
          <a:chOff x="0" y="0"/>
          <a:chExt cx="0" cy="0"/>
        </a:xfrm>
      </p:grpSpPr>
      <p:sp>
        <p:nvSpPr>
          <p:cNvPr id="1892" name="Google Shape;1892;p288"/>
          <p:cNvSpPr txBox="1">
            <a:spLocks noGrp="1"/>
          </p:cNvSpPr>
          <p:nvPr>
            <p:ph type="title"/>
          </p:nvPr>
        </p:nvSpPr>
        <p:spPr>
          <a:xfrm>
            <a:off x="749441" y="535633"/>
            <a:ext cx="8880513" cy="5712900"/>
          </a:xfrm>
          <a:prstGeom prst="rect">
            <a:avLst/>
          </a:prstGeom>
          <a:noFill/>
          <a:ln>
            <a:noFill/>
          </a:ln>
        </p:spPr>
        <p:txBody>
          <a:bodyPr spcFirstLastPara="1" wrap="square" lIns="0" tIns="0" rIns="0" bIns="0" anchor="ctr" anchorCtr="0">
            <a:noAutofit/>
          </a:bodyPr>
          <a:lstStyle>
            <a:lvl1pPr marR="0" lvl="0" rtl="0">
              <a:lnSpc>
                <a:spcPct val="100000"/>
              </a:lnSpc>
              <a:spcBef>
                <a:spcPts val="0"/>
              </a:spcBef>
              <a:spcAft>
                <a:spcPts val="0"/>
              </a:spcAft>
              <a:buClr>
                <a:schemeClr val="lt2"/>
              </a:buClr>
              <a:buSzPts val="6400"/>
              <a:buFont typeface="DM Sans Medium"/>
              <a:buNone/>
              <a:defRPr sz="6400" i="0" u="none" strike="noStrike" cap="none">
                <a:solidFill>
                  <a:schemeClr val="lt2"/>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a:endParaRPr/>
          </a:p>
        </p:txBody>
      </p:sp>
      <p:sp>
        <p:nvSpPr>
          <p:cNvPr id="1893" name="Google Shape;1893;p288"/>
          <p:cNvSpPr/>
          <p:nvPr/>
        </p:nvSpPr>
        <p:spPr>
          <a:xfrm>
            <a:off x="11228382" y="0"/>
            <a:ext cx="975554" cy="975600"/>
          </a:xfrm>
          <a:prstGeom prst="rect">
            <a:avLst/>
          </a:prstGeom>
          <a:solidFill>
            <a:schemeClr val="dk2"/>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sz="1800"/>
          </a:p>
        </p:txBody>
      </p:sp>
      <p:sp>
        <p:nvSpPr>
          <p:cNvPr id="1894" name="Google Shape;1894;p288"/>
          <p:cNvSpPr txBox="1">
            <a:spLocks noGrp="1"/>
          </p:cNvSpPr>
          <p:nvPr>
            <p:ph type="sldNum" idx="12"/>
          </p:nvPr>
        </p:nvSpPr>
        <p:spPr>
          <a:xfrm>
            <a:off x="11100560" y="6473300"/>
            <a:ext cx="324384" cy="186600"/>
          </a:xfrm>
          <a:prstGeom prst="rect">
            <a:avLst/>
          </a:prstGeom>
        </p:spPr>
        <p:txBody>
          <a:bodyPr spcFirstLastPara="1" wrap="square" lIns="0" tIns="0" rIns="0"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1895" name="Google Shape;1895;p288"/>
          <p:cNvSpPr/>
          <p:nvPr/>
        </p:nvSpPr>
        <p:spPr>
          <a:xfrm>
            <a:off x="10207871" y="0"/>
            <a:ext cx="1989518" cy="1989600"/>
          </a:xfrm>
          <a:prstGeom prst="ellipse">
            <a:avLst/>
          </a:prstGeom>
          <a:solidFill>
            <a:srgbClr val="FF5F46"/>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sz="1800"/>
          </a:p>
        </p:txBody>
      </p:sp>
      <p:sp>
        <p:nvSpPr>
          <p:cNvPr id="1896" name="Google Shape;1896;p288"/>
          <p:cNvSpPr/>
          <p:nvPr/>
        </p:nvSpPr>
        <p:spPr>
          <a:xfrm rot="10800000">
            <a:off x="10207973" y="4258800"/>
            <a:ext cx="1989518" cy="1989600"/>
          </a:xfrm>
          <a:prstGeom prst="rtTriangle">
            <a:avLst/>
          </a:prstGeom>
          <a:solidFill>
            <a:schemeClr val="dk2"/>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sz="1800"/>
          </a:p>
        </p:txBody>
      </p:sp>
      <p:sp>
        <p:nvSpPr>
          <p:cNvPr id="1897" name="Google Shape;1897;p288"/>
          <p:cNvSpPr/>
          <p:nvPr/>
        </p:nvSpPr>
        <p:spPr>
          <a:xfrm>
            <a:off x="11228382" y="3283200"/>
            <a:ext cx="975554" cy="975600"/>
          </a:xfrm>
          <a:prstGeom prst="rect">
            <a:avLst/>
          </a:prstGeom>
          <a:solidFill>
            <a:srgbClr val="FF3621"/>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sz="1800"/>
          </a:p>
        </p:txBody>
      </p:sp>
      <p:sp>
        <p:nvSpPr>
          <p:cNvPr id="1898" name="Google Shape;1898;p288"/>
          <p:cNvSpPr/>
          <p:nvPr/>
        </p:nvSpPr>
        <p:spPr>
          <a:xfrm rot="-5400000">
            <a:off x="11219859" y="3282990"/>
            <a:ext cx="977700" cy="977655"/>
          </a:xfrm>
          <a:prstGeom prst="rtTriangle">
            <a:avLst/>
          </a:prstGeom>
          <a:solidFill>
            <a:srgbClr val="143D4A"/>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sz="1900">
              <a:solidFill>
                <a:schemeClr val="lt2"/>
              </a:solidFill>
            </a:endParaRPr>
          </a:p>
        </p:txBody>
      </p:sp>
      <p:sp>
        <p:nvSpPr>
          <p:cNvPr id="1899" name="Google Shape;1899;p288"/>
          <p:cNvSpPr/>
          <p:nvPr/>
        </p:nvSpPr>
        <p:spPr>
          <a:xfrm>
            <a:off x="8241985" y="975600"/>
            <a:ext cx="481325" cy="481200"/>
          </a:xfrm>
          <a:prstGeom prst="rect">
            <a:avLst/>
          </a:prstGeom>
          <a:solidFill>
            <a:schemeClr val="dk2"/>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sz="1800"/>
          </a:p>
        </p:txBody>
      </p:sp>
      <p:sp>
        <p:nvSpPr>
          <p:cNvPr id="1900" name="Google Shape;1900;p288"/>
          <p:cNvSpPr/>
          <p:nvPr/>
        </p:nvSpPr>
        <p:spPr>
          <a:xfrm>
            <a:off x="8871191" y="5767200"/>
            <a:ext cx="481325" cy="481200"/>
          </a:xfrm>
          <a:prstGeom prst="ellipse">
            <a:avLst/>
          </a:prstGeom>
          <a:solidFill>
            <a:srgbClr val="FF5F46"/>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sz="1800"/>
          </a:p>
        </p:txBody>
      </p:sp>
      <p:sp>
        <p:nvSpPr>
          <p:cNvPr id="1901" name="Google Shape;1901;p288"/>
          <p:cNvSpPr/>
          <p:nvPr/>
        </p:nvSpPr>
        <p:spPr>
          <a:xfrm>
            <a:off x="9971335" y="3046667"/>
            <a:ext cx="236462" cy="236400"/>
          </a:xfrm>
          <a:prstGeom prst="rtTriangle">
            <a:avLst/>
          </a:prstGeom>
          <a:solidFill>
            <a:srgbClr val="143D4A"/>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sz="1800"/>
          </a:p>
        </p:txBody>
      </p:sp>
    </p:spTree>
    <p:extLst>
      <p:ext uri="{BB962C8B-B14F-4D97-AF65-F5344CB8AC3E}">
        <p14:creationId xmlns:p14="http://schemas.microsoft.com/office/powerpoint/2010/main" val="3745817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7 Content A - Basic">
  <p:cSld name="7 Content A - Basic">
    <p:bg>
      <p:bgPr>
        <a:solidFill>
          <a:schemeClr val="lt1"/>
        </a:solidFill>
        <a:effectLst/>
      </p:bgPr>
    </p:bg>
    <p:spTree>
      <p:nvGrpSpPr>
        <p:cNvPr id="1" name="Shape 2324"/>
        <p:cNvGrpSpPr/>
        <p:nvPr/>
      </p:nvGrpSpPr>
      <p:grpSpPr>
        <a:xfrm>
          <a:off x="0" y="0"/>
          <a:ext cx="0" cy="0"/>
          <a:chOff x="0" y="0"/>
          <a:chExt cx="0" cy="0"/>
        </a:xfrm>
      </p:grpSpPr>
      <p:sp>
        <p:nvSpPr>
          <p:cNvPr id="2325" name="Google Shape;2325;p355"/>
          <p:cNvSpPr txBox="1">
            <a:spLocks noGrp="1"/>
          </p:cNvSpPr>
          <p:nvPr>
            <p:ph type="title"/>
          </p:nvPr>
        </p:nvSpPr>
        <p:spPr>
          <a:xfrm>
            <a:off x="749440" y="535597"/>
            <a:ext cx="10662077" cy="583500"/>
          </a:xfrm>
          <a:prstGeom prst="rect">
            <a:avLst/>
          </a:prstGeom>
          <a:noFill/>
          <a:ln>
            <a:noFill/>
          </a:ln>
        </p:spPr>
        <p:txBody>
          <a:bodyPr spcFirstLastPara="1" wrap="square" lIns="0" tIns="0" rIns="0" bIns="0" anchor="ctr" anchorCtr="0">
            <a:noAutofit/>
          </a:bodyPr>
          <a:lstStyle>
            <a:lvl1pPr marR="0" lvl="0" algn="l" rtl="0">
              <a:lnSpc>
                <a:spcPct val="90000"/>
              </a:lnSpc>
              <a:spcBef>
                <a:spcPts val="0"/>
              </a:spcBef>
              <a:spcAft>
                <a:spcPts val="0"/>
              </a:spcAft>
              <a:buClr>
                <a:schemeClr val="dk1"/>
              </a:buClr>
              <a:buSzPts val="4000"/>
              <a:buFont typeface="DM Sans Medium"/>
              <a:buNone/>
              <a:defRPr sz="4000" i="0" u="none" strike="noStrike" cap="none">
                <a:solidFill>
                  <a:schemeClr val="dk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a:endParaRPr/>
          </a:p>
        </p:txBody>
      </p:sp>
      <p:sp>
        <p:nvSpPr>
          <p:cNvPr id="2326" name="Google Shape;2326;p355"/>
          <p:cNvSpPr txBox="1">
            <a:spLocks noGrp="1"/>
          </p:cNvSpPr>
          <p:nvPr>
            <p:ph type="subTitle" idx="1"/>
          </p:nvPr>
        </p:nvSpPr>
        <p:spPr>
          <a:xfrm>
            <a:off x="765008" y="1174702"/>
            <a:ext cx="10662077" cy="583500"/>
          </a:xfrm>
          <a:prstGeom prst="rect">
            <a:avLst/>
          </a:prstGeom>
        </p:spPr>
        <p:txBody>
          <a:bodyPr spcFirstLastPara="1" wrap="square" lIns="0" tIns="0" rIns="0" bIns="0" anchor="t" anchorCtr="0">
            <a:noAutofit/>
          </a:bodyPr>
          <a:lstStyle>
            <a:lvl1pPr lvl="0" rtl="0">
              <a:spcBef>
                <a:spcPts val="1100"/>
              </a:spcBef>
              <a:spcAft>
                <a:spcPts val="0"/>
              </a:spcAft>
              <a:buSzPts val="2400"/>
              <a:buFont typeface="DM Sans Medium"/>
              <a:buNone/>
              <a:defRPr sz="2400">
                <a:solidFill>
                  <a:schemeClr val="accent1"/>
                </a:solidFill>
                <a:latin typeface="DM Sans Medium"/>
                <a:ea typeface="DM Sans Medium"/>
                <a:cs typeface="DM Sans Medium"/>
                <a:sym typeface="DM Sans Medium"/>
              </a:defRPr>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a:endParaRPr/>
          </a:p>
        </p:txBody>
      </p:sp>
      <p:sp>
        <p:nvSpPr>
          <p:cNvPr id="2327" name="Google Shape;2327;p355"/>
          <p:cNvSpPr txBox="1">
            <a:spLocks noGrp="1"/>
          </p:cNvSpPr>
          <p:nvPr>
            <p:ph type="body" idx="2"/>
          </p:nvPr>
        </p:nvSpPr>
        <p:spPr>
          <a:xfrm>
            <a:off x="762007" y="1988833"/>
            <a:ext cx="10662077" cy="4149900"/>
          </a:xfrm>
          <a:prstGeom prst="rect">
            <a:avLst/>
          </a:prstGeom>
          <a:noFill/>
          <a:ln>
            <a:noFill/>
          </a:ln>
        </p:spPr>
        <p:txBody>
          <a:bodyPr spcFirstLastPara="1" wrap="square" lIns="0" tIns="0" rIns="0" bIns="0" anchor="t" anchorCtr="0">
            <a:noAutofit/>
          </a:bodyPr>
          <a:lstStyle>
            <a:lvl1pPr marL="457200" marR="0" lvl="0" indent="-381000" algn="l" rtl="0">
              <a:lnSpc>
                <a:spcPct val="115000"/>
              </a:lnSpc>
              <a:spcBef>
                <a:spcPts val="1100"/>
              </a:spcBef>
              <a:spcAft>
                <a:spcPts val="0"/>
              </a:spcAft>
              <a:buClr>
                <a:schemeClr val="accent1"/>
              </a:buClr>
              <a:buSzPts val="2400"/>
              <a:buFont typeface="DM Sans"/>
              <a:buChar char="•"/>
              <a:defRPr sz="2400" i="0" u="none" strike="noStrike" cap="none">
                <a:solidFill>
                  <a:schemeClr val="dk1"/>
                </a:solidFill>
                <a:latin typeface="DM Sans"/>
                <a:ea typeface="DM Sans"/>
                <a:cs typeface="DM Sans"/>
                <a:sym typeface="DM Sans"/>
              </a:defRPr>
            </a:lvl1pPr>
            <a:lvl2pPr marL="914400" marR="0" lvl="1" indent="-355600" algn="l" rtl="0">
              <a:lnSpc>
                <a:spcPct val="115000"/>
              </a:lnSpc>
              <a:spcBef>
                <a:spcPts val="500"/>
              </a:spcBef>
              <a:spcAft>
                <a:spcPts val="0"/>
              </a:spcAft>
              <a:buClr>
                <a:schemeClr val="accent4"/>
              </a:buClr>
              <a:buSzPts val="2000"/>
              <a:buFont typeface="DM Sans"/>
              <a:buChar char="•"/>
              <a:defRPr sz="2000" i="0" u="none" strike="noStrike" cap="none">
                <a:solidFill>
                  <a:schemeClr val="dk1"/>
                </a:solidFill>
                <a:latin typeface="DM Sans"/>
                <a:ea typeface="DM Sans"/>
                <a:cs typeface="DM Sans"/>
                <a:sym typeface="DM Sans"/>
              </a:defRPr>
            </a:lvl2pPr>
            <a:lvl3pPr marL="1371600" marR="0" lvl="2" indent="-330200" algn="l" rtl="0">
              <a:lnSpc>
                <a:spcPct val="115000"/>
              </a:lnSpc>
              <a:spcBef>
                <a:spcPts val="500"/>
              </a:spcBef>
              <a:spcAft>
                <a:spcPts val="0"/>
              </a:spcAft>
              <a:buClr>
                <a:schemeClr val="dk1"/>
              </a:buClr>
              <a:buSzPts val="1600"/>
              <a:buFont typeface="DM Sans"/>
              <a:buChar char="•"/>
              <a:defRPr sz="1600" i="0" u="none" strike="noStrike" cap="none">
                <a:solidFill>
                  <a:schemeClr val="dk1"/>
                </a:solidFill>
                <a:latin typeface="DM Sans"/>
                <a:ea typeface="DM Sans"/>
                <a:cs typeface="DM Sans"/>
                <a:sym typeface="DM Sans"/>
              </a:defRPr>
            </a:lvl3pPr>
            <a:lvl4pPr marL="1828800" marR="0" lvl="3" indent="-330200" algn="l" rtl="0">
              <a:lnSpc>
                <a:spcPct val="115000"/>
              </a:lnSpc>
              <a:spcBef>
                <a:spcPts val="500"/>
              </a:spcBef>
              <a:spcAft>
                <a:spcPts val="0"/>
              </a:spcAft>
              <a:buClr>
                <a:schemeClr val="dk1"/>
              </a:buClr>
              <a:buSzPts val="1600"/>
              <a:buFont typeface="DM Sans"/>
              <a:buChar char="•"/>
              <a:defRPr sz="1600" i="0" u="none" strike="noStrike" cap="none">
                <a:solidFill>
                  <a:schemeClr val="dk1"/>
                </a:solidFill>
                <a:latin typeface="DM Sans"/>
                <a:ea typeface="DM Sans"/>
                <a:cs typeface="DM Sans"/>
                <a:sym typeface="DM Sans"/>
              </a:defRPr>
            </a:lvl4pPr>
            <a:lvl5pPr marL="2286000" marR="0" lvl="4" indent="-330200" algn="l" rtl="0">
              <a:lnSpc>
                <a:spcPct val="115000"/>
              </a:lnSpc>
              <a:spcBef>
                <a:spcPts val="500"/>
              </a:spcBef>
              <a:spcAft>
                <a:spcPts val="0"/>
              </a:spcAft>
              <a:buClr>
                <a:schemeClr val="dk1"/>
              </a:buClr>
              <a:buSzPts val="1600"/>
              <a:buFont typeface="DM Sans"/>
              <a:buChar char="•"/>
              <a:defRPr sz="1600" i="0" u="none" strike="noStrike" cap="none">
                <a:solidFill>
                  <a:schemeClr val="dk1"/>
                </a:solidFill>
                <a:latin typeface="DM Sans"/>
                <a:ea typeface="DM Sans"/>
                <a:cs typeface="DM Sans"/>
                <a:sym typeface="DM Sans"/>
              </a:defRPr>
            </a:lvl5pPr>
            <a:lvl6pPr marL="2743200" marR="0" lvl="5" indent="-330200" algn="l" rtl="0">
              <a:lnSpc>
                <a:spcPct val="115000"/>
              </a:lnSpc>
              <a:spcBef>
                <a:spcPts val="500"/>
              </a:spcBef>
              <a:spcAft>
                <a:spcPts val="0"/>
              </a:spcAft>
              <a:buClr>
                <a:schemeClr val="dk1"/>
              </a:buClr>
              <a:buSzPts val="1600"/>
              <a:buFont typeface="DM Sans"/>
              <a:buChar char="•"/>
              <a:defRPr sz="1600" i="0" u="none" strike="noStrike" cap="none">
                <a:solidFill>
                  <a:schemeClr val="dk1"/>
                </a:solidFill>
                <a:latin typeface="DM Sans"/>
                <a:ea typeface="DM Sans"/>
                <a:cs typeface="DM Sans"/>
                <a:sym typeface="DM Sans"/>
              </a:defRPr>
            </a:lvl6pPr>
            <a:lvl7pPr marL="3200400" marR="0" lvl="6" indent="-330200" algn="l" rtl="0">
              <a:lnSpc>
                <a:spcPct val="115000"/>
              </a:lnSpc>
              <a:spcBef>
                <a:spcPts val="500"/>
              </a:spcBef>
              <a:spcAft>
                <a:spcPts val="0"/>
              </a:spcAft>
              <a:buClr>
                <a:schemeClr val="dk1"/>
              </a:buClr>
              <a:buSzPts val="1600"/>
              <a:buFont typeface="DM Sans"/>
              <a:buChar char="•"/>
              <a:defRPr sz="1600" i="0" u="none" strike="noStrike" cap="none">
                <a:solidFill>
                  <a:schemeClr val="dk1"/>
                </a:solidFill>
                <a:latin typeface="DM Sans"/>
                <a:ea typeface="DM Sans"/>
                <a:cs typeface="DM Sans"/>
                <a:sym typeface="DM Sans"/>
              </a:defRPr>
            </a:lvl7pPr>
            <a:lvl8pPr marL="3657600" marR="0" lvl="7" indent="-330200" algn="l" rtl="0">
              <a:lnSpc>
                <a:spcPct val="115000"/>
              </a:lnSpc>
              <a:spcBef>
                <a:spcPts val="500"/>
              </a:spcBef>
              <a:spcAft>
                <a:spcPts val="0"/>
              </a:spcAft>
              <a:buClr>
                <a:schemeClr val="dk1"/>
              </a:buClr>
              <a:buSzPts val="1600"/>
              <a:buFont typeface="DM Sans"/>
              <a:buChar char="•"/>
              <a:defRPr sz="1600" i="0" u="none" strike="noStrike" cap="none">
                <a:solidFill>
                  <a:schemeClr val="dk1"/>
                </a:solidFill>
                <a:latin typeface="DM Sans"/>
                <a:ea typeface="DM Sans"/>
                <a:cs typeface="DM Sans"/>
                <a:sym typeface="DM Sans"/>
              </a:defRPr>
            </a:lvl8pPr>
            <a:lvl9pPr marL="4114800" marR="0" lvl="8" indent="-330200" algn="l" rtl="0">
              <a:lnSpc>
                <a:spcPct val="115000"/>
              </a:lnSpc>
              <a:spcBef>
                <a:spcPts val="500"/>
              </a:spcBef>
              <a:spcAft>
                <a:spcPts val="0"/>
              </a:spcAft>
              <a:buClr>
                <a:schemeClr val="dk1"/>
              </a:buClr>
              <a:buSzPts val="1600"/>
              <a:buFont typeface="DM Sans"/>
              <a:buChar char="•"/>
              <a:defRPr sz="1600" i="0" u="none" strike="noStrike" cap="none">
                <a:solidFill>
                  <a:schemeClr val="dk1"/>
                </a:solidFill>
                <a:latin typeface="DM Sans"/>
                <a:ea typeface="DM Sans"/>
                <a:cs typeface="DM Sans"/>
                <a:sym typeface="DM Sans"/>
              </a:defRPr>
            </a:lvl9pPr>
          </a:lstStyle>
          <a:p>
            <a:endParaRPr/>
          </a:p>
        </p:txBody>
      </p:sp>
      <p:sp>
        <p:nvSpPr>
          <p:cNvPr id="2328" name="Google Shape;2328;p355"/>
          <p:cNvSpPr txBox="1">
            <a:spLocks noGrp="1"/>
          </p:cNvSpPr>
          <p:nvPr>
            <p:ph type="sldNum" idx="12"/>
          </p:nvPr>
        </p:nvSpPr>
        <p:spPr>
          <a:xfrm>
            <a:off x="11100560" y="6473300"/>
            <a:ext cx="324384" cy="186600"/>
          </a:xfrm>
          <a:prstGeom prst="rect">
            <a:avLst/>
          </a:prstGeom>
        </p:spPr>
        <p:txBody>
          <a:bodyPr spcFirstLastPara="1" wrap="square" lIns="0" tIns="0" rIns="0"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5552330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7 Content A - Basic 1">
  <p:cSld name="7 Content A - Basic 1">
    <p:bg>
      <p:bgPr>
        <a:solidFill>
          <a:schemeClr val="lt1"/>
        </a:solidFill>
        <a:effectLst/>
      </p:bgPr>
    </p:bg>
    <p:spTree>
      <p:nvGrpSpPr>
        <p:cNvPr id="1" name="Shape 2619"/>
        <p:cNvGrpSpPr/>
        <p:nvPr/>
      </p:nvGrpSpPr>
      <p:grpSpPr>
        <a:xfrm>
          <a:off x="0" y="0"/>
          <a:ext cx="0" cy="0"/>
          <a:chOff x="0" y="0"/>
          <a:chExt cx="0" cy="0"/>
        </a:xfrm>
      </p:grpSpPr>
      <p:sp>
        <p:nvSpPr>
          <p:cNvPr id="2620" name="Google Shape;2620;p406"/>
          <p:cNvSpPr txBox="1">
            <a:spLocks noGrp="1"/>
          </p:cNvSpPr>
          <p:nvPr>
            <p:ph type="title"/>
          </p:nvPr>
        </p:nvSpPr>
        <p:spPr>
          <a:xfrm>
            <a:off x="749440" y="535597"/>
            <a:ext cx="10662077" cy="583500"/>
          </a:xfrm>
          <a:prstGeom prst="rect">
            <a:avLst/>
          </a:prstGeom>
          <a:noFill/>
          <a:ln>
            <a:noFill/>
          </a:ln>
        </p:spPr>
        <p:txBody>
          <a:bodyPr spcFirstLastPara="1" wrap="square" lIns="0" tIns="0" rIns="0" bIns="0" anchor="ctr" anchorCtr="0">
            <a:noAutofit/>
          </a:bodyPr>
          <a:lstStyle>
            <a:lvl1pPr marR="0" lvl="0" algn="l" rtl="0">
              <a:lnSpc>
                <a:spcPct val="90000"/>
              </a:lnSpc>
              <a:spcBef>
                <a:spcPts val="0"/>
              </a:spcBef>
              <a:spcAft>
                <a:spcPts val="0"/>
              </a:spcAft>
              <a:buClr>
                <a:schemeClr val="dk1"/>
              </a:buClr>
              <a:buSzPts val="4000"/>
              <a:buFont typeface="DM Sans Medium"/>
              <a:buNone/>
              <a:defRPr sz="4000" i="0" u="none" strike="noStrike" cap="none">
                <a:solidFill>
                  <a:schemeClr val="dk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a:endParaRPr/>
          </a:p>
        </p:txBody>
      </p:sp>
      <p:sp>
        <p:nvSpPr>
          <p:cNvPr id="2621" name="Google Shape;2621;p406"/>
          <p:cNvSpPr txBox="1">
            <a:spLocks noGrp="1"/>
          </p:cNvSpPr>
          <p:nvPr>
            <p:ph type="subTitle" idx="1"/>
          </p:nvPr>
        </p:nvSpPr>
        <p:spPr>
          <a:xfrm>
            <a:off x="765008" y="1174702"/>
            <a:ext cx="10662077" cy="583500"/>
          </a:xfrm>
          <a:prstGeom prst="rect">
            <a:avLst/>
          </a:prstGeom>
        </p:spPr>
        <p:txBody>
          <a:bodyPr spcFirstLastPara="1" wrap="square" lIns="0" tIns="0" rIns="0" bIns="0" anchor="t" anchorCtr="0">
            <a:noAutofit/>
          </a:bodyPr>
          <a:lstStyle>
            <a:lvl1pPr lvl="0" rtl="0">
              <a:spcBef>
                <a:spcPts val="1100"/>
              </a:spcBef>
              <a:spcAft>
                <a:spcPts val="0"/>
              </a:spcAft>
              <a:buSzPts val="2400"/>
              <a:buFont typeface="DM Sans Medium"/>
              <a:buNone/>
              <a:defRPr sz="2400">
                <a:solidFill>
                  <a:schemeClr val="accent1"/>
                </a:solidFill>
                <a:latin typeface="DM Sans Medium"/>
                <a:ea typeface="DM Sans Medium"/>
                <a:cs typeface="DM Sans Medium"/>
                <a:sym typeface="DM Sans Medium"/>
              </a:defRPr>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a:endParaRPr/>
          </a:p>
        </p:txBody>
      </p:sp>
      <p:sp>
        <p:nvSpPr>
          <p:cNvPr id="2622" name="Google Shape;2622;p406"/>
          <p:cNvSpPr txBox="1">
            <a:spLocks noGrp="1"/>
          </p:cNvSpPr>
          <p:nvPr>
            <p:ph type="body" idx="2"/>
          </p:nvPr>
        </p:nvSpPr>
        <p:spPr>
          <a:xfrm>
            <a:off x="762007" y="1988833"/>
            <a:ext cx="10662077" cy="4149900"/>
          </a:xfrm>
          <a:prstGeom prst="rect">
            <a:avLst/>
          </a:prstGeom>
          <a:noFill/>
          <a:ln>
            <a:noFill/>
          </a:ln>
        </p:spPr>
        <p:txBody>
          <a:bodyPr spcFirstLastPara="1" wrap="square" lIns="0" tIns="0" rIns="0" bIns="0" anchor="t" anchorCtr="0">
            <a:noAutofit/>
          </a:bodyPr>
          <a:lstStyle>
            <a:lvl1pPr marL="457200" marR="0" lvl="0" indent="-381000" algn="l" rtl="0">
              <a:lnSpc>
                <a:spcPct val="115000"/>
              </a:lnSpc>
              <a:spcBef>
                <a:spcPts val="1100"/>
              </a:spcBef>
              <a:spcAft>
                <a:spcPts val="0"/>
              </a:spcAft>
              <a:buClr>
                <a:schemeClr val="accent1"/>
              </a:buClr>
              <a:buSzPts val="2400"/>
              <a:buFont typeface="DM Sans"/>
              <a:buChar char="•"/>
              <a:defRPr sz="2400" i="0" u="none" strike="noStrike" cap="none">
                <a:solidFill>
                  <a:schemeClr val="dk1"/>
                </a:solidFill>
                <a:latin typeface="DM Sans"/>
                <a:ea typeface="DM Sans"/>
                <a:cs typeface="DM Sans"/>
                <a:sym typeface="DM Sans"/>
              </a:defRPr>
            </a:lvl1pPr>
            <a:lvl2pPr marL="914400" marR="0" lvl="1" indent="-355600" algn="l" rtl="0">
              <a:lnSpc>
                <a:spcPct val="115000"/>
              </a:lnSpc>
              <a:spcBef>
                <a:spcPts val="500"/>
              </a:spcBef>
              <a:spcAft>
                <a:spcPts val="0"/>
              </a:spcAft>
              <a:buClr>
                <a:schemeClr val="accent4"/>
              </a:buClr>
              <a:buSzPts val="2000"/>
              <a:buFont typeface="DM Sans"/>
              <a:buChar char="•"/>
              <a:defRPr sz="2000" i="0" u="none" strike="noStrike" cap="none">
                <a:solidFill>
                  <a:schemeClr val="dk1"/>
                </a:solidFill>
                <a:latin typeface="DM Sans"/>
                <a:ea typeface="DM Sans"/>
                <a:cs typeface="DM Sans"/>
                <a:sym typeface="DM Sans"/>
              </a:defRPr>
            </a:lvl2pPr>
            <a:lvl3pPr marL="1371600" marR="0" lvl="2" indent="-330200" algn="l" rtl="0">
              <a:lnSpc>
                <a:spcPct val="115000"/>
              </a:lnSpc>
              <a:spcBef>
                <a:spcPts val="500"/>
              </a:spcBef>
              <a:spcAft>
                <a:spcPts val="0"/>
              </a:spcAft>
              <a:buClr>
                <a:schemeClr val="dk1"/>
              </a:buClr>
              <a:buSzPts val="1600"/>
              <a:buFont typeface="DM Sans"/>
              <a:buChar char="•"/>
              <a:defRPr sz="1600" i="0" u="none" strike="noStrike" cap="none">
                <a:solidFill>
                  <a:schemeClr val="dk1"/>
                </a:solidFill>
                <a:latin typeface="DM Sans"/>
                <a:ea typeface="DM Sans"/>
                <a:cs typeface="DM Sans"/>
                <a:sym typeface="DM Sans"/>
              </a:defRPr>
            </a:lvl3pPr>
            <a:lvl4pPr marL="1828800" marR="0" lvl="3" indent="-330200" algn="l" rtl="0">
              <a:lnSpc>
                <a:spcPct val="115000"/>
              </a:lnSpc>
              <a:spcBef>
                <a:spcPts val="500"/>
              </a:spcBef>
              <a:spcAft>
                <a:spcPts val="0"/>
              </a:spcAft>
              <a:buClr>
                <a:schemeClr val="dk1"/>
              </a:buClr>
              <a:buSzPts val="1600"/>
              <a:buFont typeface="DM Sans"/>
              <a:buChar char="•"/>
              <a:defRPr sz="1600" i="0" u="none" strike="noStrike" cap="none">
                <a:solidFill>
                  <a:schemeClr val="dk1"/>
                </a:solidFill>
                <a:latin typeface="DM Sans"/>
                <a:ea typeface="DM Sans"/>
                <a:cs typeface="DM Sans"/>
                <a:sym typeface="DM Sans"/>
              </a:defRPr>
            </a:lvl4pPr>
            <a:lvl5pPr marL="2286000" marR="0" lvl="4" indent="-330200" algn="l" rtl="0">
              <a:lnSpc>
                <a:spcPct val="115000"/>
              </a:lnSpc>
              <a:spcBef>
                <a:spcPts val="500"/>
              </a:spcBef>
              <a:spcAft>
                <a:spcPts val="0"/>
              </a:spcAft>
              <a:buClr>
                <a:schemeClr val="dk1"/>
              </a:buClr>
              <a:buSzPts val="1600"/>
              <a:buFont typeface="DM Sans"/>
              <a:buChar char="•"/>
              <a:defRPr sz="1600" i="0" u="none" strike="noStrike" cap="none">
                <a:solidFill>
                  <a:schemeClr val="dk1"/>
                </a:solidFill>
                <a:latin typeface="DM Sans"/>
                <a:ea typeface="DM Sans"/>
                <a:cs typeface="DM Sans"/>
                <a:sym typeface="DM Sans"/>
              </a:defRPr>
            </a:lvl5pPr>
            <a:lvl6pPr marL="2743200" marR="0" lvl="5" indent="-330200" algn="l" rtl="0">
              <a:lnSpc>
                <a:spcPct val="115000"/>
              </a:lnSpc>
              <a:spcBef>
                <a:spcPts val="500"/>
              </a:spcBef>
              <a:spcAft>
                <a:spcPts val="0"/>
              </a:spcAft>
              <a:buClr>
                <a:schemeClr val="dk1"/>
              </a:buClr>
              <a:buSzPts val="1600"/>
              <a:buFont typeface="DM Sans"/>
              <a:buChar char="•"/>
              <a:defRPr sz="1600" i="0" u="none" strike="noStrike" cap="none">
                <a:solidFill>
                  <a:schemeClr val="dk1"/>
                </a:solidFill>
                <a:latin typeface="DM Sans"/>
                <a:ea typeface="DM Sans"/>
                <a:cs typeface="DM Sans"/>
                <a:sym typeface="DM Sans"/>
              </a:defRPr>
            </a:lvl6pPr>
            <a:lvl7pPr marL="3200400" marR="0" lvl="6" indent="-330200" algn="l" rtl="0">
              <a:lnSpc>
                <a:spcPct val="115000"/>
              </a:lnSpc>
              <a:spcBef>
                <a:spcPts val="500"/>
              </a:spcBef>
              <a:spcAft>
                <a:spcPts val="0"/>
              </a:spcAft>
              <a:buClr>
                <a:schemeClr val="dk1"/>
              </a:buClr>
              <a:buSzPts val="1600"/>
              <a:buFont typeface="DM Sans"/>
              <a:buChar char="•"/>
              <a:defRPr sz="1600" i="0" u="none" strike="noStrike" cap="none">
                <a:solidFill>
                  <a:schemeClr val="dk1"/>
                </a:solidFill>
                <a:latin typeface="DM Sans"/>
                <a:ea typeface="DM Sans"/>
                <a:cs typeface="DM Sans"/>
                <a:sym typeface="DM Sans"/>
              </a:defRPr>
            </a:lvl7pPr>
            <a:lvl8pPr marL="3657600" marR="0" lvl="7" indent="-330200" algn="l" rtl="0">
              <a:lnSpc>
                <a:spcPct val="115000"/>
              </a:lnSpc>
              <a:spcBef>
                <a:spcPts val="500"/>
              </a:spcBef>
              <a:spcAft>
                <a:spcPts val="0"/>
              </a:spcAft>
              <a:buClr>
                <a:schemeClr val="dk1"/>
              </a:buClr>
              <a:buSzPts val="1600"/>
              <a:buFont typeface="DM Sans"/>
              <a:buChar char="•"/>
              <a:defRPr sz="1600" i="0" u="none" strike="noStrike" cap="none">
                <a:solidFill>
                  <a:schemeClr val="dk1"/>
                </a:solidFill>
                <a:latin typeface="DM Sans"/>
                <a:ea typeface="DM Sans"/>
                <a:cs typeface="DM Sans"/>
                <a:sym typeface="DM Sans"/>
              </a:defRPr>
            </a:lvl8pPr>
            <a:lvl9pPr marL="4114800" marR="0" lvl="8" indent="-330200" algn="l" rtl="0">
              <a:lnSpc>
                <a:spcPct val="115000"/>
              </a:lnSpc>
              <a:spcBef>
                <a:spcPts val="500"/>
              </a:spcBef>
              <a:spcAft>
                <a:spcPts val="0"/>
              </a:spcAft>
              <a:buClr>
                <a:schemeClr val="dk1"/>
              </a:buClr>
              <a:buSzPts val="1600"/>
              <a:buFont typeface="DM Sans"/>
              <a:buChar char="•"/>
              <a:defRPr sz="1600" i="0" u="none" strike="noStrike" cap="none">
                <a:solidFill>
                  <a:schemeClr val="dk1"/>
                </a:solidFill>
                <a:latin typeface="DM Sans"/>
                <a:ea typeface="DM Sans"/>
                <a:cs typeface="DM Sans"/>
                <a:sym typeface="DM Sans"/>
              </a:defRPr>
            </a:lvl9pPr>
          </a:lstStyle>
          <a:p>
            <a:endParaRPr/>
          </a:p>
        </p:txBody>
      </p:sp>
      <p:sp>
        <p:nvSpPr>
          <p:cNvPr id="2623" name="Google Shape;2623;p406"/>
          <p:cNvSpPr txBox="1">
            <a:spLocks noGrp="1"/>
          </p:cNvSpPr>
          <p:nvPr>
            <p:ph type="sldNum" idx="12"/>
          </p:nvPr>
        </p:nvSpPr>
        <p:spPr>
          <a:xfrm>
            <a:off x="11100560" y="6473300"/>
            <a:ext cx="324384" cy="186600"/>
          </a:xfrm>
          <a:prstGeom prst="rect">
            <a:avLst/>
          </a:prstGeom>
        </p:spPr>
        <p:txBody>
          <a:bodyPr spcFirstLastPara="1" wrap="square" lIns="0" tIns="0" rIns="0"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5843168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4">
  <p:cSld name="Title Only 4">
    <p:spTree>
      <p:nvGrpSpPr>
        <p:cNvPr id="1" name="Shape 2624"/>
        <p:cNvGrpSpPr/>
        <p:nvPr/>
      </p:nvGrpSpPr>
      <p:grpSpPr>
        <a:xfrm>
          <a:off x="0" y="0"/>
          <a:ext cx="0" cy="0"/>
          <a:chOff x="0" y="0"/>
          <a:chExt cx="0" cy="0"/>
        </a:xfrm>
      </p:grpSpPr>
      <p:sp>
        <p:nvSpPr>
          <p:cNvPr id="2625" name="Google Shape;2625;p407"/>
          <p:cNvSpPr txBox="1">
            <a:spLocks noGrp="1"/>
          </p:cNvSpPr>
          <p:nvPr>
            <p:ph type="title"/>
          </p:nvPr>
        </p:nvSpPr>
        <p:spPr>
          <a:xfrm>
            <a:off x="460984" y="365126"/>
            <a:ext cx="11260132" cy="992100"/>
          </a:xfrm>
          <a:prstGeom prst="rect">
            <a:avLst/>
          </a:prstGeom>
          <a:noFill/>
          <a:ln>
            <a:noFill/>
          </a:ln>
        </p:spPr>
        <p:txBody>
          <a:bodyPr spcFirstLastPara="1" wrap="square" lIns="0" tIns="45700" rIns="0" bIns="45700" anchor="ctr" anchorCtr="0">
            <a:noAutofit/>
          </a:bodyPr>
          <a:lstStyle>
            <a:lvl1pPr lvl="0" algn="l" rtl="0">
              <a:lnSpc>
                <a:spcPct val="9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8589422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2909"/>
        <p:cNvGrpSpPr/>
        <p:nvPr/>
      </p:nvGrpSpPr>
      <p:grpSpPr>
        <a:xfrm>
          <a:off x="0" y="0"/>
          <a:ext cx="0" cy="0"/>
          <a:chOff x="0" y="0"/>
          <a:chExt cx="0" cy="0"/>
        </a:xfrm>
      </p:grpSpPr>
      <p:sp>
        <p:nvSpPr>
          <p:cNvPr id="2910" name="Google Shape;2910;p445"/>
          <p:cNvSpPr txBox="1">
            <a:spLocks noGrp="1"/>
          </p:cNvSpPr>
          <p:nvPr>
            <p:ph type="title"/>
          </p:nvPr>
        </p:nvSpPr>
        <p:spPr>
          <a:xfrm>
            <a:off x="460984" y="365125"/>
            <a:ext cx="11260132" cy="992100"/>
          </a:xfrm>
          <a:prstGeom prst="rect">
            <a:avLst/>
          </a:prstGeom>
          <a:noFill/>
          <a:ln>
            <a:noFill/>
          </a:ln>
        </p:spPr>
        <p:txBody>
          <a:bodyPr spcFirstLastPara="1" wrap="square" lIns="0" tIns="34250" rIns="0" bIns="34250" anchor="ctr" anchorCtr="0">
            <a:noAutofit/>
          </a:bodyPr>
          <a:lstStyle>
            <a:lvl1pPr lvl="0" algn="l" rtl="0">
              <a:lnSpc>
                <a:spcPct val="90000"/>
              </a:lnSpc>
              <a:spcBef>
                <a:spcPts val="0"/>
              </a:spcBef>
              <a:spcAft>
                <a:spcPts val="0"/>
              </a:spcAft>
              <a:buClr>
                <a:schemeClr val="dk1"/>
              </a:buClr>
              <a:buSzPts val="1500"/>
              <a:buNone/>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2911" name="Google Shape;2911;p445"/>
          <p:cNvSpPr txBox="1">
            <a:spLocks noGrp="1"/>
          </p:cNvSpPr>
          <p:nvPr>
            <p:ph type="body" idx="1"/>
          </p:nvPr>
        </p:nvSpPr>
        <p:spPr>
          <a:xfrm>
            <a:off x="460984" y="1585913"/>
            <a:ext cx="11260132" cy="4590900"/>
          </a:xfrm>
          <a:prstGeom prst="rect">
            <a:avLst/>
          </a:prstGeom>
          <a:noFill/>
          <a:ln>
            <a:noFill/>
          </a:ln>
        </p:spPr>
        <p:txBody>
          <a:bodyPr spcFirstLastPara="1" wrap="square" lIns="0" tIns="34250" rIns="0" bIns="34250" anchor="t" anchorCtr="0">
            <a:noAutofit/>
          </a:bodyPr>
          <a:lstStyle>
            <a:lvl1pPr marL="457200" lvl="0" indent="-330200" algn="l" rtl="0">
              <a:lnSpc>
                <a:spcPct val="90000"/>
              </a:lnSpc>
              <a:spcBef>
                <a:spcPts val="1100"/>
              </a:spcBef>
              <a:spcAft>
                <a:spcPts val="0"/>
              </a:spcAft>
              <a:buClr>
                <a:schemeClr val="accent2"/>
              </a:buClr>
              <a:buSzPts val="1600"/>
              <a:buFont typeface="Noto Sans Symbols"/>
              <a:buChar char="▪"/>
              <a:defRPr/>
            </a:lvl1pPr>
            <a:lvl2pPr marL="914400" lvl="1" indent="-298450" algn="l" rtl="0">
              <a:lnSpc>
                <a:spcPct val="90000"/>
              </a:lnSpc>
              <a:spcBef>
                <a:spcPts val="500"/>
              </a:spcBef>
              <a:spcAft>
                <a:spcPts val="0"/>
              </a:spcAft>
              <a:buSzPts val="1100"/>
              <a:buChar char="▪"/>
              <a:defRPr/>
            </a:lvl2pPr>
            <a:lvl3pPr marL="1371600" lvl="2" indent="-298450" algn="l" rtl="0">
              <a:lnSpc>
                <a:spcPct val="90000"/>
              </a:lnSpc>
              <a:spcBef>
                <a:spcPts val="500"/>
              </a:spcBef>
              <a:spcAft>
                <a:spcPts val="0"/>
              </a:spcAft>
              <a:buSzPts val="1100"/>
              <a:buChar char="▪"/>
              <a:defRPr/>
            </a:lvl3pPr>
            <a:lvl4pPr marL="1828800" lvl="3" indent="-298450" algn="l" rtl="0">
              <a:lnSpc>
                <a:spcPct val="90000"/>
              </a:lnSpc>
              <a:spcBef>
                <a:spcPts val="500"/>
              </a:spcBef>
              <a:spcAft>
                <a:spcPts val="0"/>
              </a:spcAft>
              <a:buSzPts val="1100"/>
              <a:buChar char="▪"/>
              <a:defRPr/>
            </a:lvl4pPr>
            <a:lvl5pPr marL="2286000" lvl="4" indent="-298450" algn="l" rtl="0">
              <a:lnSpc>
                <a:spcPct val="90000"/>
              </a:lnSpc>
              <a:spcBef>
                <a:spcPts val="500"/>
              </a:spcBef>
              <a:spcAft>
                <a:spcPts val="0"/>
              </a:spcAft>
              <a:buSzPts val="1100"/>
              <a:buChar char="▪"/>
              <a:defRPr/>
            </a:lvl5pPr>
            <a:lvl6pPr marL="2743200" lvl="5" indent="-323850" algn="l" rtl="0">
              <a:lnSpc>
                <a:spcPct val="90000"/>
              </a:lnSpc>
              <a:spcBef>
                <a:spcPts val="500"/>
              </a:spcBef>
              <a:spcAft>
                <a:spcPts val="0"/>
              </a:spcAft>
              <a:buClr>
                <a:schemeClr val="dk1"/>
              </a:buClr>
              <a:buSzPts val="1500"/>
              <a:buChar char="•"/>
              <a:defRPr/>
            </a:lvl6pPr>
            <a:lvl7pPr marL="3200400" lvl="6" indent="-323850" algn="l" rtl="0">
              <a:lnSpc>
                <a:spcPct val="90000"/>
              </a:lnSpc>
              <a:spcBef>
                <a:spcPts val="500"/>
              </a:spcBef>
              <a:spcAft>
                <a:spcPts val="0"/>
              </a:spcAft>
              <a:buClr>
                <a:schemeClr val="dk1"/>
              </a:buClr>
              <a:buSzPts val="1500"/>
              <a:buChar char="•"/>
              <a:defRPr/>
            </a:lvl7pPr>
            <a:lvl8pPr marL="3657600" lvl="7" indent="-323850" algn="l" rtl="0">
              <a:lnSpc>
                <a:spcPct val="90000"/>
              </a:lnSpc>
              <a:spcBef>
                <a:spcPts val="500"/>
              </a:spcBef>
              <a:spcAft>
                <a:spcPts val="0"/>
              </a:spcAft>
              <a:buClr>
                <a:schemeClr val="dk1"/>
              </a:buClr>
              <a:buSzPts val="1500"/>
              <a:buChar char="•"/>
              <a:defRPr/>
            </a:lvl8pPr>
            <a:lvl9pPr marL="4114800" lvl="8" indent="-323850" algn="l" rtl="0">
              <a:lnSpc>
                <a:spcPct val="90000"/>
              </a:lnSpc>
              <a:spcBef>
                <a:spcPts val="500"/>
              </a:spcBef>
              <a:spcAft>
                <a:spcPts val="0"/>
              </a:spcAft>
              <a:buClr>
                <a:schemeClr val="dk1"/>
              </a:buClr>
              <a:buSzPts val="1500"/>
              <a:buChar char="•"/>
              <a:defRPr/>
            </a:lvl9pPr>
          </a:lstStyle>
          <a:p>
            <a:endParaRPr/>
          </a:p>
        </p:txBody>
      </p:sp>
    </p:spTree>
    <p:extLst>
      <p:ext uri="{BB962C8B-B14F-4D97-AF65-F5344CB8AC3E}">
        <p14:creationId xmlns:p14="http://schemas.microsoft.com/office/powerpoint/2010/main" val="27965563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8 Content A - Basic White 1">
  <p:cSld name="8 Content A - Basic White 1">
    <p:bg>
      <p:bgPr>
        <a:solidFill>
          <a:srgbClr val="FFFFFF"/>
        </a:solidFill>
        <a:effectLst/>
      </p:bgPr>
    </p:bg>
    <p:spTree>
      <p:nvGrpSpPr>
        <p:cNvPr id="1" name="Shape 1735"/>
        <p:cNvGrpSpPr/>
        <p:nvPr/>
      </p:nvGrpSpPr>
      <p:grpSpPr>
        <a:xfrm>
          <a:off x="0" y="0"/>
          <a:ext cx="0" cy="0"/>
          <a:chOff x="0" y="0"/>
          <a:chExt cx="0" cy="0"/>
        </a:xfrm>
      </p:grpSpPr>
      <p:sp>
        <p:nvSpPr>
          <p:cNvPr id="1736" name="Google Shape;1736;p270"/>
          <p:cNvSpPr txBox="1">
            <a:spLocks noGrp="1"/>
          </p:cNvSpPr>
          <p:nvPr>
            <p:ph type="title"/>
          </p:nvPr>
        </p:nvSpPr>
        <p:spPr>
          <a:xfrm>
            <a:off x="749440" y="535597"/>
            <a:ext cx="10662077" cy="583500"/>
          </a:xfrm>
          <a:prstGeom prst="rect">
            <a:avLst/>
          </a:prstGeom>
          <a:noFill/>
          <a:ln>
            <a:noFill/>
          </a:ln>
        </p:spPr>
        <p:txBody>
          <a:bodyPr spcFirstLastPara="1" wrap="square" lIns="0" tIns="0" rIns="0" bIns="0" anchor="ctr" anchorCtr="0">
            <a:noAutofit/>
          </a:bodyPr>
          <a:lstStyle>
            <a:lvl1pPr marR="0" lvl="0" algn="l" rtl="0">
              <a:lnSpc>
                <a:spcPct val="90000"/>
              </a:lnSpc>
              <a:spcBef>
                <a:spcPts val="0"/>
              </a:spcBef>
              <a:spcAft>
                <a:spcPts val="0"/>
              </a:spcAft>
              <a:buClr>
                <a:schemeClr val="dk1"/>
              </a:buClr>
              <a:buSzPts val="4000"/>
              <a:buFont typeface="DM Sans Medium"/>
              <a:buNone/>
              <a:defRPr i="0" u="none" strike="noStrike" cap="none">
                <a:solidFill>
                  <a:schemeClr val="dk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a:endParaRPr/>
          </a:p>
        </p:txBody>
      </p:sp>
      <p:sp>
        <p:nvSpPr>
          <p:cNvPr id="1737" name="Google Shape;1737;p270"/>
          <p:cNvSpPr txBox="1">
            <a:spLocks noGrp="1"/>
          </p:cNvSpPr>
          <p:nvPr>
            <p:ph type="subTitle" idx="1"/>
          </p:nvPr>
        </p:nvSpPr>
        <p:spPr>
          <a:xfrm>
            <a:off x="765008" y="1174702"/>
            <a:ext cx="10662077" cy="583500"/>
          </a:xfrm>
          <a:prstGeom prst="rect">
            <a:avLst/>
          </a:prstGeom>
        </p:spPr>
        <p:txBody>
          <a:bodyPr spcFirstLastPara="1" wrap="square" lIns="0" tIns="0" rIns="0" bIns="0" anchor="t" anchorCtr="0">
            <a:noAutofit/>
          </a:bodyPr>
          <a:lstStyle>
            <a:lvl1pPr lvl="0" rtl="0">
              <a:spcBef>
                <a:spcPts val="1100"/>
              </a:spcBef>
              <a:spcAft>
                <a:spcPts val="0"/>
              </a:spcAft>
              <a:buSzPts val="2400"/>
              <a:buFont typeface="DM Sans Medium"/>
              <a:buNone/>
              <a:defRPr>
                <a:solidFill>
                  <a:schemeClr val="accent1"/>
                </a:solidFill>
                <a:latin typeface="DM Sans Medium"/>
                <a:ea typeface="DM Sans Medium"/>
                <a:cs typeface="DM Sans Medium"/>
                <a:sym typeface="DM Sans Medium"/>
              </a:defRPr>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a:endParaRPr/>
          </a:p>
        </p:txBody>
      </p:sp>
      <p:sp>
        <p:nvSpPr>
          <p:cNvPr id="1738" name="Google Shape;1738;p270"/>
          <p:cNvSpPr txBox="1">
            <a:spLocks noGrp="1"/>
          </p:cNvSpPr>
          <p:nvPr>
            <p:ph type="body" idx="2"/>
          </p:nvPr>
        </p:nvSpPr>
        <p:spPr>
          <a:xfrm>
            <a:off x="762007" y="1988833"/>
            <a:ext cx="10662077" cy="4149900"/>
          </a:xfrm>
          <a:prstGeom prst="rect">
            <a:avLst/>
          </a:prstGeom>
          <a:noFill/>
          <a:ln>
            <a:noFill/>
          </a:ln>
        </p:spPr>
        <p:txBody>
          <a:bodyPr spcFirstLastPara="1" wrap="square" lIns="0" tIns="0" rIns="0" bIns="0" anchor="t" anchorCtr="0">
            <a:noAutofit/>
          </a:bodyPr>
          <a:lstStyle>
            <a:lvl1pPr marL="457200" marR="0" lvl="0" indent="-381000" algn="l" rtl="0">
              <a:lnSpc>
                <a:spcPct val="115000"/>
              </a:lnSpc>
              <a:spcBef>
                <a:spcPts val="1100"/>
              </a:spcBef>
              <a:spcAft>
                <a:spcPts val="0"/>
              </a:spcAft>
              <a:buClr>
                <a:schemeClr val="accent1"/>
              </a:buClr>
              <a:buSzPts val="2400"/>
              <a:buFont typeface="DM Sans"/>
              <a:buChar char="•"/>
              <a:defRPr i="0" u="none" strike="noStrike" cap="none">
                <a:solidFill>
                  <a:schemeClr val="dk1"/>
                </a:solidFill>
                <a:latin typeface="DM Sans"/>
                <a:ea typeface="DM Sans"/>
                <a:cs typeface="DM Sans"/>
                <a:sym typeface="DM Sans"/>
              </a:defRPr>
            </a:lvl1pPr>
            <a:lvl2pPr marL="914400" marR="0" lvl="1" indent="-355600" algn="l" rtl="0">
              <a:lnSpc>
                <a:spcPct val="115000"/>
              </a:lnSpc>
              <a:spcBef>
                <a:spcPts val="500"/>
              </a:spcBef>
              <a:spcAft>
                <a:spcPts val="0"/>
              </a:spcAft>
              <a:buClr>
                <a:schemeClr val="accent4"/>
              </a:buClr>
              <a:buSzPts val="2000"/>
              <a:buFont typeface="DM Sans"/>
              <a:buChar char="•"/>
              <a:defRPr i="0" u="none" strike="noStrike" cap="none">
                <a:solidFill>
                  <a:schemeClr val="dk1"/>
                </a:solidFill>
                <a:latin typeface="DM Sans"/>
                <a:ea typeface="DM Sans"/>
                <a:cs typeface="DM Sans"/>
                <a:sym typeface="DM Sans"/>
              </a:defRPr>
            </a:lvl2pPr>
            <a:lvl3pPr marL="1371600" marR="0" lvl="2" indent="-330200" algn="l" rtl="0">
              <a:lnSpc>
                <a:spcPct val="115000"/>
              </a:lnSpc>
              <a:spcBef>
                <a:spcPts val="500"/>
              </a:spcBef>
              <a:spcAft>
                <a:spcPts val="0"/>
              </a:spcAft>
              <a:buClr>
                <a:schemeClr val="dk1"/>
              </a:buClr>
              <a:buSzPts val="1600"/>
              <a:buFont typeface="DM Sans"/>
              <a:buChar char="•"/>
              <a:defRPr sz="1600" i="0" u="none" strike="noStrike" cap="none">
                <a:solidFill>
                  <a:schemeClr val="dk1"/>
                </a:solidFill>
                <a:latin typeface="DM Sans"/>
                <a:ea typeface="DM Sans"/>
                <a:cs typeface="DM Sans"/>
                <a:sym typeface="DM Sans"/>
              </a:defRPr>
            </a:lvl3pPr>
            <a:lvl4pPr marL="1828800" marR="0" lvl="3" indent="-330200" algn="l" rtl="0">
              <a:lnSpc>
                <a:spcPct val="115000"/>
              </a:lnSpc>
              <a:spcBef>
                <a:spcPts val="500"/>
              </a:spcBef>
              <a:spcAft>
                <a:spcPts val="0"/>
              </a:spcAft>
              <a:buClr>
                <a:schemeClr val="dk1"/>
              </a:buClr>
              <a:buSzPts val="1600"/>
              <a:buFont typeface="DM Sans"/>
              <a:buChar char="•"/>
              <a:defRPr sz="1600" i="0" u="none" strike="noStrike" cap="none">
                <a:solidFill>
                  <a:schemeClr val="dk1"/>
                </a:solidFill>
                <a:latin typeface="DM Sans"/>
                <a:ea typeface="DM Sans"/>
                <a:cs typeface="DM Sans"/>
                <a:sym typeface="DM Sans"/>
              </a:defRPr>
            </a:lvl4pPr>
            <a:lvl5pPr marL="2286000" marR="0" lvl="4" indent="-330200" algn="l" rtl="0">
              <a:lnSpc>
                <a:spcPct val="115000"/>
              </a:lnSpc>
              <a:spcBef>
                <a:spcPts val="500"/>
              </a:spcBef>
              <a:spcAft>
                <a:spcPts val="0"/>
              </a:spcAft>
              <a:buClr>
                <a:schemeClr val="dk1"/>
              </a:buClr>
              <a:buSzPts val="1600"/>
              <a:buFont typeface="DM Sans"/>
              <a:buChar char="•"/>
              <a:defRPr sz="1600" i="0" u="none" strike="noStrike" cap="none">
                <a:solidFill>
                  <a:schemeClr val="dk1"/>
                </a:solidFill>
                <a:latin typeface="DM Sans"/>
                <a:ea typeface="DM Sans"/>
                <a:cs typeface="DM Sans"/>
                <a:sym typeface="DM Sans"/>
              </a:defRPr>
            </a:lvl5pPr>
            <a:lvl6pPr marL="2743200" marR="0" lvl="5" indent="-330200" algn="l" rtl="0">
              <a:lnSpc>
                <a:spcPct val="115000"/>
              </a:lnSpc>
              <a:spcBef>
                <a:spcPts val="500"/>
              </a:spcBef>
              <a:spcAft>
                <a:spcPts val="0"/>
              </a:spcAft>
              <a:buClr>
                <a:schemeClr val="dk1"/>
              </a:buClr>
              <a:buSzPts val="1600"/>
              <a:buFont typeface="DM Sans"/>
              <a:buChar char="•"/>
              <a:defRPr sz="1600" i="0" u="none" strike="noStrike" cap="none">
                <a:solidFill>
                  <a:schemeClr val="dk1"/>
                </a:solidFill>
                <a:latin typeface="DM Sans"/>
                <a:ea typeface="DM Sans"/>
                <a:cs typeface="DM Sans"/>
                <a:sym typeface="DM Sans"/>
              </a:defRPr>
            </a:lvl6pPr>
            <a:lvl7pPr marL="3200400" marR="0" lvl="6" indent="-330200" algn="l" rtl="0">
              <a:lnSpc>
                <a:spcPct val="115000"/>
              </a:lnSpc>
              <a:spcBef>
                <a:spcPts val="500"/>
              </a:spcBef>
              <a:spcAft>
                <a:spcPts val="0"/>
              </a:spcAft>
              <a:buClr>
                <a:schemeClr val="dk1"/>
              </a:buClr>
              <a:buSzPts val="1600"/>
              <a:buFont typeface="DM Sans"/>
              <a:buChar char="•"/>
              <a:defRPr sz="1600" i="0" u="none" strike="noStrike" cap="none">
                <a:solidFill>
                  <a:schemeClr val="dk1"/>
                </a:solidFill>
                <a:latin typeface="DM Sans"/>
                <a:ea typeface="DM Sans"/>
                <a:cs typeface="DM Sans"/>
                <a:sym typeface="DM Sans"/>
              </a:defRPr>
            </a:lvl7pPr>
            <a:lvl8pPr marL="3657600" marR="0" lvl="7" indent="-330200" algn="l" rtl="0">
              <a:lnSpc>
                <a:spcPct val="115000"/>
              </a:lnSpc>
              <a:spcBef>
                <a:spcPts val="500"/>
              </a:spcBef>
              <a:spcAft>
                <a:spcPts val="0"/>
              </a:spcAft>
              <a:buClr>
                <a:schemeClr val="dk1"/>
              </a:buClr>
              <a:buSzPts val="1600"/>
              <a:buFont typeface="DM Sans"/>
              <a:buChar char="•"/>
              <a:defRPr sz="1600" i="0" u="none" strike="noStrike" cap="none">
                <a:solidFill>
                  <a:schemeClr val="dk1"/>
                </a:solidFill>
                <a:latin typeface="DM Sans"/>
                <a:ea typeface="DM Sans"/>
                <a:cs typeface="DM Sans"/>
                <a:sym typeface="DM Sans"/>
              </a:defRPr>
            </a:lvl8pPr>
            <a:lvl9pPr marL="4114800" marR="0" lvl="8" indent="-330200" algn="l" rtl="0">
              <a:lnSpc>
                <a:spcPct val="115000"/>
              </a:lnSpc>
              <a:spcBef>
                <a:spcPts val="500"/>
              </a:spcBef>
              <a:spcAft>
                <a:spcPts val="0"/>
              </a:spcAft>
              <a:buClr>
                <a:schemeClr val="dk1"/>
              </a:buClr>
              <a:buSzPts val="1600"/>
              <a:buFont typeface="DM Sans"/>
              <a:buChar char="•"/>
              <a:defRPr sz="1600" i="0" u="none" strike="noStrike" cap="none">
                <a:solidFill>
                  <a:schemeClr val="dk1"/>
                </a:solidFill>
                <a:latin typeface="DM Sans"/>
                <a:ea typeface="DM Sans"/>
                <a:cs typeface="DM Sans"/>
                <a:sym typeface="DM Sans"/>
              </a:defRPr>
            </a:lvl9pPr>
          </a:lstStyle>
          <a:p>
            <a:endParaRPr/>
          </a:p>
        </p:txBody>
      </p:sp>
      <p:sp>
        <p:nvSpPr>
          <p:cNvPr id="1739" name="Google Shape;1739;p270"/>
          <p:cNvSpPr txBox="1">
            <a:spLocks noGrp="1"/>
          </p:cNvSpPr>
          <p:nvPr>
            <p:ph type="sldNum" idx="12"/>
          </p:nvPr>
        </p:nvSpPr>
        <p:spPr>
          <a:xfrm>
            <a:off x="11100560" y="6473300"/>
            <a:ext cx="324384" cy="186600"/>
          </a:xfrm>
          <a:prstGeom prst="rect">
            <a:avLst/>
          </a:prstGeom>
        </p:spPr>
        <p:txBody>
          <a:bodyPr spcFirstLastPara="1" wrap="square" lIns="0" tIns="0" rIns="0"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632486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964"/>
        <p:cNvGrpSpPr/>
        <p:nvPr/>
      </p:nvGrpSpPr>
      <p:grpSpPr>
        <a:xfrm>
          <a:off x="0" y="0"/>
          <a:ext cx="0" cy="0"/>
          <a:chOff x="0" y="0"/>
          <a:chExt cx="0" cy="0"/>
        </a:xfrm>
      </p:grpSpPr>
      <p:sp>
        <p:nvSpPr>
          <p:cNvPr id="1965" name="Google Shape;1965;p298"/>
          <p:cNvSpPr txBox="1">
            <a:spLocks noGrp="1"/>
          </p:cNvSpPr>
          <p:nvPr>
            <p:ph type="title"/>
          </p:nvPr>
        </p:nvSpPr>
        <p:spPr>
          <a:xfrm>
            <a:off x="415604" y="593367"/>
            <a:ext cx="11360959" cy="763500"/>
          </a:xfrm>
          <a:prstGeom prst="rect">
            <a:avLst/>
          </a:prstGeom>
        </p:spPr>
        <p:txBody>
          <a:bodyPr spcFirstLastPara="1" wrap="square" lIns="0" tIns="0" rIns="0" bIns="0" anchor="ctr" anchorCtr="0">
            <a:noAutofit/>
          </a:bodyPr>
          <a:lstStyle>
            <a:lvl1pPr lvl="0" rtl="0">
              <a:spcBef>
                <a:spcPts val="0"/>
              </a:spcBef>
              <a:spcAft>
                <a:spcPts val="0"/>
              </a:spcAft>
              <a:buSzPts val="4000"/>
              <a:buNone/>
              <a:defRPr/>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a:endParaRPr/>
          </a:p>
        </p:txBody>
      </p:sp>
      <p:sp>
        <p:nvSpPr>
          <p:cNvPr id="1966" name="Google Shape;1966;p298"/>
          <p:cNvSpPr txBox="1">
            <a:spLocks noGrp="1"/>
          </p:cNvSpPr>
          <p:nvPr>
            <p:ph type="body" idx="1"/>
          </p:nvPr>
        </p:nvSpPr>
        <p:spPr>
          <a:xfrm>
            <a:off x="415604" y="1536633"/>
            <a:ext cx="11360959" cy="4555200"/>
          </a:xfrm>
          <a:prstGeom prst="rect">
            <a:avLst/>
          </a:prstGeom>
        </p:spPr>
        <p:txBody>
          <a:bodyPr spcFirstLastPara="1" wrap="square" lIns="0" tIns="0" rIns="0" bIns="0" anchor="t" anchorCtr="0">
            <a:noAutofit/>
          </a:bodyPr>
          <a:lstStyle>
            <a:lvl1pPr marL="457200" lvl="0" indent="-381000" rtl="0">
              <a:spcBef>
                <a:spcPts val="1100"/>
              </a:spcBef>
              <a:spcAft>
                <a:spcPts val="0"/>
              </a:spcAft>
              <a:buSzPts val="2400"/>
              <a:buChar char="•"/>
              <a:defRPr/>
            </a:lvl1pPr>
            <a:lvl2pPr marL="914400" lvl="1" indent="-355600" rtl="0">
              <a:spcBef>
                <a:spcPts val="500"/>
              </a:spcBef>
              <a:spcAft>
                <a:spcPts val="0"/>
              </a:spcAft>
              <a:buSzPts val="2000"/>
              <a:buChar char="•"/>
              <a:defRPr/>
            </a:lvl2pPr>
            <a:lvl3pPr marL="1371600" lvl="2" indent="-330200" rtl="0">
              <a:spcBef>
                <a:spcPts val="500"/>
              </a:spcBef>
              <a:spcAft>
                <a:spcPts val="0"/>
              </a:spcAft>
              <a:buSzPts val="1600"/>
              <a:buChar char="•"/>
              <a:defRPr/>
            </a:lvl3pPr>
            <a:lvl4pPr marL="1828800" lvl="3" indent="-330200" rtl="0">
              <a:spcBef>
                <a:spcPts val="500"/>
              </a:spcBef>
              <a:spcAft>
                <a:spcPts val="0"/>
              </a:spcAft>
              <a:buSzPts val="1600"/>
              <a:buChar char="•"/>
              <a:defRPr/>
            </a:lvl4pPr>
            <a:lvl5pPr marL="2286000" lvl="4" indent="-330200" rtl="0">
              <a:spcBef>
                <a:spcPts val="500"/>
              </a:spcBef>
              <a:spcAft>
                <a:spcPts val="0"/>
              </a:spcAft>
              <a:buSzPts val="1600"/>
              <a:buChar char="•"/>
              <a:defRPr/>
            </a:lvl5pPr>
            <a:lvl6pPr marL="2743200" lvl="5" indent="-330200" rtl="0">
              <a:spcBef>
                <a:spcPts val="500"/>
              </a:spcBef>
              <a:spcAft>
                <a:spcPts val="0"/>
              </a:spcAft>
              <a:buSzPts val="1600"/>
              <a:buChar char="•"/>
              <a:defRPr/>
            </a:lvl6pPr>
            <a:lvl7pPr marL="3200400" lvl="6" indent="-330200" rtl="0">
              <a:spcBef>
                <a:spcPts val="500"/>
              </a:spcBef>
              <a:spcAft>
                <a:spcPts val="0"/>
              </a:spcAft>
              <a:buSzPts val="1600"/>
              <a:buChar char="•"/>
              <a:defRPr/>
            </a:lvl7pPr>
            <a:lvl8pPr marL="3657600" lvl="7" indent="-330200" rtl="0">
              <a:spcBef>
                <a:spcPts val="500"/>
              </a:spcBef>
              <a:spcAft>
                <a:spcPts val="0"/>
              </a:spcAft>
              <a:buSzPts val="1600"/>
              <a:buChar char="•"/>
              <a:defRPr/>
            </a:lvl8pPr>
            <a:lvl9pPr marL="4114800" lvl="8" indent="-330200" rtl="0">
              <a:spcBef>
                <a:spcPts val="500"/>
              </a:spcBef>
              <a:spcAft>
                <a:spcPts val="0"/>
              </a:spcAft>
              <a:buSzPts val="1600"/>
              <a:buChar char="•"/>
              <a:defRPr/>
            </a:lvl9pPr>
          </a:lstStyle>
          <a:p>
            <a:endParaRPr/>
          </a:p>
        </p:txBody>
      </p:sp>
      <p:sp>
        <p:nvSpPr>
          <p:cNvPr id="1967" name="Google Shape;1967;p298"/>
          <p:cNvSpPr txBox="1">
            <a:spLocks noGrp="1"/>
          </p:cNvSpPr>
          <p:nvPr>
            <p:ph type="sldNum" idx="12"/>
          </p:nvPr>
        </p:nvSpPr>
        <p:spPr>
          <a:xfrm>
            <a:off x="11296726" y="6217622"/>
            <a:ext cx="731591" cy="524700"/>
          </a:xfrm>
          <a:prstGeom prst="rect">
            <a:avLst/>
          </a:prstGeom>
        </p:spPr>
        <p:txBody>
          <a:bodyPr spcFirstLastPara="1" wrap="square" lIns="121875" tIns="121875" rIns="121875" bIns="121875" anchor="t" anchorCtr="0">
            <a:noAutofit/>
          </a:bodyPr>
          <a:lstStyle>
            <a:lvl1pPr lvl="0" rtl="0">
              <a:buNone/>
              <a:defRPr sz="1900"/>
            </a:lvl1pPr>
            <a:lvl2pPr lvl="1" rtl="0">
              <a:buNone/>
              <a:defRPr sz="1900"/>
            </a:lvl2pPr>
            <a:lvl3pPr lvl="2" rtl="0">
              <a:buNone/>
              <a:defRPr sz="1900"/>
            </a:lvl3pPr>
            <a:lvl4pPr lvl="3" rtl="0">
              <a:buNone/>
              <a:defRPr sz="1900"/>
            </a:lvl4pPr>
            <a:lvl5pPr lvl="4" rtl="0">
              <a:buNone/>
              <a:defRPr sz="1900"/>
            </a:lvl5pPr>
            <a:lvl6pPr lvl="5" rtl="0">
              <a:buNone/>
              <a:defRPr sz="1900"/>
            </a:lvl6pPr>
            <a:lvl7pPr lvl="6" rtl="0">
              <a:buNone/>
              <a:defRPr sz="1900"/>
            </a:lvl7pPr>
            <a:lvl8pPr lvl="7" rtl="0">
              <a:buNone/>
              <a:defRPr sz="1900"/>
            </a:lvl8pPr>
            <a:lvl9pPr lvl="8" rtl="0">
              <a:buNone/>
              <a:defRPr sz="1900"/>
            </a:lvl9pPr>
          </a:lstStyle>
          <a:p>
            <a:fld id="{00000000-1234-1234-1234-123412341234}" type="slidenum">
              <a:rPr lang="en" smtClean="0"/>
              <a:pPr/>
              <a:t>‹#›</a:t>
            </a:fld>
            <a:endParaRPr lang="en"/>
          </a:p>
        </p:txBody>
      </p:sp>
    </p:spTree>
    <p:extLst>
      <p:ext uri="{BB962C8B-B14F-4D97-AF65-F5344CB8AC3E}">
        <p14:creationId xmlns:p14="http://schemas.microsoft.com/office/powerpoint/2010/main" val="10239465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B8EF56-B9AD-B0BF-570A-DC29F76195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C4B4AD3-300E-400B-EC39-3F9C82640F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AD9BCF-C699-4EE7-0A82-D649D2E9F1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F53A75-B31A-C143-A19C-2CFAC595C448}" type="datetimeFigureOut">
              <a:rPr lang="en-US" smtClean="0"/>
              <a:t>5/5/23</a:t>
            </a:fld>
            <a:endParaRPr lang="en-US"/>
          </a:p>
        </p:txBody>
      </p:sp>
      <p:sp>
        <p:nvSpPr>
          <p:cNvPr id="5" name="Footer Placeholder 4">
            <a:extLst>
              <a:ext uri="{FF2B5EF4-FFF2-40B4-BE49-F238E27FC236}">
                <a16:creationId xmlns:a16="http://schemas.microsoft.com/office/drawing/2014/main" id="{FB46FAF4-1944-AC0F-FF0C-1EAB1D55F4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20806B-77C8-EB6F-E93B-CC33AC977B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05CEB5-3B19-6942-BA5C-6D20F1EAEB26}" type="slidenum">
              <a:rPr lang="en-US" smtClean="0"/>
              <a:t>‹#›</a:t>
            </a:fld>
            <a:endParaRPr lang="en-US"/>
          </a:p>
        </p:txBody>
      </p:sp>
    </p:spTree>
    <p:extLst>
      <p:ext uri="{BB962C8B-B14F-4D97-AF65-F5344CB8AC3E}">
        <p14:creationId xmlns:p14="http://schemas.microsoft.com/office/powerpoint/2010/main" val="18143293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8" Type="http://schemas.openxmlformats.org/officeDocument/2006/relationships/image" Target="../media/image8.jpg"/><Relationship Id="rId13" Type="http://schemas.openxmlformats.org/officeDocument/2006/relationships/image" Target="../media/image1.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4.xml"/><Relationship Id="rId6" Type="http://schemas.openxmlformats.org/officeDocument/2006/relationships/image" Target="../media/image6.png"/><Relationship Id="rId11" Type="http://schemas.openxmlformats.org/officeDocument/2006/relationships/image" Target="../media/image10.png"/><Relationship Id="rId5" Type="http://schemas.openxmlformats.org/officeDocument/2006/relationships/image" Target="../media/image5.png"/><Relationship Id="rId10"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2.png"/></Relationships>
</file>

<file path=ppt/slides/_rels/slide6.xml.rels><?xml version="1.0" encoding="UTF-8" standalone="yes"?>
<Relationships xmlns="http://schemas.openxmlformats.org/package/2006/relationships"><Relationship Id="rId8" Type="http://schemas.openxmlformats.org/officeDocument/2006/relationships/image" Target="../media/image8.jpg"/><Relationship Id="rId13" Type="http://schemas.openxmlformats.org/officeDocument/2006/relationships/image" Target="../media/image9.png"/><Relationship Id="rId18" Type="http://schemas.openxmlformats.org/officeDocument/2006/relationships/image" Target="../media/image17.png"/><Relationship Id="rId3" Type="http://schemas.openxmlformats.org/officeDocument/2006/relationships/image" Target="../media/image3.png"/><Relationship Id="rId21" Type="http://schemas.openxmlformats.org/officeDocument/2006/relationships/image" Target="../media/image1.png"/><Relationship Id="rId7" Type="http://schemas.openxmlformats.org/officeDocument/2006/relationships/image" Target="../media/image7.png"/><Relationship Id="rId12" Type="http://schemas.openxmlformats.org/officeDocument/2006/relationships/image" Target="../media/image2.png"/><Relationship Id="rId17" Type="http://schemas.openxmlformats.org/officeDocument/2006/relationships/image" Target="../media/image16.png"/><Relationship Id="rId2" Type="http://schemas.openxmlformats.org/officeDocument/2006/relationships/notesSlide" Target="../notesSlides/notesSlide6.xml"/><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slideLayout" Target="../slideLayouts/slideLayout14.xml"/><Relationship Id="rId6" Type="http://schemas.openxmlformats.org/officeDocument/2006/relationships/image" Target="../media/image6.png"/><Relationship Id="rId11" Type="http://schemas.openxmlformats.org/officeDocument/2006/relationships/image" Target="../media/image14.png"/><Relationship Id="rId5" Type="http://schemas.openxmlformats.org/officeDocument/2006/relationships/image" Target="../media/image5.png"/><Relationship Id="rId15" Type="http://schemas.openxmlformats.org/officeDocument/2006/relationships/image" Target="../media/image11.png"/><Relationship Id="rId10" Type="http://schemas.openxmlformats.org/officeDocument/2006/relationships/image" Target="../media/image13.png"/><Relationship Id="rId19" Type="http://schemas.openxmlformats.org/officeDocument/2006/relationships/image" Target="../media/image18.png"/><Relationship Id="rId4" Type="http://schemas.openxmlformats.org/officeDocument/2006/relationships/image" Target="../media/image4.png"/><Relationship Id="rId9" Type="http://schemas.openxmlformats.org/officeDocument/2006/relationships/image" Target="../media/image12.png"/><Relationship Id="rId1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5.xml"/><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hyperlink" Target="https://docs.google.com/document/d/1uC0cqpKIPMAca30B6rYIB6HhQDw4xG7_syBT0njC48A/edit#heading=h.3ebwc11c5e3c" TargetMode="External"/><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comments" Target="../comments/commen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16.xml"/><Relationship Id="rId4" Type="http://schemas.openxmlformats.org/officeDocument/2006/relationships/hyperlink" Target="mailto:partners@databricks.com"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1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png"/><Relationship Id="rId7" Type="http://schemas.openxmlformats.org/officeDocument/2006/relationships/image" Target="../media/image42.png"/><Relationship Id="rId12" Type="http://schemas.openxmlformats.org/officeDocument/2006/relationships/image" Target="../media/image47.png"/><Relationship Id="rId2" Type="http://schemas.openxmlformats.org/officeDocument/2006/relationships/notesSlide" Target="../notesSlides/notesSlide17.xml"/><Relationship Id="rId1" Type="http://schemas.openxmlformats.org/officeDocument/2006/relationships/slideLayout" Target="../slideLayouts/slideLayout18.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40.pn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png"/></Relationships>
</file>

<file path=ppt/slides/_rels/slide18.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image" Target="../media/image58.png"/><Relationship Id="rId18" Type="http://schemas.openxmlformats.org/officeDocument/2006/relationships/image" Target="../media/image63.png"/><Relationship Id="rId3" Type="http://schemas.openxmlformats.org/officeDocument/2006/relationships/image" Target="../media/image48.png"/><Relationship Id="rId21" Type="http://schemas.openxmlformats.org/officeDocument/2006/relationships/comments" Target="../comments/comment2.xml"/><Relationship Id="rId7" Type="http://schemas.openxmlformats.org/officeDocument/2006/relationships/image" Target="../media/image52.png"/><Relationship Id="rId12" Type="http://schemas.openxmlformats.org/officeDocument/2006/relationships/image" Target="../media/image57.png"/><Relationship Id="rId17" Type="http://schemas.openxmlformats.org/officeDocument/2006/relationships/image" Target="../media/image62.png"/><Relationship Id="rId2" Type="http://schemas.openxmlformats.org/officeDocument/2006/relationships/notesSlide" Target="../notesSlides/notesSlide18.xml"/><Relationship Id="rId16" Type="http://schemas.openxmlformats.org/officeDocument/2006/relationships/image" Target="../media/image61.png"/><Relationship Id="rId20" Type="http://schemas.openxmlformats.org/officeDocument/2006/relationships/image" Target="../media/image65.png"/><Relationship Id="rId1" Type="http://schemas.openxmlformats.org/officeDocument/2006/relationships/slideLayout" Target="../slideLayouts/slideLayout13.xml"/><Relationship Id="rId6" Type="http://schemas.openxmlformats.org/officeDocument/2006/relationships/image" Target="../media/image51.png"/><Relationship Id="rId11" Type="http://schemas.openxmlformats.org/officeDocument/2006/relationships/image" Target="../media/image56.png"/><Relationship Id="rId5" Type="http://schemas.openxmlformats.org/officeDocument/2006/relationships/image" Target="../media/image50.png"/><Relationship Id="rId15" Type="http://schemas.openxmlformats.org/officeDocument/2006/relationships/image" Target="../media/image60.png"/><Relationship Id="rId10" Type="http://schemas.openxmlformats.org/officeDocument/2006/relationships/image" Target="../media/image55.png"/><Relationship Id="rId19" Type="http://schemas.openxmlformats.org/officeDocument/2006/relationships/image" Target="../media/image64.png"/><Relationship Id="rId4" Type="http://schemas.openxmlformats.org/officeDocument/2006/relationships/image" Target="../media/image49.png"/><Relationship Id="rId9" Type="http://schemas.openxmlformats.org/officeDocument/2006/relationships/image" Target="../media/image54.png"/><Relationship Id="rId14" Type="http://schemas.openxmlformats.org/officeDocument/2006/relationships/image" Target="../media/image5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0.xml"/><Relationship Id="rId1" Type="http://schemas.openxmlformats.org/officeDocument/2006/relationships/slideLayout" Target="../slideLayouts/slideLayout13.xml"/><Relationship Id="rId5" Type="http://schemas.openxmlformats.org/officeDocument/2006/relationships/hyperlink" Target="https://www.databricks.com/blog/2022/10/20/data-modeling-best-practices-implementation-modern-lakehouse.html" TargetMode="External"/><Relationship Id="rId4" Type="http://schemas.openxmlformats.org/officeDocument/2006/relationships/hyperlink" Target="https://www.databricks.com/blog/2022/06/24/data-warehousing-modeling-techniques-and-their-implementation-on-the-databricks-lakehouse-platform.html"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hyperlink" Target="https://en.wikipedia.org/wiki/FAIR_data" TargetMode="External"/><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6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64"/>
        <p:cNvGrpSpPr/>
        <p:nvPr/>
      </p:nvGrpSpPr>
      <p:grpSpPr>
        <a:xfrm>
          <a:off x="0" y="0"/>
          <a:ext cx="0" cy="0"/>
          <a:chOff x="0" y="0"/>
          <a:chExt cx="0" cy="0"/>
        </a:xfrm>
      </p:grpSpPr>
      <p:sp>
        <p:nvSpPr>
          <p:cNvPr id="2965" name="Google Shape;2965;p459"/>
          <p:cNvSpPr txBox="1">
            <a:spLocks noGrp="1"/>
          </p:cNvSpPr>
          <p:nvPr>
            <p:ph type="title"/>
          </p:nvPr>
        </p:nvSpPr>
        <p:spPr>
          <a:xfrm>
            <a:off x="750834" y="535633"/>
            <a:ext cx="8878200" cy="5712900"/>
          </a:xfrm>
          <a:prstGeom prst="rect">
            <a:avLst/>
          </a:prstGeom>
        </p:spPr>
        <p:txBody>
          <a:bodyPr spcFirstLastPara="1" vert="horz" wrap="square" lIns="0" tIns="0" rIns="0" bIns="0" rtlCol="0" anchor="ctr" anchorCtr="0">
            <a:noAutofit/>
          </a:bodyPr>
          <a:lstStyle/>
          <a:p>
            <a:r>
              <a:rPr lang="en" sz="6000"/>
              <a:t>Migration Assessment &amp; Strategy Workshop </a:t>
            </a:r>
            <a:endParaRPr sz="6000"/>
          </a:p>
        </p:txBody>
      </p:sp>
      <p:sp>
        <p:nvSpPr>
          <p:cNvPr id="2966" name="Google Shape;2966;p459"/>
          <p:cNvSpPr txBox="1">
            <a:spLocks noGrp="1"/>
          </p:cNvSpPr>
          <p:nvPr>
            <p:ph type="sldNum" idx="12"/>
          </p:nvPr>
        </p:nvSpPr>
        <p:spPr>
          <a:xfrm>
            <a:off x="11099257" y="6473300"/>
            <a:ext cx="324300" cy="186600"/>
          </a:xfrm>
          <a:prstGeom prst="rect">
            <a:avLst/>
          </a:prstGeom>
        </p:spPr>
        <p:txBody>
          <a:bodyPr spcFirstLastPara="1" vert="horz" wrap="square" lIns="0" tIns="0" rIns="0" bIns="0" rtlCol="0" anchor="t" anchorCtr="0">
            <a:noAutofit/>
          </a:bodyPr>
          <a:lstStyle/>
          <a:p>
            <a:fld id="{00000000-1234-1234-1234-123412341234}" type="slidenum">
              <a:rPr lang="en"/>
              <a:pPr/>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970"/>
        <p:cNvGrpSpPr/>
        <p:nvPr/>
      </p:nvGrpSpPr>
      <p:grpSpPr>
        <a:xfrm>
          <a:off x="0" y="0"/>
          <a:ext cx="0" cy="0"/>
          <a:chOff x="0" y="0"/>
          <a:chExt cx="0" cy="0"/>
        </a:xfrm>
      </p:grpSpPr>
      <p:sp>
        <p:nvSpPr>
          <p:cNvPr id="2971" name="Google Shape;2971;p460"/>
          <p:cNvSpPr/>
          <p:nvPr/>
        </p:nvSpPr>
        <p:spPr>
          <a:xfrm rot="-5400000">
            <a:off x="6153826" y="5130812"/>
            <a:ext cx="398077" cy="1774350"/>
          </a:xfrm>
          <a:custGeom>
            <a:avLst/>
            <a:gdLst/>
            <a:ahLst/>
            <a:cxnLst/>
            <a:rect l="l" t="t" r="r" b="b"/>
            <a:pathLst>
              <a:path w="433871" h="1774350" extrusionOk="0">
                <a:moveTo>
                  <a:pt x="433871" y="157596"/>
                </a:moveTo>
                <a:lnTo>
                  <a:pt x="433871" y="1774350"/>
                </a:lnTo>
                <a:lnTo>
                  <a:pt x="0" y="1774350"/>
                </a:lnTo>
                <a:lnTo>
                  <a:pt x="0" y="157596"/>
                </a:lnTo>
                <a:lnTo>
                  <a:pt x="67168" y="157596"/>
                </a:lnTo>
                <a:lnTo>
                  <a:pt x="193947" y="0"/>
                </a:lnTo>
                <a:lnTo>
                  <a:pt x="320726" y="157596"/>
                </a:lnTo>
                <a:close/>
              </a:path>
            </a:pathLst>
          </a:custGeom>
          <a:solidFill>
            <a:srgbClr val="FFFFFF"/>
          </a:solidFill>
          <a:ln>
            <a:noFill/>
          </a:ln>
          <a:effectLst>
            <a:outerShdw blurRad="63500" dist="25400" dir="5400000" algn="bl" rotWithShape="0">
              <a:srgbClr val="000000">
                <a:alpha val="11760"/>
              </a:srgbClr>
            </a:outerShdw>
          </a:effectLst>
        </p:spPr>
        <p:txBody>
          <a:bodyPr spcFirstLastPara="1" wrap="square" lIns="121900" tIns="121900" rIns="121900" bIns="121900" anchor="t" anchorCtr="0">
            <a:noAutofit/>
          </a:bodyPr>
          <a:lstStyle/>
          <a:p>
            <a:pPr>
              <a:lnSpc>
                <a:spcPct val="115000"/>
              </a:lnSpc>
            </a:pPr>
            <a:endParaRPr sz="1600">
              <a:solidFill>
                <a:srgbClr val="1B3139"/>
              </a:solidFill>
              <a:latin typeface="DM Sans"/>
              <a:ea typeface="DM Sans"/>
              <a:cs typeface="DM Sans"/>
              <a:sym typeface="DM Sans"/>
            </a:endParaRPr>
          </a:p>
        </p:txBody>
      </p:sp>
      <p:sp>
        <p:nvSpPr>
          <p:cNvPr id="2972" name="Google Shape;2972;p460"/>
          <p:cNvSpPr txBox="1">
            <a:spLocks noGrp="1"/>
          </p:cNvSpPr>
          <p:nvPr>
            <p:ph type="title"/>
          </p:nvPr>
        </p:nvSpPr>
        <p:spPr>
          <a:xfrm>
            <a:off x="750833" y="535597"/>
            <a:ext cx="10659300" cy="583500"/>
          </a:xfrm>
          <a:prstGeom prst="rect">
            <a:avLst/>
          </a:prstGeom>
          <a:noFill/>
          <a:ln>
            <a:noFill/>
          </a:ln>
        </p:spPr>
        <p:txBody>
          <a:bodyPr spcFirstLastPara="1" vert="horz" wrap="square" lIns="0" tIns="45700" rIns="0" bIns="45700" rtlCol="0" anchor="ctr" anchorCtr="0">
            <a:noAutofit/>
          </a:bodyPr>
          <a:lstStyle/>
          <a:p>
            <a:pPr>
              <a:buSzPts val="1595"/>
            </a:pPr>
            <a:r>
              <a:rPr lang="en" sz="3170"/>
              <a:t>Tech leaders are to the right of the Data Maturity Curve</a:t>
            </a:r>
            <a:endParaRPr sz="3170"/>
          </a:p>
        </p:txBody>
      </p:sp>
      <p:sp>
        <p:nvSpPr>
          <p:cNvPr id="2973" name="Google Shape;2973;p460"/>
          <p:cNvSpPr/>
          <p:nvPr/>
        </p:nvSpPr>
        <p:spPr>
          <a:xfrm>
            <a:off x="1478465" y="5555903"/>
            <a:ext cx="786194" cy="517660"/>
          </a:xfrm>
          <a:custGeom>
            <a:avLst/>
            <a:gdLst/>
            <a:ahLst/>
            <a:cxnLst/>
            <a:rect l="l" t="t" r="r" b="b"/>
            <a:pathLst>
              <a:path w="263" h="173" extrusionOk="0">
                <a:moveTo>
                  <a:pt x="263" y="0"/>
                </a:moveTo>
                <a:cubicBezTo>
                  <a:pt x="153" y="27"/>
                  <a:pt x="94" y="45"/>
                  <a:pt x="63" y="47"/>
                </a:cubicBezTo>
                <a:cubicBezTo>
                  <a:pt x="31" y="49"/>
                  <a:pt x="0" y="75"/>
                  <a:pt x="0" y="110"/>
                </a:cubicBezTo>
                <a:cubicBezTo>
                  <a:pt x="0" y="144"/>
                  <a:pt x="31" y="173"/>
                  <a:pt x="63" y="172"/>
                </a:cubicBezTo>
                <a:cubicBezTo>
                  <a:pt x="94" y="172"/>
                  <a:pt x="153" y="160"/>
                  <a:pt x="263" y="143"/>
                </a:cubicBezTo>
                <a:lnTo>
                  <a:pt x="263" y="0"/>
                </a:lnTo>
                <a:close/>
              </a:path>
            </a:pathLst>
          </a:custGeom>
          <a:solidFill>
            <a:schemeClr val="lt2"/>
          </a:solidFill>
          <a:ln>
            <a:noFill/>
          </a:ln>
        </p:spPr>
        <p:txBody>
          <a:bodyPr spcFirstLastPara="1" wrap="square" lIns="91425" tIns="45700" rIns="91425" bIns="45700" anchor="t" anchorCtr="0">
            <a:noAutofit/>
          </a:bodyPr>
          <a:lstStyle/>
          <a:p>
            <a:endParaRPr sz="1400">
              <a:solidFill>
                <a:srgbClr val="000000"/>
              </a:solidFill>
              <a:latin typeface="Arial"/>
              <a:ea typeface="Arial"/>
              <a:cs typeface="Arial"/>
              <a:sym typeface="Arial"/>
            </a:endParaRPr>
          </a:p>
        </p:txBody>
      </p:sp>
      <p:sp>
        <p:nvSpPr>
          <p:cNvPr id="2974" name="Google Shape;2974;p460"/>
          <p:cNvSpPr/>
          <p:nvPr/>
        </p:nvSpPr>
        <p:spPr>
          <a:xfrm>
            <a:off x="2312398" y="5209802"/>
            <a:ext cx="1183020" cy="765300"/>
          </a:xfrm>
          <a:custGeom>
            <a:avLst/>
            <a:gdLst/>
            <a:ahLst/>
            <a:cxnLst/>
            <a:rect l="l" t="t" r="r" b="b"/>
            <a:pathLst>
              <a:path w="396" h="256" extrusionOk="0">
                <a:moveTo>
                  <a:pt x="396" y="0"/>
                </a:moveTo>
                <a:cubicBezTo>
                  <a:pt x="285" y="36"/>
                  <a:pt x="111" y="85"/>
                  <a:pt x="0" y="112"/>
                </a:cubicBezTo>
                <a:cubicBezTo>
                  <a:pt x="0" y="256"/>
                  <a:pt x="0" y="256"/>
                  <a:pt x="0" y="256"/>
                </a:cubicBezTo>
                <a:cubicBezTo>
                  <a:pt x="111" y="239"/>
                  <a:pt x="285" y="208"/>
                  <a:pt x="396" y="185"/>
                </a:cubicBezTo>
                <a:lnTo>
                  <a:pt x="396" y="0"/>
                </a:lnTo>
                <a:close/>
              </a:path>
            </a:pathLst>
          </a:custGeom>
          <a:solidFill>
            <a:schemeClr val="lt2"/>
          </a:solidFill>
          <a:ln>
            <a:noFill/>
          </a:ln>
        </p:spPr>
        <p:txBody>
          <a:bodyPr spcFirstLastPara="1" wrap="square" lIns="91425" tIns="45700" rIns="91425" bIns="45700" anchor="t" anchorCtr="0">
            <a:noAutofit/>
          </a:bodyPr>
          <a:lstStyle/>
          <a:p>
            <a:endParaRPr sz="1400">
              <a:solidFill>
                <a:srgbClr val="000000"/>
              </a:solidFill>
              <a:latin typeface="Arial"/>
              <a:ea typeface="Arial"/>
              <a:cs typeface="Arial"/>
              <a:sym typeface="Arial"/>
            </a:endParaRPr>
          </a:p>
        </p:txBody>
      </p:sp>
      <p:sp>
        <p:nvSpPr>
          <p:cNvPr id="2975" name="Google Shape;2975;p460"/>
          <p:cNvSpPr/>
          <p:nvPr/>
        </p:nvSpPr>
        <p:spPr>
          <a:xfrm>
            <a:off x="3543155" y="4739882"/>
            <a:ext cx="1200922" cy="1012941"/>
          </a:xfrm>
          <a:custGeom>
            <a:avLst/>
            <a:gdLst/>
            <a:ahLst/>
            <a:cxnLst/>
            <a:rect l="l" t="t" r="r" b="b"/>
            <a:pathLst>
              <a:path w="402" h="339" extrusionOk="0">
                <a:moveTo>
                  <a:pt x="402" y="0"/>
                </a:moveTo>
                <a:cubicBezTo>
                  <a:pt x="288" y="48"/>
                  <a:pt x="111" y="115"/>
                  <a:pt x="0" y="152"/>
                </a:cubicBezTo>
                <a:cubicBezTo>
                  <a:pt x="0" y="339"/>
                  <a:pt x="0" y="339"/>
                  <a:pt x="0" y="339"/>
                </a:cubicBezTo>
                <a:cubicBezTo>
                  <a:pt x="112" y="316"/>
                  <a:pt x="289" y="275"/>
                  <a:pt x="402" y="246"/>
                </a:cubicBezTo>
                <a:lnTo>
                  <a:pt x="402" y="0"/>
                </a:lnTo>
                <a:close/>
              </a:path>
            </a:pathLst>
          </a:custGeom>
          <a:solidFill>
            <a:schemeClr val="lt2"/>
          </a:solidFill>
          <a:ln>
            <a:noFill/>
          </a:ln>
        </p:spPr>
        <p:txBody>
          <a:bodyPr spcFirstLastPara="1" wrap="square" lIns="91425" tIns="45700" rIns="91425" bIns="45700" anchor="t" anchorCtr="0">
            <a:noAutofit/>
          </a:bodyPr>
          <a:lstStyle/>
          <a:p>
            <a:endParaRPr sz="1400">
              <a:solidFill>
                <a:srgbClr val="000000"/>
              </a:solidFill>
              <a:latin typeface="Arial"/>
              <a:ea typeface="Arial"/>
              <a:cs typeface="Arial"/>
              <a:sym typeface="Arial"/>
            </a:endParaRPr>
          </a:p>
        </p:txBody>
      </p:sp>
      <p:sp>
        <p:nvSpPr>
          <p:cNvPr id="2976" name="Google Shape;2976;p460"/>
          <p:cNvSpPr/>
          <p:nvPr/>
        </p:nvSpPr>
        <p:spPr>
          <a:xfrm>
            <a:off x="4791816" y="4168517"/>
            <a:ext cx="1200922" cy="1291910"/>
          </a:xfrm>
          <a:custGeom>
            <a:avLst/>
            <a:gdLst/>
            <a:ahLst/>
            <a:cxnLst/>
            <a:rect l="l" t="t" r="r" b="b"/>
            <a:pathLst>
              <a:path w="402" h="432" extrusionOk="0">
                <a:moveTo>
                  <a:pt x="402" y="0"/>
                </a:moveTo>
                <a:cubicBezTo>
                  <a:pt x="290" y="55"/>
                  <a:pt x="113" y="135"/>
                  <a:pt x="0" y="184"/>
                </a:cubicBezTo>
                <a:cubicBezTo>
                  <a:pt x="0" y="432"/>
                  <a:pt x="0" y="432"/>
                  <a:pt x="0" y="432"/>
                </a:cubicBezTo>
                <a:cubicBezTo>
                  <a:pt x="113" y="403"/>
                  <a:pt x="290" y="350"/>
                  <a:pt x="402" y="312"/>
                </a:cubicBezTo>
                <a:lnTo>
                  <a:pt x="402" y="0"/>
                </a:lnTo>
                <a:close/>
              </a:path>
            </a:pathLst>
          </a:custGeom>
          <a:solidFill>
            <a:schemeClr val="lt2"/>
          </a:solidFill>
          <a:ln>
            <a:noFill/>
          </a:ln>
        </p:spPr>
        <p:txBody>
          <a:bodyPr spcFirstLastPara="1" wrap="square" lIns="91425" tIns="45700" rIns="91425" bIns="45700" anchor="t" anchorCtr="0">
            <a:noAutofit/>
          </a:bodyPr>
          <a:lstStyle/>
          <a:p>
            <a:endParaRPr sz="1400">
              <a:solidFill>
                <a:srgbClr val="000000"/>
              </a:solidFill>
              <a:latin typeface="Arial"/>
              <a:ea typeface="Arial"/>
              <a:cs typeface="Arial"/>
              <a:sym typeface="Arial"/>
            </a:endParaRPr>
          </a:p>
        </p:txBody>
      </p:sp>
      <p:sp>
        <p:nvSpPr>
          <p:cNvPr id="2977" name="Google Shape;2977;p460"/>
          <p:cNvSpPr/>
          <p:nvPr/>
        </p:nvSpPr>
        <p:spPr>
          <a:xfrm>
            <a:off x="6040477" y="3468856"/>
            <a:ext cx="1191971" cy="1615634"/>
          </a:xfrm>
          <a:custGeom>
            <a:avLst/>
            <a:gdLst/>
            <a:ahLst/>
            <a:cxnLst/>
            <a:rect l="l" t="t" r="r" b="b"/>
            <a:pathLst>
              <a:path w="399" h="540" extrusionOk="0">
                <a:moveTo>
                  <a:pt x="399" y="0"/>
                </a:moveTo>
                <a:cubicBezTo>
                  <a:pt x="287" y="72"/>
                  <a:pt x="112" y="171"/>
                  <a:pt x="0" y="226"/>
                </a:cubicBezTo>
                <a:cubicBezTo>
                  <a:pt x="0" y="540"/>
                  <a:pt x="0" y="540"/>
                  <a:pt x="0" y="540"/>
                </a:cubicBezTo>
                <a:cubicBezTo>
                  <a:pt x="113" y="501"/>
                  <a:pt x="288" y="431"/>
                  <a:pt x="399" y="380"/>
                </a:cubicBezTo>
                <a:lnTo>
                  <a:pt x="399" y="0"/>
                </a:lnTo>
                <a:close/>
              </a:path>
            </a:pathLst>
          </a:custGeom>
          <a:solidFill>
            <a:schemeClr val="lt2"/>
          </a:solidFill>
          <a:ln>
            <a:noFill/>
          </a:ln>
        </p:spPr>
        <p:txBody>
          <a:bodyPr spcFirstLastPara="1" wrap="square" lIns="91425" tIns="45700" rIns="91425" bIns="45700" anchor="t" anchorCtr="0">
            <a:noAutofit/>
          </a:bodyPr>
          <a:lstStyle/>
          <a:p>
            <a:endParaRPr sz="1400">
              <a:solidFill>
                <a:srgbClr val="000000"/>
              </a:solidFill>
              <a:latin typeface="Arial"/>
              <a:ea typeface="Arial"/>
              <a:cs typeface="Arial"/>
              <a:sym typeface="Arial"/>
            </a:endParaRPr>
          </a:p>
        </p:txBody>
      </p:sp>
      <p:sp>
        <p:nvSpPr>
          <p:cNvPr id="2978" name="Google Shape;2978;p460"/>
          <p:cNvSpPr/>
          <p:nvPr/>
        </p:nvSpPr>
        <p:spPr>
          <a:xfrm>
            <a:off x="7280186" y="2500671"/>
            <a:ext cx="1191971" cy="2084063"/>
          </a:xfrm>
          <a:custGeom>
            <a:avLst/>
            <a:gdLst/>
            <a:ahLst/>
            <a:cxnLst/>
            <a:rect l="l" t="t" r="r" b="b"/>
            <a:pathLst>
              <a:path w="399" h="697" extrusionOk="0">
                <a:moveTo>
                  <a:pt x="399" y="0"/>
                </a:moveTo>
                <a:cubicBezTo>
                  <a:pt x="287" y="102"/>
                  <a:pt x="112" y="239"/>
                  <a:pt x="0" y="313"/>
                </a:cubicBezTo>
                <a:cubicBezTo>
                  <a:pt x="0" y="697"/>
                  <a:pt x="0" y="697"/>
                  <a:pt x="0" y="697"/>
                </a:cubicBezTo>
                <a:cubicBezTo>
                  <a:pt x="112" y="645"/>
                  <a:pt x="287" y="559"/>
                  <a:pt x="399" y="500"/>
                </a:cubicBezTo>
                <a:lnTo>
                  <a:pt x="399" y="0"/>
                </a:lnTo>
                <a:close/>
              </a:path>
            </a:pathLst>
          </a:custGeom>
          <a:solidFill>
            <a:schemeClr val="lt2"/>
          </a:solidFill>
          <a:ln>
            <a:noFill/>
          </a:ln>
        </p:spPr>
        <p:txBody>
          <a:bodyPr spcFirstLastPara="1" wrap="square" lIns="91425" tIns="45700" rIns="91425" bIns="45700" anchor="t" anchorCtr="0">
            <a:noAutofit/>
          </a:bodyPr>
          <a:lstStyle/>
          <a:p>
            <a:endParaRPr sz="1400">
              <a:solidFill>
                <a:srgbClr val="000000"/>
              </a:solidFill>
              <a:latin typeface="Arial"/>
              <a:ea typeface="Arial"/>
              <a:cs typeface="Arial"/>
              <a:sym typeface="Arial"/>
            </a:endParaRPr>
          </a:p>
        </p:txBody>
      </p:sp>
      <p:sp>
        <p:nvSpPr>
          <p:cNvPr id="2979" name="Google Shape;2979;p460"/>
          <p:cNvSpPr/>
          <p:nvPr/>
        </p:nvSpPr>
        <p:spPr>
          <a:xfrm>
            <a:off x="8519894" y="1780124"/>
            <a:ext cx="1697699" cy="2191474"/>
          </a:xfrm>
          <a:custGeom>
            <a:avLst/>
            <a:gdLst/>
            <a:ahLst/>
            <a:cxnLst/>
            <a:rect l="l" t="t" r="r" b="b"/>
            <a:pathLst>
              <a:path w="568" h="733" extrusionOk="0">
                <a:moveTo>
                  <a:pt x="327" y="1"/>
                </a:moveTo>
                <a:cubicBezTo>
                  <a:pt x="230" y="4"/>
                  <a:pt x="182" y="60"/>
                  <a:pt x="182" y="60"/>
                </a:cubicBezTo>
                <a:cubicBezTo>
                  <a:pt x="182" y="60"/>
                  <a:pt x="109" y="126"/>
                  <a:pt x="0" y="226"/>
                </a:cubicBezTo>
                <a:cubicBezTo>
                  <a:pt x="0" y="733"/>
                  <a:pt x="0" y="733"/>
                  <a:pt x="0" y="733"/>
                </a:cubicBezTo>
                <a:cubicBezTo>
                  <a:pt x="122" y="667"/>
                  <a:pt x="463" y="449"/>
                  <a:pt x="463" y="449"/>
                </a:cubicBezTo>
                <a:cubicBezTo>
                  <a:pt x="527" y="405"/>
                  <a:pt x="568" y="332"/>
                  <a:pt x="568" y="250"/>
                </a:cubicBezTo>
                <a:cubicBezTo>
                  <a:pt x="568" y="117"/>
                  <a:pt x="486" y="0"/>
                  <a:pt x="327" y="1"/>
                </a:cubicBezTo>
                <a:close/>
              </a:path>
            </a:pathLst>
          </a:custGeom>
          <a:gradFill>
            <a:gsLst>
              <a:gs pos="0">
                <a:schemeClr val="lt2"/>
              </a:gs>
              <a:gs pos="40000">
                <a:schemeClr val="lt2"/>
              </a:gs>
              <a:gs pos="65000">
                <a:srgbClr val="EEEDE9">
                  <a:alpha val="0"/>
                </a:srgbClr>
              </a:gs>
              <a:gs pos="100000">
                <a:srgbClr val="EEEDE9">
                  <a:alpha val="0"/>
                </a:srgbClr>
              </a:gs>
            </a:gsLst>
            <a:lin ang="18900044" scaled="0"/>
          </a:gradFill>
          <a:ln>
            <a:noFill/>
          </a:ln>
        </p:spPr>
        <p:txBody>
          <a:bodyPr spcFirstLastPara="1" wrap="square" lIns="91425" tIns="45700" rIns="91425" bIns="45700" anchor="t" anchorCtr="0">
            <a:noAutofit/>
          </a:bodyPr>
          <a:lstStyle/>
          <a:p>
            <a:endParaRPr sz="1400">
              <a:solidFill>
                <a:srgbClr val="000000"/>
              </a:solidFill>
              <a:latin typeface="Arial"/>
              <a:ea typeface="Arial"/>
              <a:cs typeface="Arial"/>
              <a:sym typeface="Arial"/>
            </a:endParaRPr>
          </a:p>
        </p:txBody>
      </p:sp>
      <p:cxnSp>
        <p:nvCxnSpPr>
          <p:cNvPr id="2980" name="Google Shape;2980;p460"/>
          <p:cNvCxnSpPr/>
          <p:nvPr/>
        </p:nvCxnSpPr>
        <p:spPr>
          <a:xfrm rot="10800000" flipH="1">
            <a:off x="2911271" y="5728447"/>
            <a:ext cx="3300" cy="299700"/>
          </a:xfrm>
          <a:prstGeom prst="straightConnector1">
            <a:avLst/>
          </a:prstGeom>
          <a:noFill/>
          <a:ln w="19050" cap="rnd" cmpd="sng">
            <a:solidFill>
              <a:srgbClr val="969696"/>
            </a:solidFill>
            <a:prstDash val="solid"/>
            <a:round/>
            <a:headEnd type="none" w="sm" len="sm"/>
            <a:tailEnd type="none" w="sm" len="sm"/>
          </a:ln>
        </p:spPr>
      </p:cxnSp>
      <p:cxnSp>
        <p:nvCxnSpPr>
          <p:cNvPr id="2981" name="Google Shape;2981;p460"/>
          <p:cNvCxnSpPr/>
          <p:nvPr/>
        </p:nvCxnSpPr>
        <p:spPr>
          <a:xfrm rot="10800000">
            <a:off x="4150354" y="5428749"/>
            <a:ext cx="0" cy="599400"/>
          </a:xfrm>
          <a:prstGeom prst="straightConnector1">
            <a:avLst/>
          </a:prstGeom>
          <a:noFill/>
          <a:ln w="19050" cap="rnd" cmpd="sng">
            <a:solidFill>
              <a:srgbClr val="969696"/>
            </a:solidFill>
            <a:prstDash val="solid"/>
            <a:round/>
            <a:headEnd type="none" w="sm" len="sm"/>
            <a:tailEnd type="none" w="sm" len="sm"/>
          </a:ln>
        </p:spPr>
      </p:cxnSp>
      <p:sp>
        <p:nvSpPr>
          <p:cNvPr id="2982" name="Google Shape;2982;p460"/>
          <p:cNvSpPr txBox="1"/>
          <p:nvPr/>
        </p:nvSpPr>
        <p:spPr>
          <a:xfrm>
            <a:off x="1068388" y="6324129"/>
            <a:ext cx="8839200" cy="307800"/>
          </a:xfrm>
          <a:prstGeom prst="rect">
            <a:avLst/>
          </a:prstGeom>
          <a:noFill/>
          <a:ln>
            <a:noFill/>
          </a:ln>
        </p:spPr>
        <p:txBody>
          <a:bodyPr spcFirstLastPara="1" wrap="square" lIns="91425" tIns="45700" rIns="91425" bIns="45700" anchor="t" anchorCtr="0">
            <a:spAutoFit/>
          </a:bodyPr>
          <a:lstStyle/>
          <a:p>
            <a:pPr algn="ctr">
              <a:buClr>
                <a:srgbClr val="000000"/>
              </a:buClr>
              <a:buSzPts val="1400"/>
            </a:pPr>
            <a:r>
              <a:rPr lang="en" sz="1400" b="1">
                <a:solidFill>
                  <a:srgbClr val="969696"/>
                </a:solidFill>
                <a:latin typeface="DM Sans"/>
                <a:ea typeface="DM Sans"/>
                <a:cs typeface="DM Sans"/>
                <a:sym typeface="DM Sans"/>
              </a:rPr>
              <a:t>Data + AI Maturity</a:t>
            </a:r>
            <a:endParaRPr sz="1400" b="1">
              <a:solidFill>
                <a:srgbClr val="969696"/>
              </a:solidFill>
              <a:latin typeface="DM Sans"/>
              <a:ea typeface="DM Sans"/>
              <a:cs typeface="DM Sans"/>
              <a:sym typeface="DM Sans"/>
            </a:endParaRPr>
          </a:p>
        </p:txBody>
      </p:sp>
      <p:sp>
        <p:nvSpPr>
          <p:cNvPr id="2983" name="Google Shape;2983;p460"/>
          <p:cNvSpPr txBox="1"/>
          <p:nvPr/>
        </p:nvSpPr>
        <p:spPr>
          <a:xfrm rot="-5400000">
            <a:off x="-1465130" y="3846600"/>
            <a:ext cx="4648200" cy="307800"/>
          </a:xfrm>
          <a:prstGeom prst="rect">
            <a:avLst/>
          </a:prstGeom>
          <a:noFill/>
          <a:ln>
            <a:noFill/>
          </a:ln>
        </p:spPr>
        <p:txBody>
          <a:bodyPr spcFirstLastPara="1" wrap="square" lIns="91425" tIns="45700" rIns="91425" bIns="45700" anchor="t" anchorCtr="0">
            <a:spAutoFit/>
          </a:bodyPr>
          <a:lstStyle/>
          <a:p>
            <a:pPr algn="ctr">
              <a:buClr>
                <a:srgbClr val="000000"/>
              </a:buClr>
              <a:buSzPts val="1400"/>
            </a:pPr>
            <a:r>
              <a:rPr lang="en" sz="1400" b="1">
                <a:solidFill>
                  <a:srgbClr val="969696"/>
                </a:solidFill>
                <a:latin typeface="DM Sans"/>
                <a:ea typeface="DM Sans"/>
                <a:cs typeface="DM Sans"/>
                <a:sym typeface="DM Sans"/>
              </a:rPr>
              <a:t>Competitive Advantage</a:t>
            </a:r>
            <a:endParaRPr sz="1400" b="1">
              <a:solidFill>
                <a:srgbClr val="969696"/>
              </a:solidFill>
              <a:latin typeface="DM Sans"/>
              <a:ea typeface="DM Sans"/>
              <a:cs typeface="DM Sans"/>
              <a:sym typeface="DM Sans"/>
            </a:endParaRPr>
          </a:p>
        </p:txBody>
      </p:sp>
      <p:sp>
        <p:nvSpPr>
          <p:cNvPr id="2984" name="Google Shape;2984;p460"/>
          <p:cNvSpPr txBox="1"/>
          <p:nvPr/>
        </p:nvSpPr>
        <p:spPr>
          <a:xfrm>
            <a:off x="1442022" y="5141242"/>
            <a:ext cx="910200" cy="461700"/>
          </a:xfrm>
          <a:prstGeom prst="rect">
            <a:avLst/>
          </a:prstGeom>
          <a:noFill/>
          <a:ln>
            <a:noFill/>
          </a:ln>
        </p:spPr>
        <p:txBody>
          <a:bodyPr spcFirstLastPara="1" wrap="square" lIns="91425" tIns="45700" rIns="91425" bIns="45700" anchor="t" anchorCtr="0">
            <a:spAutoFit/>
          </a:bodyPr>
          <a:lstStyle/>
          <a:p>
            <a:pPr algn="ctr">
              <a:buClr>
                <a:srgbClr val="000000"/>
              </a:buClr>
              <a:buSzPts val="1200"/>
            </a:pPr>
            <a:r>
              <a:rPr lang="en" sz="1200">
                <a:solidFill>
                  <a:schemeClr val="dk1"/>
                </a:solidFill>
                <a:latin typeface="DM Sans Medium"/>
                <a:ea typeface="DM Sans Medium"/>
                <a:cs typeface="DM Sans Medium"/>
                <a:sym typeface="DM Sans Medium"/>
              </a:rPr>
              <a:t>Clean</a:t>
            </a:r>
            <a:endParaRPr sz="1200">
              <a:solidFill>
                <a:schemeClr val="dk1"/>
              </a:solidFill>
              <a:latin typeface="DM Sans Medium"/>
              <a:ea typeface="DM Sans Medium"/>
              <a:cs typeface="DM Sans Medium"/>
              <a:sym typeface="DM Sans Medium"/>
            </a:endParaRPr>
          </a:p>
          <a:p>
            <a:pPr algn="ctr">
              <a:buClr>
                <a:srgbClr val="000000"/>
              </a:buClr>
              <a:buSzPts val="1200"/>
            </a:pPr>
            <a:r>
              <a:rPr lang="en" sz="1200">
                <a:solidFill>
                  <a:schemeClr val="dk1"/>
                </a:solidFill>
                <a:latin typeface="DM Sans Medium"/>
                <a:ea typeface="DM Sans Medium"/>
                <a:cs typeface="DM Sans Medium"/>
                <a:sym typeface="DM Sans Medium"/>
              </a:rPr>
              <a:t>Data</a:t>
            </a:r>
            <a:endParaRPr sz="1200">
              <a:solidFill>
                <a:schemeClr val="dk1"/>
              </a:solidFill>
              <a:latin typeface="DM Sans Medium"/>
              <a:ea typeface="DM Sans Medium"/>
              <a:cs typeface="DM Sans Medium"/>
              <a:sym typeface="DM Sans Medium"/>
            </a:endParaRPr>
          </a:p>
        </p:txBody>
      </p:sp>
      <p:sp>
        <p:nvSpPr>
          <p:cNvPr id="2985" name="Google Shape;2985;p460"/>
          <p:cNvSpPr txBox="1"/>
          <p:nvPr/>
        </p:nvSpPr>
        <p:spPr>
          <a:xfrm>
            <a:off x="2438870" y="4982006"/>
            <a:ext cx="937500" cy="276900"/>
          </a:xfrm>
          <a:prstGeom prst="rect">
            <a:avLst/>
          </a:prstGeom>
          <a:noFill/>
          <a:ln>
            <a:noFill/>
          </a:ln>
        </p:spPr>
        <p:txBody>
          <a:bodyPr spcFirstLastPara="1" wrap="square" lIns="91425" tIns="45700" rIns="91425" bIns="45700" anchor="t" anchorCtr="0">
            <a:spAutoFit/>
          </a:bodyPr>
          <a:lstStyle/>
          <a:p>
            <a:pPr algn="ctr">
              <a:buClr>
                <a:srgbClr val="000000"/>
              </a:buClr>
              <a:buSzPts val="1200"/>
            </a:pPr>
            <a:r>
              <a:rPr lang="en" sz="1200">
                <a:solidFill>
                  <a:schemeClr val="dk1"/>
                </a:solidFill>
                <a:latin typeface="DM Sans Medium"/>
                <a:ea typeface="DM Sans Medium"/>
                <a:cs typeface="DM Sans Medium"/>
                <a:sym typeface="DM Sans Medium"/>
              </a:rPr>
              <a:t>Reports</a:t>
            </a:r>
            <a:endParaRPr sz="1200">
              <a:solidFill>
                <a:srgbClr val="000000"/>
              </a:solidFill>
              <a:latin typeface="DM Sans Medium"/>
              <a:ea typeface="DM Sans Medium"/>
              <a:cs typeface="DM Sans Medium"/>
              <a:sym typeface="DM Sans Medium"/>
            </a:endParaRPr>
          </a:p>
        </p:txBody>
      </p:sp>
      <p:sp>
        <p:nvSpPr>
          <p:cNvPr id="2986" name="Google Shape;2986;p460"/>
          <p:cNvSpPr txBox="1"/>
          <p:nvPr/>
        </p:nvSpPr>
        <p:spPr>
          <a:xfrm>
            <a:off x="3731364" y="4427951"/>
            <a:ext cx="784800" cy="461700"/>
          </a:xfrm>
          <a:prstGeom prst="rect">
            <a:avLst/>
          </a:prstGeom>
          <a:noFill/>
          <a:ln>
            <a:noFill/>
          </a:ln>
        </p:spPr>
        <p:txBody>
          <a:bodyPr spcFirstLastPara="1" wrap="square" lIns="91425" tIns="45700" rIns="91425" bIns="45700" anchor="t" anchorCtr="0">
            <a:spAutoFit/>
          </a:bodyPr>
          <a:lstStyle/>
          <a:p>
            <a:pPr algn="ctr">
              <a:buClr>
                <a:srgbClr val="000000"/>
              </a:buClr>
              <a:buSzPts val="1200"/>
            </a:pPr>
            <a:r>
              <a:rPr lang="en" sz="1200">
                <a:solidFill>
                  <a:schemeClr val="dk1"/>
                </a:solidFill>
                <a:latin typeface="DM Sans Medium"/>
                <a:ea typeface="DM Sans Medium"/>
                <a:cs typeface="DM Sans Medium"/>
                <a:sym typeface="DM Sans Medium"/>
              </a:rPr>
              <a:t>Ad Hoc</a:t>
            </a:r>
            <a:br>
              <a:rPr lang="en" sz="1200">
                <a:solidFill>
                  <a:schemeClr val="dk1"/>
                </a:solidFill>
                <a:latin typeface="DM Sans Medium"/>
                <a:ea typeface="DM Sans Medium"/>
                <a:cs typeface="DM Sans Medium"/>
                <a:sym typeface="DM Sans Medium"/>
              </a:rPr>
            </a:br>
            <a:r>
              <a:rPr lang="en" sz="1200">
                <a:solidFill>
                  <a:schemeClr val="dk1"/>
                </a:solidFill>
                <a:latin typeface="DM Sans Medium"/>
                <a:ea typeface="DM Sans Medium"/>
                <a:cs typeface="DM Sans Medium"/>
                <a:sym typeface="DM Sans Medium"/>
              </a:rPr>
              <a:t>Queries</a:t>
            </a:r>
            <a:endParaRPr sz="1200">
              <a:solidFill>
                <a:srgbClr val="000000"/>
              </a:solidFill>
              <a:latin typeface="DM Sans Medium"/>
              <a:ea typeface="DM Sans Medium"/>
              <a:cs typeface="DM Sans Medium"/>
              <a:sym typeface="DM Sans Medium"/>
            </a:endParaRPr>
          </a:p>
        </p:txBody>
      </p:sp>
      <p:sp>
        <p:nvSpPr>
          <p:cNvPr id="2987" name="Google Shape;2987;p460"/>
          <p:cNvSpPr txBox="1"/>
          <p:nvPr/>
        </p:nvSpPr>
        <p:spPr>
          <a:xfrm>
            <a:off x="4839912" y="3851709"/>
            <a:ext cx="1083300" cy="461700"/>
          </a:xfrm>
          <a:prstGeom prst="rect">
            <a:avLst/>
          </a:prstGeom>
          <a:noFill/>
          <a:ln>
            <a:noFill/>
          </a:ln>
        </p:spPr>
        <p:txBody>
          <a:bodyPr spcFirstLastPara="1" wrap="square" lIns="91425" tIns="45700" rIns="91425" bIns="45700" anchor="t" anchorCtr="0">
            <a:spAutoFit/>
          </a:bodyPr>
          <a:lstStyle/>
          <a:p>
            <a:pPr algn="ctr">
              <a:buClr>
                <a:srgbClr val="000000"/>
              </a:buClr>
              <a:buSzPts val="1200"/>
            </a:pPr>
            <a:r>
              <a:rPr lang="en" sz="1200">
                <a:solidFill>
                  <a:schemeClr val="dk1"/>
                </a:solidFill>
                <a:latin typeface="DM Sans Medium"/>
                <a:ea typeface="DM Sans Medium"/>
                <a:cs typeface="DM Sans Medium"/>
                <a:sym typeface="DM Sans Medium"/>
              </a:rPr>
              <a:t>Data</a:t>
            </a:r>
            <a:br>
              <a:rPr lang="en" sz="1200">
                <a:solidFill>
                  <a:schemeClr val="dk1"/>
                </a:solidFill>
                <a:latin typeface="DM Sans Medium"/>
                <a:ea typeface="DM Sans Medium"/>
                <a:cs typeface="DM Sans Medium"/>
                <a:sym typeface="DM Sans Medium"/>
              </a:rPr>
            </a:br>
            <a:r>
              <a:rPr lang="en" sz="1200">
                <a:solidFill>
                  <a:schemeClr val="dk1"/>
                </a:solidFill>
                <a:latin typeface="DM Sans Medium"/>
                <a:ea typeface="DM Sans Medium"/>
                <a:cs typeface="DM Sans Medium"/>
                <a:sym typeface="DM Sans Medium"/>
              </a:rPr>
              <a:t>Exploration</a:t>
            </a:r>
            <a:endParaRPr sz="1200">
              <a:solidFill>
                <a:srgbClr val="000000"/>
              </a:solidFill>
              <a:latin typeface="DM Sans Medium"/>
              <a:ea typeface="DM Sans Medium"/>
              <a:cs typeface="DM Sans Medium"/>
              <a:sym typeface="DM Sans Medium"/>
            </a:endParaRPr>
          </a:p>
        </p:txBody>
      </p:sp>
      <p:sp>
        <p:nvSpPr>
          <p:cNvPr id="2988" name="Google Shape;2988;p460"/>
          <p:cNvSpPr txBox="1"/>
          <p:nvPr/>
        </p:nvSpPr>
        <p:spPr>
          <a:xfrm>
            <a:off x="6040489" y="3155516"/>
            <a:ext cx="1191900" cy="461700"/>
          </a:xfrm>
          <a:prstGeom prst="rect">
            <a:avLst/>
          </a:prstGeom>
          <a:noFill/>
          <a:ln>
            <a:noFill/>
          </a:ln>
        </p:spPr>
        <p:txBody>
          <a:bodyPr spcFirstLastPara="1" wrap="square" lIns="91425" tIns="45700" rIns="91425" bIns="45700" anchor="t" anchorCtr="0">
            <a:spAutoFit/>
          </a:bodyPr>
          <a:lstStyle/>
          <a:p>
            <a:pPr algn="ctr">
              <a:buClr>
                <a:srgbClr val="000000"/>
              </a:buClr>
              <a:buSzPts val="1200"/>
            </a:pPr>
            <a:r>
              <a:rPr lang="en" sz="1200">
                <a:solidFill>
                  <a:schemeClr val="dk1"/>
                </a:solidFill>
                <a:latin typeface="DM Sans Medium"/>
                <a:ea typeface="DM Sans Medium"/>
                <a:cs typeface="DM Sans Medium"/>
                <a:sym typeface="DM Sans Medium"/>
              </a:rPr>
              <a:t>Predictive</a:t>
            </a:r>
            <a:br>
              <a:rPr lang="en" sz="1200">
                <a:solidFill>
                  <a:schemeClr val="dk1"/>
                </a:solidFill>
                <a:latin typeface="DM Sans Medium"/>
                <a:ea typeface="DM Sans Medium"/>
                <a:cs typeface="DM Sans Medium"/>
                <a:sym typeface="DM Sans Medium"/>
              </a:rPr>
            </a:br>
            <a:r>
              <a:rPr lang="en" sz="1200">
                <a:solidFill>
                  <a:schemeClr val="dk1"/>
                </a:solidFill>
                <a:latin typeface="DM Sans Medium"/>
                <a:ea typeface="DM Sans Medium"/>
                <a:cs typeface="DM Sans Medium"/>
                <a:sym typeface="DM Sans Medium"/>
              </a:rPr>
              <a:t>Modeling</a:t>
            </a:r>
            <a:endParaRPr sz="1200">
              <a:solidFill>
                <a:srgbClr val="000000"/>
              </a:solidFill>
              <a:latin typeface="DM Sans Medium"/>
              <a:ea typeface="DM Sans Medium"/>
              <a:cs typeface="DM Sans Medium"/>
              <a:sym typeface="DM Sans Medium"/>
            </a:endParaRPr>
          </a:p>
        </p:txBody>
      </p:sp>
      <p:sp>
        <p:nvSpPr>
          <p:cNvPr id="2989" name="Google Shape;2989;p460"/>
          <p:cNvSpPr txBox="1"/>
          <p:nvPr/>
        </p:nvSpPr>
        <p:spPr>
          <a:xfrm>
            <a:off x="7122138" y="2465950"/>
            <a:ext cx="1083300" cy="646500"/>
          </a:xfrm>
          <a:prstGeom prst="rect">
            <a:avLst/>
          </a:prstGeom>
          <a:noFill/>
          <a:ln>
            <a:noFill/>
          </a:ln>
        </p:spPr>
        <p:txBody>
          <a:bodyPr spcFirstLastPara="1" wrap="square" lIns="91425" tIns="45700" rIns="91425" bIns="45700" anchor="t" anchorCtr="0">
            <a:spAutoFit/>
          </a:bodyPr>
          <a:lstStyle/>
          <a:p>
            <a:pPr algn="ctr">
              <a:buClr>
                <a:srgbClr val="000000"/>
              </a:buClr>
              <a:buSzPts val="1200"/>
            </a:pPr>
            <a:r>
              <a:rPr lang="en" sz="1200">
                <a:solidFill>
                  <a:schemeClr val="dk1"/>
                </a:solidFill>
                <a:latin typeface="DM Sans Medium"/>
                <a:ea typeface="DM Sans Medium"/>
                <a:cs typeface="DM Sans Medium"/>
                <a:sym typeface="DM Sans Medium"/>
              </a:rPr>
              <a:t>Prescriptive</a:t>
            </a:r>
            <a:br>
              <a:rPr lang="en" sz="1200">
                <a:solidFill>
                  <a:schemeClr val="dk1"/>
                </a:solidFill>
                <a:latin typeface="DM Sans Medium"/>
                <a:ea typeface="DM Sans Medium"/>
                <a:cs typeface="DM Sans Medium"/>
                <a:sym typeface="DM Sans Medium"/>
              </a:rPr>
            </a:br>
            <a:r>
              <a:rPr lang="en" sz="1200">
                <a:solidFill>
                  <a:schemeClr val="dk1"/>
                </a:solidFill>
                <a:latin typeface="DM Sans Medium"/>
                <a:ea typeface="DM Sans Medium"/>
                <a:cs typeface="DM Sans Medium"/>
                <a:sym typeface="DM Sans Medium"/>
              </a:rPr>
              <a:t>Analytics</a:t>
            </a:r>
            <a:endParaRPr sz="1200">
              <a:latin typeface="DM Sans Medium"/>
              <a:ea typeface="DM Sans Medium"/>
              <a:cs typeface="DM Sans Medium"/>
              <a:sym typeface="DM Sans Medium"/>
            </a:endParaRPr>
          </a:p>
          <a:p>
            <a:pPr algn="ctr">
              <a:buClr>
                <a:srgbClr val="000000"/>
              </a:buClr>
              <a:buSzPts val="1200"/>
            </a:pPr>
            <a:endParaRPr sz="1200">
              <a:solidFill>
                <a:schemeClr val="dk1"/>
              </a:solidFill>
              <a:latin typeface="DM Sans Medium"/>
              <a:ea typeface="DM Sans Medium"/>
              <a:cs typeface="DM Sans Medium"/>
              <a:sym typeface="DM Sans Medium"/>
            </a:endParaRPr>
          </a:p>
        </p:txBody>
      </p:sp>
      <p:sp>
        <p:nvSpPr>
          <p:cNvPr id="2990" name="Google Shape;2990;p460"/>
          <p:cNvSpPr txBox="1"/>
          <p:nvPr/>
        </p:nvSpPr>
        <p:spPr>
          <a:xfrm>
            <a:off x="8063143" y="1477642"/>
            <a:ext cx="1107000" cy="646500"/>
          </a:xfrm>
          <a:prstGeom prst="rect">
            <a:avLst/>
          </a:prstGeom>
          <a:noFill/>
          <a:ln>
            <a:noFill/>
          </a:ln>
        </p:spPr>
        <p:txBody>
          <a:bodyPr spcFirstLastPara="1" wrap="square" lIns="91425" tIns="45700" rIns="91425" bIns="45700" anchor="t" anchorCtr="0">
            <a:spAutoFit/>
          </a:bodyPr>
          <a:lstStyle/>
          <a:p>
            <a:pPr algn="ctr">
              <a:buClr>
                <a:srgbClr val="000000"/>
              </a:buClr>
              <a:buSzPts val="1200"/>
            </a:pPr>
            <a:r>
              <a:rPr lang="en" sz="1200">
                <a:solidFill>
                  <a:schemeClr val="dk1"/>
                </a:solidFill>
                <a:latin typeface="DM Sans Medium"/>
                <a:ea typeface="DM Sans Medium"/>
                <a:cs typeface="DM Sans Medium"/>
                <a:sym typeface="DM Sans Medium"/>
              </a:rPr>
              <a:t>Automated Decision</a:t>
            </a:r>
            <a:endParaRPr sz="1200">
              <a:solidFill>
                <a:schemeClr val="dk1"/>
              </a:solidFill>
              <a:latin typeface="DM Sans Medium"/>
              <a:ea typeface="DM Sans Medium"/>
              <a:cs typeface="DM Sans Medium"/>
              <a:sym typeface="DM Sans Medium"/>
            </a:endParaRPr>
          </a:p>
          <a:p>
            <a:pPr algn="ctr">
              <a:buClr>
                <a:srgbClr val="000000"/>
              </a:buClr>
              <a:buSzPts val="1200"/>
            </a:pPr>
            <a:r>
              <a:rPr lang="en" sz="1200">
                <a:solidFill>
                  <a:schemeClr val="dk1"/>
                </a:solidFill>
                <a:latin typeface="DM Sans Medium"/>
                <a:ea typeface="DM Sans Medium"/>
                <a:cs typeface="DM Sans Medium"/>
                <a:sym typeface="DM Sans Medium"/>
              </a:rPr>
              <a:t>Making</a:t>
            </a:r>
            <a:endParaRPr sz="1200">
              <a:solidFill>
                <a:schemeClr val="dk1"/>
              </a:solidFill>
              <a:latin typeface="DM Sans Medium"/>
              <a:ea typeface="DM Sans Medium"/>
              <a:cs typeface="DM Sans Medium"/>
              <a:sym typeface="DM Sans Medium"/>
            </a:endParaRPr>
          </a:p>
        </p:txBody>
      </p:sp>
      <p:cxnSp>
        <p:nvCxnSpPr>
          <p:cNvPr id="2991" name="Google Shape;2991;p460"/>
          <p:cNvCxnSpPr/>
          <p:nvPr/>
        </p:nvCxnSpPr>
        <p:spPr>
          <a:xfrm>
            <a:off x="1898763" y="6028150"/>
            <a:ext cx="3498000" cy="0"/>
          </a:xfrm>
          <a:prstGeom prst="straightConnector1">
            <a:avLst/>
          </a:prstGeom>
          <a:noFill/>
          <a:ln w="19050" cap="rnd" cmpd="sng">
            <a:solidFill>
              <a:srgbClr val="969696"/>
            </a:solidFill>
            <a:prstDash val="solid"/>
            <a:round/>
            <a:headEnd type="none" w="sm" len="sm"/>
            <a:tailEnd type="none" w="sm" len="sm"/>
          </a:ln>
        </p:spPr>
      </p:cxnSp>
      <p:cxnSp>
        <p:nvCxnSpPr>
          <p:cNvPr id="2992" name="Google Shape;2992;p460"/>
          <p:cNvCxnSpPr/>
          <p:nvPr/>
        </p:nvCxnSpPr>
        <p:spPr>
          <a:xfrm rot="10800000">
            <a:off x="1897120" y="5944741"/>
            <a:ext cx="0" cy="83400"/>
          </a:xfrm>
          <a:prstGeom prst="straightConnector1">
            <a:avLst/>
          </a:prstGeom>
          <a:noFill/>
          <a:ln w="19050" cap="rnd" cmpd="sng">
            <a:solidFill>
              <a:srgbClr val="969696"/>
            </a:solidFill>
            <a:prstDash val="solid"/>
            <a:round/>
            <a:headEnd type="none" w="sm" len="sm"/>
            <a:tailEnd type="none" w="sm" len="sm"/>
          </a:ln>
        </p:spPr>
      </p:cxnSp>
      <p:cxnSp>
        <p:nvCxnSpPr>
          <p:cNvPr id="2993" name="Google Shape;2993;p460"/>
          <p:cNvCxnSpPr/>
          <p:nvPr/>
        </p:nvCxnSpPr>
        <p:spPr>
          <a:xfrm rot="10800000">
            <a:off x="5396763" y="5042047"/>
            <a:ext cx="0" cy="986100"/>
          </a:xfrm>
          <a:prstGeom prst="straightConnector1">
            <a:avLst/>
          </a:prstGeom>
          <a:noFill/>
          <a:ln w="19050" cap="rnd" cmpd="sng">
            <a:solidFill>
              <a:srgbClr val="969696"/>
            </a:solidFill>
            <a:prstDash val="solid"/>
            <a:round/>
            <a:headEnd type="none" w="sm" len="sm"/>
            <a:tailEnd type="none" w="sm" len="sm"/>
          </a:ln>
        </p:spPr>
      </p:cxnSp>
      <p:sp>
        <p:nvSpPr>
          <p:cNvPr id="2994" name="Google Shape;2994;p460"/>
          <p:cNvSpPr/>
          <p:nvPr/>
        </p:nvSpPr>
        <p:spPr>
          <a:xfrm>
            <a:off x="1859944" y="5822714"/>
            <a:ext cx="83400" cy="83400"/>
          </a:xfrm>
          <a:prstGeom prst="ellipse">
            <a:avLst/>
          </a:prstGeom>
          <a:solidFill>
            <a:schemeClr val="dk2"/>
          </a:solidFill>
          <a:ln>
            <a:noFill/>
          </a:ln>
        </p:spPr>
        <p:txBody>
          <a:bodyPr spcFirstLastPara="1" wrap="square" lIns="91425" tIns="91425" rIns="91425" bIns="91425" anchor="ctr" anchorCtr="0">
            <a:noAutofit/>
          </a:bodyPr>
          <a:lstStyle/>
          <a:p>
            <a:pPr>
              <a:buClr>
                <a:srgbClr val="000000"/>
              </a:buClr>
              <a:buSzPts val="1400"/>
            </a:pPr>
            <a:endParaRPr sz="1400">
              <a:solidFill>
                <a:srgbClr val="000000"/>
              </a:solidFill>
              <a:latin typeface="Arial"/>
              <a:ea typeface="Arial"/>
              <a:cs typeface="Arial"/>
              <a:sym typeface="Arial"/>
            </a:endParaRPr>
          </a:p>
        </p:txBody>
      </p:sp>
      <p:sp>
        <p:nvSpPr>
          <p:cNvPr id="2995" name="Google Shape;2995;p460"/>
          <p:cNvSpPr/>
          <p:nvPr/>
        </p:nvSpPr>
        <p:spPr>
          <a:xfrm>
            <a:off x="2841795" y="5540068"/>
            <a:ext cx="142500" cy="142500"/>
          </a:xfrm>
          <a:prstGeom prst="ellipse">
            <a:avLst/>
          </a:prstGeom>
          <a:solidFill>
            <a:schemeClr val="dk2"/>
          </a:solidFill>
          <a:ln>
            <a:noFill/>
          </a:ln>
        </p:spPr>
        <p:txBody>
          <a:bodyPr spcFirstLastPara="1" wrap="square" lIns="91425" tIns="91425" rIns="91425" bIns="91425" anchor="ctr" anchorCtr="0">
            <a:noAutofit/>
          </a:bodyPr>
          <a:lstStyle/>
          <a:p>
            <a:pPr>
              <a:buClr>
                <a:srgbClr val="000000"/>
              </a:buClr>
              <a:buSzPts val="1400"/>
            </a:pPr>
            <a:endParaRPr sz="1400">
              <a:solidFill>
                <a:srgbClr val="000000"/>
              </a:solidFill>
              <a:latin typeface="Arial"/>
              <a:ea typeface="Arial"/>
              <a:cs typeface="Arial"/>
              <a:sym typeface="Arial"/>
            </a:endParaRPr>
          </a:p>
        </p:txBody>
      </p:sp>
      <p:sp>
        <p:nvSpPr>
          <p:cNvPr id="2996" name="Google Shape;2996;p460"/>
          <p:cNvSpPr/>
          <p:nvPr/>
        </p:nvSpPr>
        <p:spPr>
          <a:xfrm>
            <a:off x="4049874" y="5196563"/>
            <a:ext cx="186000" cy="186000"/>
          </a:xfrm>
          <a:prstGeom prst="ellipse">
            <a:avLst/>
          </a:prstGeom>
          <a:solidFill>
            <a:schemeClr val="dk2"/>
          </a:solidFill>
          <a:ln>
            <a:noFill/>
          </a:ln>
        </p:spPr>
        <p:txBody>
          <a:bodyPr spcFirstLastPara="1" wrap="square" lIns="91425" tIns="91425" rIns="91425" bIns="91425" anchor="ctr" anchorCtr="0">
            <a:noAutofit/>
          </a:bodyPr>
          <a:lstStyle/>
          <a:p>
            <a:pPr>
              <a:buClr>
                <a:srgbClr val="000000"/>
              </a:buClr>
              <a:buSzPts val="1400"/>
            </a:pPr>
            <a:endParaRPr sz="1400">
              <a:solidFill>
                <a:srgbClr val="000000"/>
              </a:solidFill>
              <a:latin typeface="Arial"/>
              <a:ea typeface="Arial"/>
              <a:cs typeface="Arial"/>
              <a:sym typeface="Arial"/>
            </a:endParaRPr>
          </a:p>
        </p:txBody>
      </p:sp>
      <p:sp>
        <p:nvSpPr>
          <p:cNvPr id="2997" name="Google Shape;2997;p460"/>
          <p:cNvSpPr/>
          <p:nvPr/>
        </p:nvSpPr>
        <p:spPr>
          <a:xfrm>
            <a:off x="5280324" y="4746506"/>
            <a:ext cx="235500" cy="235500"/>
          </a:xfrm>
          <a:prstGeom prst="ellipse">
            <a:avLst/>
          </a:prstGeom>
          <a:solidFill>
            <a:schemeClr val="dk2"/>
          </a:solidFill>
          <a:ln>
            <a:noFill/>
          </a:ln>
        </p:spPr>
        <p:txBody>
          <a:bodyPr spcFirstLastPara="1" wrap="square" lIns="91425" tIns="91425" rIns="91425" bIns="91425" anchor="ctr" anchorCtr="0">
            <a:noAutofit/>
          </a:bodyPr>
          <a:lstStyle/>
          <a:p>
            <a:pPr>
              <a:buClr>
                <a:srgbClr val="000000"/>
              </a:buClr>
              <a:buSzPts val="1400"/>
            </a:pPr>
            <a:endParaRPr sz="1400">
              <a:solidFill>
                <a:srgbClr val="000000"/>
              </a:solidFill>
              <a:latin typeface="Arial"/>
              <a:ea typeface="Arial"/>
              <a:cs typeface="Arial"/>
              <a:sym typeface="Arial"/>
            </a:endParaRPr>
          </a:p>
        </p:txBody>
      </p:sp>
      <p:sp>
        <p:nvSpPr>
          <p:cNvPr id="2998" name="Google Shape;2998;p460"/>
          <p:cNvSpPr/>
          <p:nvPr/>
        </p:nvSpPr>
        <p:spPr>
          <a:xfrm>
            <a:off x="6486887" y="4144988"/>
            <a:ext cx="299700" cy="299700"/>
          </a:xfrm>
          <a:prstGeom prst="ellipse">
            <a:avLst/>
          </a:prstGeom>
          <a:solidFill>
            <a:schemeClr val="accent1"/>
          </a:solidFill>
          <a:ln>
            <a:noFill/>
          </a:ln>
        </p:spPr>
        <p:txBody>
          <a:bodyPr spcFirstLastPara="1" wrap="square" lIns="91425" tIns="91425" rIns="91425" bIns="91425" anchor="ctr" anchorCtr="0">
            <a:noAutofit/>
          </a:bodyPr>
          <a:lstStyle/>
          <a:p>
            <a:pPr>
              <a:buClr>
                <a:srgbClr val="000000"/>
              </a:buClr>
              <a:buSzPts val="1400"/>
            </a:pPr>
            <a:endParaRPr sz="1400">
              <a:solidFill>
                <a:srgbClr val="000000"/>
              </a:solidFill>
              <a:latin typeface="Arial"/>
              <a:ea typeface="Arial"/>
              <a:cs typeface="Arial"/>
              <a:sym typeface="Arial"/>
            </a:endParaRPr>
          </a:p>
        </p:txBody>
      </p:sp>
      <p:sp>
        <p:nvSpPr>
          <p:cNvPr id="2999" name="Google Shape;2999;p460"/>
          <p:cNvSpPr/>
          <p:nvPr/>
        </p:nvSpPr>
        <p:spPr>
          <a:xfrm>
            <a:off x="7677068" y="3441193"/>
            <a:ext cx="398100" cy="398100"/>
          </a:xfrm>
          <a:prstGeom prst="ellipse">
            <a:avLst/>
          </a:prstGeom>
          <a:solidFill>
            <a:schemeClr val="accent1"/>
          </a:solidFill>
          <a:ln>
            <a:noFill/>
          </a:ln>
        </p:spPr>
        <p:txBody>
          <a:bodyPr spcFirstLastPara="1" wrap="square" lIns="91425" tIns="91425" rIns="91425" bIns="91425" anchor="ctr" anchorCtr="0">
            <a:noAutofit/>
          </a:bodyPr>
          <a:lstStyle/>
          <a:p>
            <a:pPr>
              <a:buClr>
                <a:srgbClr val="000000"/>
              </a:buClr>
              <a:buSzPts val="1400"/>
            </a:pPr>
            <a:endParaRPr sz="1400">
              <a:solidFill>
                <a:srgbClr val="000000"/>
              </a:solidFill>
              <a:latin typeface="Arial"/>
              <a:ea typeface="Arial"/>
              <a:cs typeface="Arial"/>
              <a:sym typeface="Arial"/>
            </a:endParaRPr>
          </a:p>
        </p:txBody>
      </p:sp>
      <p:sp>
        <p:nvSpPr>
          <p:cNvPr id="3000" name="Google Shape;3000;p460"/>
          <p:cNvSpPr/>
          <p:nvPr/>
        </p:nvSpPr>
        <p:spPr>
          <a:xfrm>
            <a:off x="8852358" y="2517553"/>
            <a:ext cx="518700" cy="518700"/>
          </a:xfrm>
          <a:prstGeom prst="ellipse">
            <a:avLst/>
          </a:prstGeom>
          <a:solidFill>
            <a:schemeClr val="accent1"/>
          </a:solidFill>
          <a:ln>
            <a:noFill/>
          </a:ln>
        </p:spPr>
        <p:txBody>
          <a:bodyPr spcFirstLastPara="1" wrap="square" lIns="91425" tIns="91425" rIns="91425" bIns="91425" anchor="ctr" anchorCtr="0">
            <a:noAutofit/>
          </a:bodyPr>
          <a:lstStyle/>
          <a:p>
            <a:pPr>
              <a:buClr>
                <a:srgbClr val="000000"/>
              </a:buClr>
              <a:buSzPts val="1400"/>
            </a:pPr>
            <a:endParaRPr sz="1400">
              <a:solidFill>
                <a:srgbClr val="000000"/>
              </a:solidFill>
              <a:latin typeface="Arial"/>
              <a:ea typeface="Arial"/>
              <a:cs typeface="Arial"/>
              <a:sym typeface="Arial"/>
            </a:endParaRPr>
          </a:p>
        </p:txBody>
      </p:sp>
      <p:cxnSp>
        <p:nvCxnSpPr>
          <p:cNvPr id="3001" name="Google Shape;3001;p460"/>
          <p:cNvCxnSpPr/>
          <p:nvPr/>
        </p:nvCxnSpPr>
        <p:spPr>
          <a:xfrm>
            <a:off x="1053905" y="1663148"/>
            <a:ext cx="0" cy="4630200"/>
          </a:xfrm>
          <a:prstGeom prst="straightConnector1">
            <a:avLst/>
          </a:prstGeom>
          <a:noFill/>
          <a:ln w="31750" cap="rnd" cmpd="sng">
            <a:solidFill>
              <a:srgbClr val="969696"/>
            </a:solidFill>
            <a:prstDash val="solid"/>
            <a:round/>
            <a:headEnd type="none" w="sm" len="sm"/>
            <a:tailEnd type="none" w="sm" len="sm"/>
          </a:ln>
        </p:spPr>
      </p:cxnSp>
      <p:cxnSp>
        <p:nvCxnSpPr>
          <p:cNvPr id="3002" name="Google Shape;3002;p460"/>
          <p:cNvCxnSpPr/>
          <p:nvPr/>
        </p:nvCxnSpPr>
        <p:spPr>
          <a:xfrm rot="10800000">
            <a:off x="1054138" y="6293339"/>
            <a:ext cx="8824200" cy="0"/>
          </a:xfrm>
          <a:prstGeom prst="straightConnector1">
            <a:avLst/>
          </a:prstGeom>
          <a:noFill/>
          <a:ln w="31750" cap="rnd" cmpd="sng">
            <a:solidFill>
              <a:srgbClr val="969696"/>
            </a:solidFill>
            <a:prstDash val="solid"/>
            <a:round/>
            <a:headEnd type="none" w="sm" len="sm"/>
            <a:tailEnd type="none" w="sm" len="sm"/>
          </a:ln>
        </p:spPr>
      </p:cxnSp>
      <p:grpSp>
        <p:nvGrpSpPr>
          <p:cNvPr id="3003" name="Google Shape;3003;p460"/>
          <p:cNvGrpSpPr/>
          <p:nvPr/>
        </p:nvGrpSpPr>
        <p:grpSpPr>
          <a:xfrm>
            <a:off x="6301963" y="4550470"/>
            <a:ext cx="1774500" cy="531280"/>
            <a:chOff x="5622478" y="-961525"/>
            <a:chExt cx="1774500" cy="531280"/>
          </a:xfrm>
        </p:grpSpPr>
        <p:sp>
          <p:nvSpPr>
            <p:cNvPr id="3004" name="Google Shape;3004;p460"/>
            <p:cNvSpPr/>
            <p:nvPr/>
          </p:nvSpPr>
          <p:spPr>
            <a:xfrm>
              <a:off x="5622478" y="-828345"/>
              <a:ext cx="1774500" cy="398100"/>
            </a:xfrm>
            <a:prstGeom prst="rect">
              <a:avLst/>
            </a:prstGeom>
            <a:solidFill>
              <a:srgbClr val="FEFEFE"/>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3005" name="Google Shape;3005;p460"/>
            <p:cNvSpPr/>
            <p:nvPr/>
          </p:nvSpPr>
          <p:spPr>
            <a:xfrm>
              <a:off x="5766625" y="-961525"/>
              <a:ext cx="398100" cy="142500"/>
            </a:xfrm>
            <a:prstGeom prst="triangle">
              <a:avLst>
                <a:gd name="adj" fmla="val 50000"/>
              </a:avLst>
            </a:prstGeom>
            <a:solidFill>
              <a:srgbClr val="FEFEFE"/>
            </a:solidFill>
            <a:ln>
              <a:noFill/>
            </a:ln>
          </p:spPr>
          <p:txBody>
            <a:bodyPr spcFirstLastPara="1" wrap="square" lIns="91425" tIns="91425" rIns="91425" bIns="91425" anchor="ctr" anchorCtr="0">
              <a:noAutofit/>
            </a:bodyPr>
            <a:lstStyle/>
            <a:p>
              <a:endParaRPr/>
            </a:p>
          </p:txBody>
        </p:sp>
      </p:grpSp>
      <p:grpSp>
        <p:nvGrpSpPr>
          <p:cNvPr id="3006" name="Google Shape;3006;p460"/>
          <p:cNvGrpSpPr/>
          <p:nvPr/>
        </p:nvGrpSpPr>
        <p:grpSpPr>
          <a:xfrm>
            <a:off x="7538138" y="3921332"/>
            <a:ext cx="2243400" cy="531269"/>
            <a:chOff x="5622484" y="-961525"/>
            <a:chExt cx="2243400" cy="531269"/>
          </a:xfrm>
        </p:grpSpPr>
        <p:sp>
          <p:nvSpPr>
            <p:cNvPr id="3007" name="Google Shape;3007;p460"/>
            <p:cNvSpPr/>
            <p:nvPr/>
          </p:nvSpPr>
          <p:spPr>
            <a:xfrm>
              <a:off x="5622484" y="-828356"/>
              <a:ext cx="2243400" cy="398100"/>
            </a:xfrm>
            <a:prstGeom prst="rect">
              <a:avLst/>
            </a:prstGeom>
            <a:solidFill>
              <a:srgbClr val="FEFEFE"/>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3008" name="Google Shape;3008;p460"/>
            <p:cNvSpPr/>
            <p:nvPr/>
          </p:nvSpPr>
          <p:spPr>
            <a:xfrm>
              <a:off x="5766625" y="-961525"/>
              <a:ext cx="398100" cy="142500"/>
            </a:xfrm>
            <a:prstGeom prst="triangle">
              <a:avLst>
                <a:gd name="adj" fmla="val 50000"/>
              </a:avLst>
            </a:prstGeom>
            <a:solidFill>
              <a:srgbClr val="FEFEFE"/>
            </a:solidFill>
            <a:ln>
              <a:noFill/>
            </a:ln>
          </p:spPr>
          <p:txBody>
            <a:bodyPr spcFirstLastPara="1" wrap="square" lIns="91425" tIns="91425" rIns="91425" bIns="91425" anchor="ctr" anchorCtr="0">
              <a:noAutofit/>
            </a:bodyPr>
            <a:lstStyle/>
            <a:p>
              <a:endParaRPr/>
            </a:p>
          </p:txBody>
        </p:sp>
      </p:grpSp>
      <p:sp>
        <p:nvSpPr>
          <p:cNvPr id="3009" name="Google Shape;3009;p460"/>
          <p:cNvSpPr txBox="1"/>
          <p:nvPr/>
        </p:nvSpPr>
        <p:spPr>
          <a:xfrm>
            <a:off x="6301973" y="4724930"/>
            <a:ext cx="1884000" cy="646290"/>
          </a:xfrm>
          <a:prstGeom prst="rect">
            <a:avLst/>
          </a:prstGeom>
          <a:noFill/>
          <a:ln>
            <a:noFill/>
          </a:ln>
        </p:spPr>
        <p:txBody>
          <a:bodyPr spcFirstLastPara="1" wrap="square" lIns="91425" tIns="45700" rIns="91425" bIns="45700" anchor="t" anchorCtr="0">
            <a:spAutoFit/>
          </a:bodyPr>
          <a:lstStyle/>
          <a:p>
            <a:pPr>
              <a:buClr>
                <a:srgbClr val="000000"/>
              </a:buClr>
              <a:buSzPts val="1400"/>
            </a:pPr>
            <a:r>
              <a:rPr lang="en">
                <a:solidFill>
                  <a:schemeClr val="accent1"/>
                </a:solidFill>
                <a:latin typeface="DM Sans"/>
                <a:ea typeface="DM Sans"/>
                <a:cs typeface="DM Sans"/>
                <a:sym typeface="DM Sans"/>
              </a:rPr>
              <a:t>What will happen?</a:t>
            </a:r>
            <a:endParaRPr b="1">
              <a:solidFill>
                <a:schemeClr val="accent1"/>
              </a:solidFill>
              <a:latin typeface="DM Sans"/>
              <a:ea typeface="DM Sans"/>
              <a:cs typeface="DM Sans"/>
              <a:sym typeface="DM Sans"/>
            </a:endParaRPr>
          </a:p>
        </p:txBody>
      </p:sp>
      <p:sp>
        <p:nvSpPr>
          <p:cNvPr id="3010" name="Google Shape;3010;p460"/>
          <p:cNvSpPr txBox="1"/>
          <p:nvPr/>
        </p:nvSpPr>
        <p:spPr>
          <a:xfrm>
            <a:off x="7548713" y="4117325"/>
            <a:ext cx="2358900" cy="646290"/>
          </a:xfrm>
          <a:prstGeom prst="rect">
            <a:avLst/>
          </a:prstGeom>
          <a:noFill/>
          <a:ln>
            <a:noFill/>
          </a:ln>
        </p:spPr>
        <p:txBody>
          <a:bodyPr spcFirstLastPara="1" wrap="square" lIns="91425" tIns="45700" rIns="91425" bIns="45700" anchor="t" anchorCtr="0">
            <a:spAutoFit/>
          </a:bodyPr>
          <a:lstStyle/>
          <a:p>
            <a:pPr>
              <a:buClr>
                <a:srgbClr val="000000"/>
              </a:buClr>
              <a:buSzPts val="1400"/>
            </a:pPr>
            <a:r>
              <a:rPr lang="en">
                <a:solidFill>
                  <a:schemeClr val="accent1"/>
                </a:solidFill>
                <a:latin typeface="DM Sans"/>
                <a:ea typeface="DM Sans"/>
                <a:cs typeface="DM Sans"/>
                <a:sym typeface="DM Sans"/>
              </a:rPr>
              <a:t>How should we respond?</a:t>
            </a:r>
            <a:endParaRPr sz="1400">
              <a:solidFill>
                <a:schemeClr val="accent1"/>
              </a:solidFill>
              <a:latin typeface="DM Sans"/>
              <a:ea typeface="DM Sans"/>
              <a:cs typeface="DM Sans"/>
              <a:sym typeface="DM Sans"/>
            </a:endParaRPr>
          </a:p>
        </p:txBody>
      </p:sp>
      <p:sp>
        <p:nvSpPr>
          <p:cNvPr id="3011" name="Google Shape;3011;p460"/>
          <p:cNvSpPr txBox="1"/>
          <p:nvPr/>
        </p:nvSpPr>
        <p:spPr>
          <a:xfrm>
            <a:off x="5623283" y="5856406"/>
            <a:ext cx="1884000" cy="307800"/>
          </a:xfrm>
          <a:prstGeom prst="rect">
            <a:avLst/>
          </a:prstGeom>
          <a:noFill/>
          <a:ln>
            <a:noFill/>
          </a:ln>
        </p:spPr>
        <p:txBody>
          <a:bodyPr spcFirstLastPara="1" wrap="square" lIns="91425" tIns="45700" rIns="91425" bIns="45700" anchor="t" anchorCtr="0">
            <a:spAutoFit/>
          </a:bodyPr>
          <a:lstStyle/>
          <a:p>
            <a:pPr>
              <a:buClr>
                <a:srgbClr val="000000"/>
              </a:buClr>
              <a:buSzPts val="1400"/>
            </a:pPr>
            <a:r>
              <a:rPr lang="en" sz="1400">
                <a:solidFill>
                  <a:schemeClr val="accent1"/>
                </a:solidFill>
                <a:latin typeface="DM Sans"/>
                <a:ea typeface="DM Sans"/>
                <a:cs typeface="DM Sans"/>
                <a:sym typeface="DM Sans"/>
              </a:rPr>
              <a:t>What</a:t>
            </a:r>
            <a:r>
              <a:rPr lang="en" sz="1400" b="1">
                <a:solidFill>
                  <a:schemeClr val="accent1"/>
                </a:solidFill>
                <a:latin typeface="DM Sans"/>
                <a:ea typeface="DM Sans"/>
                <a:cs typeface="DM Sans"/>
                <a:sym typeface="DM Sans"/>
              </a:rPr>
              <a:t> </a:t>
            </a:r>
            <a:r>
              <a:rPr lang="en" sz="1400">
                <a:solidFill>
                  <a:schemeClr val="accent1"/>
                </a:solidFill>
                <a:latin typeface="DM Sans"/>
                <a:ea typeface="DM Sans"/>
                <a:cs typeface="DM Sans"/>
                <a:sym typeface="DM Sans"/>
              </a:rPr>
              <a:t>happened?</a:t>
            </a:r>
            <a:endParaRPr sz="1400">
              <a:solidFill>
                <a:schemeClr val="accent1"/>
              </a:solidFill>
              <a:latin typeface="DM Sans"/>
              <a:ea typeface="DM Sans"/>
              <a:cs typeface="DM Sans"/>
              <a:sym typeface="DM Sans"/>
            </a:endParaRPr>
          </a:p>
        </p:txBody>
      </p:sp>
      <p:grpSp>
        <p:nvGrpSpPr>
          <p:cNvPr id="3012" name="Google Shape;3012;p460"/>
          <p:cNvGrpSpPr/>
          <p:nvPr/>
        </p:nvGrpSpPr>
        <p:grpSpPr>
          <a:xfrm>
            <a:off x="8770088" y="3120733"/>
            <a:ext cx="3279600" cy="531292"/>
            <a:chOff x="5622471" y="-961525"/>
            <a:chExt cx="3279600" cy="531292"/>
          </a:xfrm>
        </p:grpSpPr>
        <p:sp>
          <p:nvSpPr>
            <p:cNvPr id="3013" name="Google Shape;3013;p460"/>
            <p:cNvSpPr/>
            <p:nvPr/>
          </p:nvSpPr>
          <p:spPr>
            <a:xfrm>
              <a:off x="5622471" y="-828333"/>
              <a:ext cx="3279600" cy="398100"/>
            </a:xfrm>
            <a:prstGeom prst="rect">
              <a:avLst/>
            </a:prstGeom>
            <a:solidFill>
              <a:srgbClr val="FEFEFE"/>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3014" name="Google Shape;3014;p460"/>
            <p:cNvSpPr/>
            <p:nvPr/>
          </p:nvSpPr>
          <p:spPr>
            <a:xfrm>
              <a:off x="5766625" y="-961525"/>
              <a:ext cx="398100" cy="142500"/>
            </a:xfrm>
            <a:prstGeom prst="triangle">
              <a:avLst>
                <a:gd name="adj" fmla="val 50000"/>
              </a:avLst>
            </a:prstGeom>
            <a:solidFill>
              <a:srgbClr val="FEFEFE"/>
            </a:solidFill>
            <a:ln>
              <a:noFill/>
            </a:ln>
          </p:spPr>
          <p:txBody>
            <a:bodyPr spcFirstLastPara="1" wrap="square" lIns="91425" tIns="91425" rIns="91425" bIns="91425" anchor="ctr" anchorCtr="0">
              <a:noAutofit/>
            </a:bodyPr>
            <a:lstStyle/>
            <a:p>
              <a:endParaRPr/>
            </a:p>
          </p:txBody>
        </p:sp>
      </p:grpSp>
      <p:sp>
        <p:nvSpPr>
          <p:cNvPr id="3015" name="Google Shape;3015;p460"/>
          <p:cNvSpPr txBox="1"/>
          <p:nvPr/>
        </p:nvSpPr>
        <p:spPr>
          <a:xfrm>
            <a:off x="8801838" y="3330200"/>
            <a:ext cx="3279600" cy="646290"/>
          </a:xfrm>
          <a:prstGeom prst="rect">
            <a:avLst/>
          </a:prstGeom>
          <a:noFill/>
          <a:ln>
            <a:noFill/>
          </a:ln>
        </p:spPr>
        <p:txBody>
          <a:bodyPr spcFirstLastPara="1" wrap="square" lIns="91425" tIns="45700" rIns="91425" bIns="45700" anchor="t" anchorCtr="0">
            <a:spAutoFit/>
          </a:bodyPr>
          <a:lstStyle/>
          <a:p>
            <a:pPr>
              <a:buClr>
                <a:srgbClr val="000000"/>
              </a:buClr>
              <a:buSzPts val="1400"/>
            </a:pPr>
            <a:r>
              <a:rPr lang="en">
                <a:solidFill>
                  <a:schemeClr val="accent1"/>
                </a:solidFill>
                <a:latin typeface="DM Sans"/>
                <a:ea typeface="DM Sans"/>
                <a:cs typeface="DM Sans"/>
                <a:sym typeface="DM Sans"/>
              </a:rPr>
              <a:t>Automatically make the best decision</a:t>
            </a:r>
            <a:endParaRPr/>
          </a:p>
        </p:txBody>
      </p:sp>
      <p:sp>
        <p:nvSpPr>
          <p:cNvPr id="3016" name="Google Shape;3016;p460"/>
          <p:cNvSpPr txBox="1">
            <a:spLocks noGrp="1"/>
          </p:cNvSpPr>
          <p:nvPr>
            <p:ph type="subTitle" idx="1"/>
          </p:nvPr>
        </p:nvSpPr>
        <p:spPr>
          <a:xfrm>
            <a:off x="766397" y="1174702"/>
            <a:ext cx="10659300" cy="583500"/>
          </a:xfrm>
          <a:prstGeom prst="rect">
            <a:avLst/>
          </a:prstGeom>
        </p:spPr>
        <p:txBody>
          <a:bodyPr spcFirstLastPara="1" vert="horz" wrap="square" lIns="0" tIns="0" rIns="0" bIns="0" rtlCol="0" anchor="t" anchorCtr="0">
            <a:noAutofit/>
          </a:bodyPr>
          <a:lstStyle/>
          <a:p>
            <a:pPr marL="0" indent="0"/>
            <a:r>
              <a:rPr lang="en"/>
              <a:t>From hindsight to foresight</a:t>
            </a:r>
            <a:endParaRPr/>
          </a:p>
        </p:txBody>
      </p:sp>
      <p:sp>
        <p:nvSpPr>
          <p:cNvPr id="3017" name="Google Shape;3017;p460"/>
          <p:cNvSpPr txBox="1">
            <a:spLocks noGrp="1"/>
          </p:cNvSpPr>
          <p:nvPr>
            <p:ph type="sldNum" idx="12"/>
          </p:nvPr>
        </p:nvSpPr>
        <p:spPr>
          <a:xfrm>
            <a:off x="11099257" y="6473300"/>
            <a:ext cx="324300" cy="186600"/>
          </a:xfrm>
          <a:prstGeom prst="rect">
            <a:avLst/>
          </a:prstGeom>
        </p:spPr>
        <p:txBody>
          <a:bodyPr spcFirstLastPara="1" vert="horz" wrap="square" lIns="0" tIns="0" rIns="0" bIns="0" rtlCol="0" anchor="t" anchorCtr="0">
            <a:noAutofit/>
          </a:bodyPr>
          <a:lstStyle/>
          <a:p>
            <a:fld id="{00000000-1234-1234-1234-123412341234}" type="slidenum">
              <a:rPr lang="en"/>
              <a:pPr/>
              <a:t>2</a:t>
            </a:fld>
            <a:endParaRPr/>
          </a:p>
        </p:txBody>
      </p:sp>
      <p:sp>
        <p:nvSpPr>
          <p:cNvPr id="3018" name="Google Shape;3018;p460"/>
          <p:cNvSpPr/>
          <p:nvPr/>
        </p:nvSpPr>
        <p:spPr>
          <a:xfrm>
            <a:off x="727439" y="1487633"/>
            <a:ext cx="5086200" cy="4724700"/>
          </a:xfrm>
          <a:prstGeom prst="rect">
            <a:avLst/>
          </a:prstGeom>
          <a:noFill/>
          <a:ln w="19050" cap="flat" cmpd="sng">
            <a:solidFill>
              <a:schemeClr val="dk2"/>
            </a:solidFill>
            <a:prstDash val="dot"/>
            <a:round/>
            <a:headEnd type="none" w="sm" len="sm"/>
            <a:tailEnd type="none" w="sm" len="sm"/>
          </a:ln>
        </p:spPr>
        <p:txBody>
          <a:bodyPr spcFirstLastPara="1" wrap="square" lIns="121875" tIns="121875" rIns="121875" bIns="121875" anchor="ctr" anchorCtr="0">
            <a:noAutofit/>
          </a:bodyPr>
          <a:lstStyle/>
          <a:p>
            <a:pPr>
              <a:buClr>
                <a:srgbClr val="000000"/>
              </a:buClr>
              <a:buSzPts val="1400"/>
            </a:pPr>
            <a:endParaRPr sz="1400">
              <a:solidFill>
                <a:srgbClr val="000000"/>
              </a:solidFill>
              <a:latin typeface="Arial"/>
              <a:ea typeface="Arial"/>
              <a:cs typeface="Arial"/>
              <a:sym typeface="Arial"/>
            </a:endParaRPr>
          </a:p>
        </p:txBody>
      </p:sp>
      <p:sp>
        <p:nvSpPr>
          <p:cNvPr id="3019" name="Google Shape;3019;p460"/>
          <p:cNvSpPr/>
          <p:nvPr/>
        </p:nvSpPr>
        <p:spPr>
          <a:xfrm>
            <a:off x="6116791" y="1487633"/>
            <a:ext cx="5908200" cy="4724700"/>
          </a:xfrm>
          <a:prstGeom prst="rect">
            <a:avLst/>
          </a:prstGeom>
          <a:noFill/>
          <a:ln w="19050" cap="flat" cmpd="sng">
            <a:solidFill>
              <a:schemeClr val="accent6"/>
            </a:solidFill>
            <a:prstDash val="dash"/>
            <a:round/>
            <a:headEnd type="none" w="sm" len="sm"/>
            <a:tailEnd type="none" w="sm" len="sm"/>
          </a:ln>
        </p:spPr>
        <p:txBody>
          <a:bodyPr spcFirstLastPara="1" wrap="square" lIns="121875" tIns="121875" rIns="121875" bIns="121875" anchor="ctr" anchorCtr="0">
            <a:noAutofit/>
          </a:bodyPr>
          <a:lstStyle/>
          <a:p>
            <a:pPr>
              <a:buClr>
                <a:srgbClr val="000000"/>
              </a:buClr>
              <a:buSzPts val="1400"/>
            </a:pPr>
            <a:endParaRPr sz="1400">
              <a:solidFill>
                <a:srgbClr val="000000"/>
              </a:solidFill>
              <a:latin typeface="Arial"/>
              <a:ea typeface="Arial"/>
              <a:cs typeface="Arial"/>
              <a:sym typeface="Arial"/>
            </a:endParaRPr>
          </a:p>
        </p:txBody>
      </p:sp>
      <p:sp>
        <p:nvSpPr>
          <p:cNvPr id="3020" name="Google Shape;3020;p460"/>
          <p:cNvSpPr txBox="1"/>
          <p:nvPr/>
        </p:nvSpPr>
        <p:spPr>
          <a:xfrm>
            <a:off x="1703362" y="1408500"/>
            <a:ext cx="3040800" cy="446400"/>
          </a:xfrm>
          <a:prstGeom prst="rect">
            <a:avLst/>
          </a:prstGeom>
          <a:noFill/>
          <a:ln>
            <a:noFill/>
          </a:ln>
        </p:spPr>
        <p:txBody>
          <a:bodyPr spcFirstLastPara="1" wrap="square" lIns="121875" tIns="121875" rIns="121875" bIns="121875" anchor="t" anchorCtr="0">
            <a:spAutoFit/>
          </a:bodyPr>
          <a:lstStyle/>
          <a:p>
            <a:pPr algn="ctr">
              <a:buClr>
                <a:srgbClr val="000000"/>
              </a:buClr>
              <a:buSzPts val="1300"/>
            </a:pPr>
            <a:r>
              <a:rPr lang="en" sz="1300" b="1" i="1">
                <a:solidFill>
                  <a:schemeClr val="dk2"/>
                </a:solidFill>
                <a:latin typeface="DM Sans"/>
                <a:ea typeface="DM Sans"/>
                <a:cs typeface="DM Sans"/>
                <a:sym typeface="DM Sans"/>
              </a:rPr>
              <a:t>Supporting the business</a:t>
            </a:r>
            <a:endParaRPr sz="1300" b="1" i="1">
              <a:solidFill>
                <a:schemeClr val="dk2"/>
              </a:solidFill>
              <a:latin typeface="DM Sans"/>
              <a:ea typeface="DM Sans"/>
              <a:cs typeface="DM Sans"/>
              <a:sym typeface="DM Sans"/>
            </a:endParaRPr>
          </a:p>
        </p:txBody>
      </p:sp>
      <p:sp>
        <p:nvSpPr>
          <p:cNvPr id="3021" name="Google Shape;3021;p460"/>
          <p:cNvSpPr txBox="1"/>
          <p:nvPr/>
        </p:nvSpPr>
        <p:spPr>
          <a:xfrm>
            <a:off x="8896429" y="5760733"/>
            <a:ext cx="3040800" cy="446400"/>
          </a:xfrm>
          <a:prstGeom prst="rect">
            <a:avLst/>
          </a:prstGeom>
          <a:noFill/>
          <a:ln>
            <a:noFill/>
          </a:ln>
        </p:spPr>
        <p:txBody>
          <a:bodyPr spcFirstLastPara="1" wrap="square" lIns="121875" tIns="121875" rIns="121875" bIns="121875" anchor="t" anchorCtr="0">
            <a:spAutoFit/>
          </a:bodyPr>
          <a:lstStyle/>
          <a:p>
            <a:pPr algn="ctr">
              <a:buClr>
                <a:srgbClr val="000000"/>
              </a:buClr>
              <a:buSzPts val="1300"/>
            </a:pPr>
            <a:r>
              <a:rPr lang="en" sz="1300" b="1" i="1">
                <a:solidFill>
                  <a:schemeClr val="accent6"/>
                </a:solidFill>
                <a:latin typeface="DM Sans"/>
                <a:ea typeface="DM Sans"/>
                <a:cs typeface="DM Sans"/>
                <a:sym typeface="DM Sans"/>
              </a:rPr>
              <a:t>Powering the business</a:t>
            </a:r>
            <a:endParaRPr sz="1300" b="1" i="1">
              <a:solidFill>
                <a:schemeClr val="accent6"/>
              </a:solidFill>
              <a:latin typeface="DM Sans"/>
              <a:ea typeface="DM Sans"/>
              <a:cs typeface="DM Sans"/>
              <a:sym typeface="DM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18"/>
                                        </p:tgtEl>
                                        <p:attrNameLst>
                                          <p:attrName>style.visibility</p:attrName>
                                        </p:attrNameLst>
                                      </p:cBhvr>
                                      <p:to>
                                        <p:strVal val="visible"/>
                                      </p:to>
                                    </p:set>
                                    <p:animEffect transition="in" filter="fade">
                                      <p:cBhvr>
                                        <p:cTn id="7" dur="1000"/>
                                        <p:tgtEl>
                                          <p:spTgt spid="3018"/>
                                        </p:tgtEl>
                                      </p:cBhvr>
                                    </p:animEffect>
                                  </p:childTnLst>
                                </p:cTn>
                              </p:par>
                              <p:par>
                                <p:cTn id="8" presetID="10" presetClass="entr" presetSubtype="0" fill="hold" nodeType="withEffect">
                                  <p:stCondLst>
                                    <p:cond delay="0"/>
                                  </p:stCondLst>
                                  <p:childTnLst>
                                    <p:set>
                                      <p:cBhvr>
                                        <p:cTn id="9" dur="1" fill="hold">
                                          <p:stCondLst>
                                            <p:cond delay="0"/>
                                          </p:stCondLst>
                                        </p:cTn>
                                        <p:tgtEl>
                                          <p:spTgt spid="3019"/>
                                        </p:tgtEl>
                                        <p:attrNameLst>
                                          <p:attrName>style.visibility</p:attrName>
                                        </p:attrNameLst>
                                      </p:cBhvr>
                                      <p:to>
                                        <p:strVal val="visible"/>
                                      </p:to>
                                    </p:set>
                                    <p:animEffect transition="in" filter="fade">
                                      <p:cBhvr>
                                        <p:cTn id="10" dur="1000"/>
                                        <p:tgtEl>
                                          <p:spTgt spid="3019"/>
                                        </p:tgtEl>
                                      </p:cBhvr>
                                    </p:animEffect>
                                  </p:childTnLst>
                                </p:cTn>
                              </p:par>
                              <p:par>
                                <p:cTn id="11" presetID="10" presetClass="entr" presetSubtype="0" fill="hold" nodeType="withEffect">
                                  <p:stCondLst>
                                    <p:cond delay="0"/>
                                  </p:stCondLst>
                                  <p:childTnLst>
                                    <p:set>
                                      <p:cBhvr>
                                        <p:cTn id="12" dur="1" fill="hold">
                                          <p:stCondLst>
                                            <p:cond delay="0"/>
                                          </p:stCondLst>
                                        </p:cTn>
                                        <p:tgtEl>
                                          <p:spTgt spid="3020"/>
                                        </p:tgtEl>
                                        <p:attrNameLst>
                                          <p:attrName>style.visibility</p:attrName>
                                        </p:attrNameLst>
                                      </p:cBhvr>
                                      <p:to>
                                        <p:strVal val="visible"/>
                                      </p:to>
                                    </p:set>
                                    <p:animEffect transition="in" filter="fade">
                                      <p:cBhvr>
                                        <p:cTn id="13" dur="1000"/>
                                        <p:tgtEl>
                                          <p:spTgt spid="3020"/>
                                        </p:tgtEl>
                                      </p:cBhvr>
                                    </p:animEffect>
                                  </p:childTnLst>
                                </p:cTn>
                              </p:par>
                              <p:par>
                                <p:cTn id="14" presetID="10" presetClass="entr" presetSubtype="0" fill="hold" nodeType="withEffect">
                                  <p:stCondLst>
                                    <p:cond delay="0"/>
                                  </p:stCondLst>
                                  <p:childTnLst>
                                    <p:set>
                                      <p:cBhvr>
                                        <p:cTn id="15" dur="1" fill="hold">
                                          <p:stCondLst>
                                            <p:cond delay="0"/>
                                          </p:stCondLst>
                                        </p:cTn>
                                        <p:tgtEl>
                                          <p:spTgt spid="3021"/>
                                        </p:tgtEl>
                                        <p:attrNameLst>
                                          <p:attrName>style.visibility</p:attrName>
                                        </p:attrNameLst>
                                      </p:cBhvr>
                                      <p:to>
                                        <p:strVal val="visible"/>
                                      </p:to>
                                    </p:set>
                                    <p:animEffect transition="in" filter="fade">
                                      <p:cBhvr>
                                        <p:cTn id="16" dur="1000"/>
                                        <p:tgtEl>
                                          <p:spTgt spid="30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026"/>
        <p:cNvGrpSpPr/>
        <p:nvPr/>
      </p:nvGrpSpPr>
      <p:grpSpPr>
        <a:xfrm>
          <a:off x="0" y="0"/>
          <a:ext cx="0" cy="0"/>
          <a:chOff x="0" y="0"/>
          <a:chExt cx="0" cy="0"/>
        </a:xfrm>
      </p:grpSpPr>
      <p:sp>
        <p:nvSpPr>
          <p:cNvPr id="3027" name="Google Shape;3027;p461"/>
          <p:cNvSpPr/>
          <p:nvPr/>
        </p:nvSpPr>
        <p:spPr>
          <a:xfrm>
            <a:off x="4375029" y="1899511"/>
            <a:ext cx="925800" cy="4015200"/>
          </a:xfrm>
          <a:prstGeom prst="rect">
            <a:avLst/>
          </a:prstGeom>
          <a:solidFill>
            <a:srgbClr val="FEFEFE"/>
          </a:solidFill>
          <a:ln w="19050" cap="flat" cmpd="sng">
            <a:solidFill>
              <a:srgbClr val="618794"/>
            </a:solidFill>
            <a:prstDash val="solid"/>
            <a:round/>
            <a:headEnd type="none" w="sm" len="sm"/>
            <a:tailEnd type="none" w="sm" len="sm"/>
          </a:ln>
        </p:spPr>
        <p:txBody>
          <a:bodyPr spcFirstLastPara="1" wrap="square" lIns="91425" tIns="45700" rIns="91425" bIns="45700" anchor="ctr" anchorCtr="0">
            <a:noAutofit/>
          </a:bodyPr>
          <a:lstStyle/>
          <a:p>
            <a:pPr algn="ctr">
              <a:buClr>
                <a:srgbClr val="000000"/>
              </a:buClr>
              <a:buSzPts val="1400"/>
            </a:pPr>
            <a:endParaRPr sz="1400">
              <a:solidFill>
                <a:schemeClr val="dk1"/>
              </a:solidFill>
              <a:latin typeface="Arial"/>
              <a:ea typeface="Arial"/>
              <a:cs typeface="Arial"/>
              <a:sym typeface="Arial"/>
            </a:endParaRPr>
          </a:p>
        </p:txBody>
      </p:sp>
      <p:sp>
        <p:nvSpPr>
          <p:cNvPr id="3028" name="Google Shape;3028;p461"/>
          <p:cNvSpPr txBox="1">
            <a:spLocks noGrp="1"/>
          </p:cNvSpPr>
          <p:nvPr>
            <p:ph type="title"/>
          </p:nvPr>
        </p:nvSpPr>
        <p:spPr>
          <a:xfrm>
            <a:off x="750833" y="535597"/>
            <a:ext cx="10659300" cy="583500"/>
          </a:xfrm>
          <a:prstGeom prst="rect">
            <a:avLst/>
          </a:prstGeom>
          <a:noFill/>
          <a:ln>
            <a:noFill/>
          </a:ln>
        </p:spPr>
        <p:txBody>
          <a:bodyPr spcFirstLastPara="1" vert="horz" wrap="square" lIns="0" tIns="0" rIns="0" bIns="0" rtlCol="0" anchor="ctr" anchorCtr="0">
            <a:noAutofit/>
          </a:bodyPr>
          <a:lstStyle/>
          <a:p>
            <a:r>
              <a:rPr lang="en" sz="3600"/>
              <a:t>Why not use a cloud data warehouse?</a:t>
            </a:r>
            <a:endParaRPr sz="3600"/>
          </a:p>
        </p:txBody>
      </p:sp>
      <p:sp>
        <p:nvSpPr>
          <p:cNvPr id="3029" name="Google Shape;3029;p461"/>
          <p:cNvSpPr txBox="1">
            <a:spLocks noGrp="1"/>
          </p:cNvSpPr>
          <p:nvPr>
            <p:ph type="subTitle" idx="1"/>
          </p:nvPr>
        </p:nvSpPr>
        <p:spPr>
          <a:xfrm>
            <a:off x="766397" y="1174702"/>
            <a:ext cx="10659300" cy="583500"/>
          </a:xfrm>
          <a:prstGeom prst="rect">
            <a:avLst/>
          </a:prstGeom>
          <a:noFill/>
          <a:ln>
            <a:noFill/>
          </a:ln>
        </p:spPr>
        <p:txBody>
          <a:bodyPr spcFirstLastPara="1" vert="horz" wrap="square" lIns="0" tIns="0" rIns="0" bIns="0" rtlCol="0" anchor="t" anchorCtr="0">
            <a:noAutofit/>
          </a:bodyPr>
          <a:lstStyle/>
          <a:p>
            <a:pPr marL="457200" indent="-400050"/>
            <a:r>
              <a:rPr lang="en">
                <a:latin typeface="DM Mono Medium"/>
                <a:ea typeface="DM Mono Medium"/>
                <a:cs typeface="DM Mono Medium"/>
                <a:sym typeface="DM Mono Medium"/>
              </a:rPr>
              <a:t>Data Warehouses can’t fully support all your data</a:t>
            </a:r>
            <a:endParaRPr>
              <a:latin typeface="DM Mono Medium"/>
              <a:ea typeface="DM Mono Medium"/>
              <a:cs typeface="DM Mono Medium"/>
              <a:sym typeface="DM Mono Medium"/>
            </a:endParaRPr>
          </a:p>
        </p:txBody>
      </p:sp>
      <p:pic>
        <p:nvPicPr>
          <p:cNvPr id="3030" name="Google Shape;3030;p461"/>
          <p:cNvPicPr preferRelativeResize="0"/>
          <p:nvPr/>
        </p:nvPicPr>
        <p:blipFill rotWithShape="1">
          <a:blip r:embed="rId3">
            <a:alphaModFix/>
          </a:blip>
          <a:srcRect/>
          <a:stretch/>
        </p:blipFill>
        <p:spPr>
          <a:xfrm>
            <a:off x="4449500" y="3385148"/>
            <a:ext cx="776875" cy="801012"/>
          </a:xfrm>
          <a:prstGeom prst="rect">
            <a:avLst/>
          </a:prstGeom>
          <a:noFill/>
          <a:ln>
            <a:noFill/>
          </a:ln>
        </p:spPr>
      </p:pic>
      <p:sp>
        <p:nvSpPr>
          <p:cNvPr id="3031" name="Google Shape;3031;p461"/>
          <p:cNvSpPr/>
          <p:nvPr/>
        </p:nvSpPr>
        <p:spPr>
          <a:xfrm>
            <a:off x="1169264" y="2622272"/>
            <a:ext cx="1309800" cy="539700"/>
          </a:xfrm>
          <a:prstGeom prst="rect">
            <a:avLst/>
          </a:prstGeom>
          <a:solidFill>
            <a:schemeClr val="lt2"/>
          </a:solidFill>
          <a:ln w="19050" cap="flat" cmpd="sng">
            <a:solidFill>
              <a:srgbClr val="618794"/>
            </a:solidFill>
            <a:prstDash val="solid"/>
            <a:round/>
            <a:headEnd type="none" w="sm" len="sm"/>
            <a:tailEnd type="none" w="sm" len="sm"/>
          </a:ln>
        </p:spPr>
        <p:txBody>
          <a:bodyPr spcFirstLastPara="1" wrap="square" lIns="91425" tIns="45700" rIns="91425" bIns="45700" anchor="ctr" anchorCtr="0">
            <a:noAutofit/>
          </a:bodyPr>
          <a:lstStyle/>
          <a:p>
            <a:pPr algn="ctr">
              <a:buClr>
                <a:srgbClr val="000000"/>
              </a:buClr>
              <a:buSzPts val="1400"/>
            </a:pPr>
            <a:r>
              <a:rPr lang="en" sz="1000">
                <a:solidFill>
                  <a:schemeClr val="dk1"/>
                </a:solidFill>
                <a:latin typeface="DM Sans"/>
                <a:ea typeface="DM Sans"/>
                <a:cs typeface="DM Sans"/>
                <a:sym typeface="DM Sans"/>
              </a:rPr>
              <a:t>Structured</a:t>
            </a:r>
            <a:endParaRPr sz="1000">
              <a:solidFill>
                <a:schemeClr val="dk1"/>
              </a:solidFill>
              <a:latin typeface="DM Sans"/>
              <a:ea typeface="DM Sans"/>
              <a:cs typeface="DM Sans"/>
              <a:sym typeface="DM Sans"/>
            </a:endParaRPr>
          </a:p>
        </p:txBody>
      </p:sp>
      <p:cxnSp>
        <p:nvCxnSpPr>
          <p:cNvPr id="3032" name="Google Shape;3032;p461"/>
          <p:cNvCxnSpPr/>
          <p:nvPr/>
        </p:nvCxnSpPr>
        <p:spPr>
          <a:xfrm>
            <a:off x="2922844" y="3785657"/>
            <a:ext cx="1122600" cy="0"/>
          </a:xfrm>
          <a:prstGeom prst="straightConnector1">
            <a:avLst/>
          </a:prstGeom>
          <a:noFill/>
          <a:ln w="9525" cap="flat" cmpd="sng">
            <a:solidFill>
              <a:schemeClr val="dk1"/>
            </a:solidFill>
            <a:prstDash val="solid"/>
            <a:round/>
            <a:headEnd type="none" w="sm" len="sm"/>
            <a:tailEnd type="triangle" w="med" len="med"/>
          </a:ln>
        </p:spPr>
      </p:cxnSp>
      <p:sp>
        <p:nvSpPr>
          <p:cNvPr id="3033" name="Google Shape;3033;p461"/>
          <p:cNvSpPr/>
          <p:nvPr/>
        </p:nvSpPr>
        <p:spPr>
          <a:xfrm>
            <a:off x="1169264" y="4571952"/>
            <a:ext cx="1309800" cy="539700"/>
          </a:xfrm>
          <a:prstGeom prst="rect">
            <a:avLst/>
          </a:prstGeom>
          <a:solidFill>
            <a:schemeClr val="lt2"/>
          </a:solidFill>
          <a:ln w="19050" cap="flat" cmpd="sng">
            <a:solidFill>
              <a:srgbClr val="618794"/>
            </a:solidFill>
            <a:prstDash val="solid"/>
            <a:round/>
            <a:headEnd type="none" w="sm" len="sm"/>
            <a:tailEnd type="none" w="sm" len="sm"/>
          </a:ln>
        </p:spPr>
        <p:txBody>
          <a:bodyPr spcFirstLastPara="1" wrap="square" lIns="91425" tIns="45700" rIns="91425" bIns="45700" anchor="ctr" anchorCtr="0">
            <a:noAutofit/>
          </a:bodyPr>
          <a:lstStyle/>
          <a:p>
            <a:pPr algn="ctr">
              <a:buClr>
                <a:srgbClr val="000000"/>
              </a:buClr>
              <a:buSzPts val="1400"/>
            </a:pPr>
            <a:r>
              <a:rPr lang="en" sz="1000">
                <a:solidFill>
                  <a:schemeClr val="dk1"/>
                </a:solidFill>
                <a:latin typeface="DM Sans"/>
                <a:ea typeface="DM Sans"/>
                <a:cs typeface="DM Sans"/>
                <a:sym typeface="DM Sans"/>
              </a:rPr>
              <a:t>Unstructured</a:t>
            </a:r>
            <a:endParaRPr sz="1000">
              <a:solidFill>
                <a:schemeClr val="dk1"/>
              </a:solidFill>
              <a:latin typeface="DM Sans"/>
              <a:ea typeface="DM Sans"/>
              <a:cs typeface="DM Sans"/>
              <a:sym typeface="DM Sans"/>
            </a:endParaRPr>
          </a:p>
        </p:txBody>
      </p:sp>
      <p:sp>
        <p:nvSpPr>
          <p:cNvPr id="3034" name="Google Shape;3034;p461"/>
          <p:cNvSpPr/>
          <p:nvPr/>
        </p:nvSpPr>
        <p:spPr>
          <a:xfrm>
            <a:off x="1169264" y="3597112"/>
            <a:ext cx="1309800" cy="539700"/>
          </a:xfrm>
          <a:prstGeom prst="rect">
            <a:avLst/>
          </a:prstGeom>
          <a:solidFill>
            <a:schemeClr val="lt2"/>
          </a:solidFill>
          <a:ln w="19050" cap="flat" cmpd="sng">
            <a:solidFill>
              <a:srgbClr val="618794"/>
            </a:solidFill>
            <a:prstDash val="solid"/>
            <a:round/>
            <a:headEnd type="none" w="sm" len="sm"/>
            <a:tailEnd type="none" w="sm" len="sm"/>
          </a:ln>
        </p:spPr>
        <p:txBody>
          <a:bodyPr spcFirstLastPara="1" wrap="square" lIns="91425" tIns="45700" rIns="91425" bIns="45700" anchor="ctr" anchorCtr="0">
            <a:noAutofit/>
          </a:bodyPr>
          <a:lstStyle/>
          <a:p>
            <a:pPr algn="ctr">
              <a:buClr>
                <a:srgbClr val="000000"/>
              </a:buClr>
              <a:buSzPts val="1400"/>
            </a:pPr>
            <a:r>
              <a:rPr lang="en" sz="1000">
                <a:solidFill>
                  <a:schemeClr val="dk1"/>
                </a:solidFill>
                <a:latin typeface="DM Sans"/>
                <a:ea typeface="DM Sans"/>
                <a:cs typeface="DM Sans"/>
                <a:sym typeface="DM Sans"/>
              </a:rPr>
              <a:t>Semi-Structured</a:t>
            </a:r>
            <a:endParaRPr sz="1000">
              <a:solidFill>
                <a:schemeClr val="dk1"/>
              </a:solidFill>
              <a:latin typeface="DM Sans"/>
              <a:ea typeface="DM Sans"/>
              <a:cs typeface="DM Sans"/>
              <a:sym typeface="DM Sans"/>
            </a:endParaRPr>
          </a:p>
        </p:txBody>
      </p:sp>
      <p:sp>
        <p:nvSpPr>
          <p:cNvPr id="3035" name="Google Shape;3035;p461"/>
          <p:cNvSpPr txBox="1"/>
          <p:nvPr/>
        </p:nvSpPr>
        <p:spPr>
          <a:xfrm>
            <a:off x="2689532" y="5149168"/>
            <a:ext cx="1671900" cy="560400"/>
          </a:xfrm>
          <a:prstGeom prst="rect">
            <a:avLst/>
          </a:prstGeom>
          <a:noFill/>
          <a:ln>
            <a:noFill/>
          </a:ln>
        </p:spPr>
        <p:txBody>
          <a:bodyPr spcFirstLastPara="1" wrap="square" lIns="0" tIns="0" rIns="0" bIns="0" anchor="ctr" anchorCtr="0">
            <a:noAutofit/>
          </a:bodyPr>
          <a:lstStyle/>
          <a:p>
            <a:pPr algn="ctr">
              <a:buClr>
                <a:srgbClr val="000000"/>
              </a:buClr>
              <a:buSzPts val="1300"/>
            </a:pPr>
            <a:r>
              <a:rPr lang="en" sz="1100" b="1">
                <a:solidFill>
                  <a:schemeClr val="accent1"/>
                </a:solidFill>
                <a:latin typeface="DM Sans"/>
                <a:ea typeface="DM Sans"/>
                <a:cs typeface="DM Sans"/>
                <a:sym typeface="DM Sans"/>
              </a:rPr>
              <a:t>Limited support for unstructured data (audio/images/video)</a:t>
            </a:r>
            <a:endParaRPr sz="1100" b="1">
              <a:solidFill>
                <a:schemeClr val="accent1"/>
              </a:solidFill>
              <a:latin typeface="DM Sans"/>
              <a:ea typeface="DM Sans"/>
              <a:cs typeface="DM Sans"/>
              <a:sym typeface="DM Sans"/>
            </a:endParaRPr>
          </a:p>
        </p:txBody>
      </p:sp>
      <p:sp>
        <p:nvSpPr>
          <p:cNvPr id="3036" name="Google Shape;3036;p461"/>
          <p:cNvSpPr txBox="1"/>
          <p:nvPr/>
        </p:nvSpPr>
        <p:spPr>
          <a:xfrm>
            <a:off x="4029598" y="5966765"/>
            <a:ext cx="1616700" cy="522900"/>
          </a:xfrm>
          <a:prstGeom prst="rect">
            <a:avLst/>
          </a:prstGeom>
          <a:noFill/>
          <a:ln>
            <a:noFill/>
          </a:ln>
        </p:spPr>
        <p:txBody>
          <a:bodyPr spcFirstLastPara="1" wrap="square" lIns="0" tIns="0" rIns="0" bIns="0" anchor="ctr" anchorCtr="0">
            <a:noAutofit/>
          </a:bodyPr>
          <a:lstStyle/>
          <a:p>
            <a:pPr algn="ctr">
              <a:buClr>
                <a:srgbClr val="000000"/>
              </a:buClr>
              <a:buSzPts val="1300"/>
            </a:pPr>
            <a:r>
              <a:rPr lang="en" sz="1100" b="1">
                <a:solidFill>
                  <a:schemeClr val="accent1"/>
                </a:solidFill>
                <a:latin typeface="DM Sans"/>
                <a:ea typeface="DM Sans"/>
                <a:cs typeface="DM Sans"/>
                <a:sym typeface="DM Sans"/>
              </a:rPr>
              <a:t>Lock-in / proprietary format</a:t>
            </a:r>
            <a:endParaRPr sz="1100" b="1">
              <a:solidFill>
                <a:schemeClr val="accent1"/>
              </a:solidFill>
              <a:latin typeface="DM Sans"/>
              <a:ea typeface="DM Sans"/>
              <a:cs typeface="DM Sans"/>
              <a:sym typeface="DM Sans"/>
            </a:endParaRPr>
          </a:p>
        </p:txBody>
      </p:sp>
      <p:cxnSp>
        <p:nvCxnSpPr>
          <p:cNvPr id="3037" name="Google Shape;3037;p461"/>
          <p:cNvCxnSpPr/>
          <p:nvPr/>
        </p:nvCxnSpPr>
        <p:spPr>
          <a:xfrm>
            <a:off x="2922856" y="2892120"/>
            <a:ext cx="1122600" cy="0"/>
          </a:xfrm>
          <a:prstGeom prst="straightConnector1">
            <a:avLst/>
          </a:prstGeom>
          <a:noFill/>
          <a:ln w="9525" cap="flat" cmpd="sng">
            <a:solidFill>
              <a:schemeClr val="dk1"/>
            </a:solidFill>
            <a:prstDash val="solid"/>
            <a:round/>
            <a:headEnd type="none" w="sm" len="sm"/>
            <a:tailEnd type="triangle" w="med" len="med"/>
          </a:ln>
        </p:spPr>
      </p:cxnSp>
      <p:cxnSp>
        <p:nvCxnSpPr>
          <p:cNvPr id="3038" name="Google Shape;3038;p461"/>
          <p:cNvCxnSpPr/>
          <p:nvPr/>
        </p:nvCxnSpPr>
        <p:spPr>
          <a:xfrm>
            <a:off x="2922844" y="4909382"/>
            <a:ext cx="1122600" cy="0"/>
          </a:xfrm>
          <a:prstGeom prst="straightConnector1">
            <a:avLst/>
          </a:prstGeom>
          <a:noFill/>
          <a:ln w="9525" cap="flat" cmpd="sng">
            <a:solidFill>
              <a:schemeClr val="dk1"/>
            </a:solidFill>
            <a:prstDash val="solid"/>
            <a:round/>
            <a:headEnd type="none" w="sm" len="sm"/>
            <a:tailEnd type="triangle" w="med" len="med"/>
          </a:ln>
        </p:spPr>
      </p:cxnSp>
      <p:grpSp>
        <p:nvGrpSpPr>
          <p:cNvPr id="3039" name="Google Shape;3039;p461"/>
          <p:cNvGrpSpPr/>
          <p:nvPr/>
        </p:nvGrpSpPr>
        <p:grpSpPr>
          <a:xfrm>
            <a:off x="1120379" y="5272435"/>
            <a:ext cx="1460100" cy="823025"/>
            <a:chOff x="889816" y="1668671"/>
            <a:chExt cx="1460100" cy="823025"/>
          </a:xfrm>
        </p:grpSpPr>
        <p:sp>
          <p:nvSpPr>
            <p:cNvPr id="3040" name="Google Shape;3040;p461"/>
            <p:cNvSpPr/>
            <p:nvPr/>
          </p:nvSpPr>
          <p:spPr>
            <a:xfrm>
              <a:off x="1072910" y="1682597"/>
              <a:ext cx="1044300" cy="809100"/>
            </a:xfrm>
            <a:prstGeom prst="rect">
              <a:avLst/>
            </a:prstGeom>
            <a:solidFill>
              <a:srgbClr val="FEFEFE"/>
            </a:solidFill>
            <a:ln w="19050" cap="flat" cmpd="sng">
              <a:solidFill>
                <a:srgbClr val="618794"/>
              </a:solidFill>
              <a:prstDash val="solid"/>
              <a:round/>
              <a:headEnd type="none" w="sm" len="sm"/>
              <a:tailEnd type="none" w="sm" len="sm"/>
            </a:ln>
          </p:spPr>
          <p:txBody>
            <a:bodyPr spcFirstLastPara="1" wrap="square" lIns="91425" tIns="45700" rIns="91425" bIns="45700" anchor="ctr" anchorCtr="0">
              <a:noAutofit/>
            </a:bodyPr>
            <a:lstStyle/>
            <a:p>
              <a:pPr algn="ctr">
                <a:buClr>
                  <a:srgbClr val="000000"/>
                </a:buClr>
                <a:buSzPts val="1400"/>
              </a:pPr>
              <a:endParaRPr sz="1400">
                <a:solidFill>
                  <a:schemeClr val="dk1"/>
                </a:solidFill>
                <a:latin typeface="Arial"/>
                <a:ea typeface="Arial"/>
                <a:cs typeface="Arial"/>
                <a:sym typeface="Arial"/>
              </a:endParaRPr>
            </a:p>
          </p:txBody>
        </p:sp>
        <p:sp>
          <p:nvSpPr>
            <p:cNvPr id="3041" name="Google Shape;3041;p461"/>
            <p:cNvSpPr/>
            <p:nvPr/>
          </p:nvSpPr>
          <p:spPr>
            <a:xfrm>
              <a:off x="1097366" y="2286779"/>
              <a:ext cx="1015800" cy="168000"/>
            </a:xfrm>
            <a:prstGeom prst="rect">
              <a:avLst/>
            </a:prstGeom>
            <a:noFill/>
            <a:ln>
              <a:noFill/>
            </a:ln>
          </p:spPr>
          <p:txBody>
            <a:bodyPr spcFirstLastPara="1" wrap="square" lIns="121875" tIns="121875" rIns="121875" bIns="121875" anchor="ctr" anchorCtr="0">
              <a:noAutofit/>
            </a:bodyPr>
            <a:lstStyle/>
            <a:p>
              <a:pPr algn="ctr"/>
              <a:r>
                <a:rPr lang="en" sz="900">
                  <a:solidFill>
                    <a:schemeClr val="dk1"/>
                  </a:solidFill>
                  <a:latin typeface="DM Sans"/>
                  <a:ea typeface="DM Sans"/>
                  <a:cs typeface="DM Sans"/>
                  <a:sym typeface="DM Sans"/>
                </a:rPr>
                <a:t>DATA LAKE</a:t>
              </a:r>
              <a:endParaRPr sz="900">
                <a:solidFill>
                  <a:schemeClr val="dk1"/>
                </a:solidFill>
                <a:latin typeface="DM Sans"/>
                <a:ea typeface="DM Sans"/>
                <a:cs typeface="DM Sans"/>
                <a:sym typeface="DM Sans"/>
              </a:endParaRPr>
            </a:p>
          </p:txBody>
        </p:sp>
        <p:pic>
          <p:nvPicPr>
            <p:cNvPr id="3042" name="Google Shape;3042;p461"/>
            <p:cNvPicPr preferRelativeResize="0"/>
            <p:nvPr/>
          </p:nvPicPr>
          <p:blipFill rotWithShape="1">
            <a:blip r:embed="rId4">
              <a:alphaModFix/>
            </a:blip>
            <a:srcRect/>
            <a:stretch/>
          </p:blipFill>
          <p:spPr>
            <a:xfrm>
              <a:off x="1360253" y="1668671"/>
              <a:ext cx="476087" cy="476081"/>
            </a:xfrm>
            <a:prstGeom prst="rect">
              <a:avLst/>
            </a:prstGeom>
            <a:noFill/>
            <a:ln>
              <a:noFill/>
            </a:ln>
          </p:spPr>
        </p:pic>
        <p:sp>
          <p:nvSpPr>
            <p:cNvPr id="3043" name="Google Shape;3043;p461"/>
            <p:cNvSpPr/>
            <p:nvPr/>
          </p:nvSpPr>
          <p:spPr>
            <a:xfrm>
              <a:off x="889816" y="2077380"/>
              <a:ext cx="1460100" cy="264600"/>
            </a:xfrm>
            <a:prstGeom prst="rect">
              <a:avLst/>
            </a:prstGeom>
            <a:noFill/>
            <a:ln>
              <a:noFill/>
            </a:ln>
          </p:spPr>
          <p:txBody>
            <a:bodyPr spcFirstLastPara="1" wrap="square" lIns="121875" tIns="121875" rIns="121875" bIns="121875" anchor="ctr" anchorCtr="0">
              <a:noAutofit/>
            </a:bodyPr>
            <a:lstStyle/>
            <a:p>
              <a:pPr algn="ctr">
                <a:buClr>
                  <a:srgbClr val="000000"/>
                </a:buClr>
                <a:buSzPts val="900"/>
              </a:pPr>
              <a:r>
                <a:rPr lang="en" sz="600">
                  <a:solidFill>
                    <a:schemeClr val="dk1"/>
                  </a:solidFill>
                  <a:latin typeface="DM Sans"/>
                  <a:ea typeface="DM Sans"/>
                  <a:cs typeface="DM Sans"/>
                  <a:sym typeface="DM Sans"/>
                </a:rPr>
                <a:t>ADLS      S3      GCS</a:t>
              </a:r>
              <a:endParaRPr sz="600">
                <a:solidFill>
                  <a:schemeClr val="dk1"/>
                </a:solidFill>
                <a:latin typeface="DM Sans"/>
                <a:ea typeface="DM Sans"/>
                <a:cs typeface="DM Sans"/>
                <a:sym typeface="DM Sans"/>
              </a:endParaRPr>
            </a:p>
          </p:txBody>
        </p:sp>
      </p:grpSp>
      <p:sp>
        <p:nvSpPr>
          <p:cNvPr id="3044" name="Google Shape;3044;p461"/>
          <p:cNvSpPr txBox="1"/>
          <p:nvPr/>
        </p:nvSpPr>
        <p:spPr>
          <a:xfrm>
            <a:off x="2925263" y="6138300"/>
            <a:ext cx="1117800" cy="435900"/>
          </a:xfrm>
          <a:prstGeom prst="rect">
            <a:avLst/>
          </a:prstGeom>
          <a:noFill/>
          <a:ln>
            <a:noFill/>
          </a:ln>
        </p:spPr>
        <p:txBody>
          <a:bodyPr spcFirstLastPara="1" wrap="square" lIns="0" tIns="0" rIns="0" bIns="0" anchor="ctr" anchorCtr="0">
            <a:noAutofit/>
          </a:bodyPr>
          <a:lstStyle/>
          <a:p>
            <a:pPr algn="ctr">
              <a:buClr>
                <a:srgbClr val="000000"/>
              </a:buClr>
              <a:buSzPts val="1300"/>
            </a:pPr>
            <a:r>
              <a:rPr lang="en" sz="1100" b="1">
                <a:solidFill>
                  <a:schemeClr val="accent1"/>
                </a:solidFill>
                <a:latin typeface="DM Sans"/>
                <a:ea typeface="DM Sans"/>
                <a:cs typeface="DM Sans"/>
                <a:sym typeface="DM Sans"/>
              </a:rPr>
              <a:t>Data is replicated</a:t>
            </a:r>
            <a:endParaRPr sz="1100" b="1">
              <a:solidFill>
                <a:schemeClr val="accent1"/>
              </a:solidFill>
              <a:latin typeface="DM Sans"/>
              <a:ea typeface="DM Sans"/>
              <a:cs typeface="DM Sans"/>
              <a:sym typeface="DM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049"/>
        <p:cNvGrpSpPr/>
        <p:nvPr/>
      </p:nvGrpSpPr>
      <p:grpSpPr>
        <a:xfrm>
          <a:off x="0" y="0"/>
          <a:ext cx="0" cy="0"/>
          <a:chOff x="0" y="0"/>
          <a:chExt cx="0" cy="0"/>
        </a:xfrm>
      </p:grpSpPr>
      <p:sp>
        <p:nvSpPr>
          <p:cNvPr id="3050" name="Google Shape;3050;p462"/>
          <p:cNvSpPr txBox="1">
            <a:spLocks noGrp="1"/>
          </p:cNvSpPr>
          <p:nvPr>
            <p:ph type="title"/>
          </p:nvPr>
        </p:nvSpPr>
        <p:spPr>
          <a:xfrm>
            <a:off x="750833" y="535597"/>
            <a:ext cx="10659300" cy="583500"/>
          </a:xfrm>
          <a:prstGeom prst="rect">
            <a:avLst/>
          </a:prstGeom>
          <a:noFill/>
          <a:ln>
            <a:noFill/>
          </a:ln>
        </p:spPr>
        <p:txBody>
          <a:bodyPr spcFirstLastPara="1" vert="horz" wrap="square" lIns="0" tIns="0" rIns="0" bIns="0" rtlCol="0" anchor="ctr" anchorCtr="0">
            <a:noAutofit/>
          </a:bodyPr>
          <a:lstStyle/>
          <a:p>
            <a:r>
              <a:rPr lang="en" sz="3600"/>
              <a:t>Why not use a cloud data warehouse?</a:t>
            </a:r>
            <a:endParaRPr sz="3600"/>
          </a:p>
        </p:txBody>
      </p:sp>
      <p:sp>
        <p:nvSpPr>
          <p:cNvPr id="3051" name="Google Shape;3051;p462"/>
          <p:cNvSpPr txBox="1">
            <a:spLocks noGrp="1"/>
          </p:cNvSpPr>
          <p:nvPr>
            <p:ph type="subTitle" idx="1"/>
          </p:nvPr>
        </p:nvSpPr>
        <p:spPr>
          <a:xfrm>
            <a:off x="766397" y="1174702"/>
            <a:ext cx="10659300" cy="583500"/>
          </a:xfrm>
          <a:prstGeom prst="rect">
            <a:avLst/>
          </a:prstGeom>
          <a:noFill/>
          <a:ln>
            <a:noFill/>
          </a:ln>
        </p:spPr>
        <p:txBody>
          <a:bodyPr spcFirstLastPara="1" vert="horz" wrap="square" lIns="0" tIns="0" rIns="0" bIns="0" rtlCol="0" anchor="t" anchorCtr="0">
            <a:noAutofit/>
          </a:bodyPr>
          <a:lstStyle/>
          <a:p>
            <a:pPr marL="457200" indent="-400050"/>
            <a:r>
              <a:rPr lang="en">
                <a:latin typeface="DM Mono Medium"/>
                <a:ea typeface="DM Mono Medium"/>
                <a:cs typeface="DM Mono Medium"/>
                <a:sym typeface="DM Mono Medium"/>
              </a:rPr>
              <a:t>Data Warehouses are inefficient with data transformation</a:t>
            </a:r>
            <a:endParaRPr>
              <a:latin typeface="DM Mono Medium"/>
              <a:ea typeface="DM Mono Medium"/>
              <a:cs typeface="DM Mono Medium"/>
              <a:sym typeface="DM Mono Medium"/>
            </a:endParaRPr>
          </a:p>
        </p:txBody>
      </p:sp>
      <p:sp>
        <p:nvSpPr>
          <p:cNvPr id="3052" name="Google Shape;3052;p462"/>
          <p:cNvSpPr/>
          <p:nvPr/>
        </p:nvSpPr>
        <p:spPr>
          <a:xfrm>
            <a:off x="1169264" y="2622272"/>
            <a:ext cx="1309800" cy="539700"/>
          </a:xfrm>
          <a:prstGeom prst="rect">
            <a:avLst/>
          </a:prstGeom>
          <a:solidFill>
            <a:schemeClr val="lt2"/>
          </a:solidFill>
          <a:ln w="19050" cap="flat" cmpd="sng">
            <a:solidFill>
              <a:srgbClr val="618794"/>
            </a:solidFill>
            <a:prstDash val="solid"/>
            <a:round/>
            <a:headEnd type="none" w="sm" len="sm"/>
            <a:tailEnd type="none" w="sm" len="sm"/>
          </a:ln>
        </p:spPr>
        <p:txBody>
          <a:bodyPr spcFirstLastPara="1" wrap="square" lIns="91425" tIns="45700" rIns="91425" bIns="45700" anchor="ctr" anchorCtr="0">
            <a:noAutofit/>
          </a:bodyPr>
          <a:lstStyle/>
          <a:p>
            <a:pPr algn="ctr">
              <a:buClr>
                <a:srgbClr val="000000"/>
              </a:buClr>
              <a:buSzPts val="1400"/>
            </a:pPr>
            <a:r>
              <a:rPr lang="en" sz="1000">
                <a:solidFill>
                  <a:schemeClr val="dk1"/>
                </a:solidFill>
                <a:latin typeface="DM Sans"/>
                <a:ea typeface="DM Sans"/>
                <a:cs typeface="DM Sans"/>
                <a:sym typeface="DM Sans"/>
              </a:rPr>
              <a:t>Structured</a:t>
            </a:r>
            <a:endParaRPr sz="1000">
              <a:solidFill>
                <a:schemeClr val="dk1"/>
              </a:solidFill>
              <a:latin typeface="DM Sans"/>
              <a:ea typeface="DM Sans"/>
              <a:cs typeface="DM Sans"/>
              <a:sym typeface="DM Sans"/>
            </a:endParaRPr>
          </a:p>
        </p:txBody>
      </p:sp>
      <p:cxnSp>
        <p:nvCxnSpPr>
          <p:cNvPr id="3053" name="Google Shape;3053;p462"/>
          <p:cNvCxnSpPr/>
          <p:nvPr/>
        </p:nvCxnSpPr>
        <p:spPr>
          <a:xfrm>
            <a:off x="2922844" y="3785657"/>
            <a:ext cx="1122600" cy="0"/>
          </a:xfrm>
          <a:prstGeom prst="straightConnector1">
            <a:avLst/>
          </a:prstGeom>
          <a:noFill/>
          <a:ln w="9525" cap="flat" cmpd="sng">
            <a:solidFill>
              <a:schemeClr val="dk1"/>
            </a:solidFill>
            <a:prstDash val="solid"/>
            <a:round/>
            <a:headEnd type="none" w="sm" len="sm"/>
            <a:tailEnd type="triangle" w="med" len="med"/>
          </a:ln>
        </p:spPr>
      </p:cxnSp>
      <p:sp>
        <p:nvSpPr>
          <p:cNvPr id="3054" name="Google Shape;3054;p462"/>
          <p:cNvSpPr/>
          <p:nvPr/>
        </p:nvSpPr>
        <p:spPr>
          <a:xfrm>
            <a:off x="1169264" y="4571952"/>
            <a:ext cx="1309800" cy="539700"/>
          </a:xfrm>
          <a:prstGeom prst="rect">
            <a:avLst/>
          </a:prstGeom>
          <a:solidFill>
            <a:schemeClr val="lt2"/>
          </a:solidFill>
          <a:ln w="19050" cap="flat" cmpd="sng">
            <a:solidFill>
              <a:srgbClr val="618794"/>
            </a:solidFill>
            <a:prstDash val="solid"/>
            <a:round/>
            <a:headEnd type="none" w="sm" len="sm"/>
            <a:tailEnd type="none" w="sm" len="sm"/>
          </a:ln>
        </p:spPr>
        <p:txBody>
          <a:bodyPr spcFirstLastPara="1" wrap="square" lIns="91425" tIns="45700" rIns="91425" bIns="45700" anchor="ctr" anchorCtr="0">
            <a:noAutofit/>
          </a:bodyPr>
          <a:lstStyle/>
          <a:p>
            <a:pPr algn="ctr">
              <a:buClr>
                <a:srgbClr val="000000"/>
              </a:buClr>
              <a:buSzPts val="1400"/>
            </a:pPr>
            <a:r>
              <a:rPr lang="en" sz="1000">
                <a:solidFill>
                  <a:schemeClr val="dk1"/>
                </a:solidFill>
                <a:latin typeface="DM Sans"/>
                <a:ea typeface="DM Sans"/>
                <a:cs typeface="DM Sans"/>
                <a:sym typeface="DM Sans"/>
              </a:rPr>
              <a:t>Unstructured</a:t>
            </a:r>
            <a:endParaRPr sz="1000">
              <a:solidFill>
                <a:schemeClr val="dk1"/>
              </a:solidFill>
              <a:latin typeface="DM Sans"/>
              <a:ea typeface="DM Sans"/>
              <a:cs typeface="DM Sans"/>
              <a:sym typeface="DM Sans"/>
            </a:endParaRPr>
          </a:p>
        </p:txBody>
      </p:sp>
      <p:sp>
        <p:nvSpPr>
          <p:cNvPr id="3055" name="Google Shape;3055;p462"/>
          <p:cNvSpPr/>
          <p:nvPr/>
        </p:nvSpPr>
        <p:spPr>
          <a:xfrm>
            <a:off x="1169264" y="3597112"/>
            <a:ext cx="1309800" cy="539700"/>
          </a:xfrm>
          <a:prstGeom prst="rect">
            <a:avLst/>
          </a:prstGeom>
          <a:solidFill>
            <a:schemeClr val="lt2"/>
          </a:solidFill>
          <a:ln w="19050" cap="flat" cmpd="sng">
            <a:solidFill>
              <a:srgbClr val="618794"/>
            </a:solidFill>
            <a:prstDash val="solid"/>
            <a:round/>
            <a:headEnd type="none" w="sm" len="sm"/>
            <a:tailEnd type="none" w="sm" len="sm"/>
          </a:ln>
        </p:spPr>
        <p:txBody>
          <a:bodyPr spcFirstLastPara="1" wrap="square" lIns="91425" tIns="45700" rIns="91425" bIns="45700" anchor="ctr" anchorCtr="0">
            <a:noAutofit/>
          </a:bodyPr>
          <a:lstStyle/>
          <a:p>
            <a:pPr algn="ctr">
              <a:buClr>
                <a:srgbClr val="000000"/>
              </a:buClr>
              <a:buSzPts val="1400"/>
            </a:pPr>
            <a:r>
              <a:rPr lang="en" sz="1000">
                <a:solidFill>
                  <a:schemeClr val="dk1"/>
                </a:solidFill>
                <a:latin typeface="DM Sans"/>
                <a:ea typeface="DM Sans"/>
                <a:cs typeface="DM Sans"/>
                <a:sym typeface="DM Sans"/>
              </a:rPr>
              <a:t>Semi-Structured</a:t>
            </a:r>
            <a:endParaRPr sz="1000">
              <a:solidFill>
                <a:schemeClr val="dk1"/>
              </a:solidFill>
              <a:latin typeface="DM Sans"/>
              <a:ea typeface="DM Sans"/>
              <a:cs typeface="DM Sans"/>
              <a:sym typeface="DM Sans"/>
            </a:endParaRPr>
          </a:p>
        </p:txBody>
      </p:sp>
      <p:sp>
        <p:nvSpPr>
          <p:cNvPr id="3056" name="Google Shape;3056;p462"/>
          <p:cNvSpPr txBox="1"/>
          <p:nvPr/>
        </p:nvSpPr>
        <p:spPr>
          <a:xfrm>
            <a:off x="2947380" y="4102253"/>
            <a:ext cx="1156200" cy="332700"/>
          </a:xfrm>
          <a:prstGeom prst="rect">
            <a:avLst/>
          </a:prstGeom>
          <a:noFill/>
          <a:ln>
            <a:noFill/>
          </a:ln>
        </p:spPr>
        <p:txBody>
          <a:bodyPr spcFirstLastPara="1" wrap="square" lIns="0" tIns="0" rIns="0" bIns="0" anchor="ctr" anchorCtr="0">
            <a:noAutofit/>
          </a:bodyPr>
          <a:lstStyle/>
          <a:p>
            <a:pPr algn="ctr">
              <a:buClr>
                <a:srgbClr val="000000"/>
              </a:buClr>
              <a:buSzPts val="1300"/>
            </a:pPr>
            <a:r>
              <a:rPr lang="en" sz="1100" b="1">
                <a:solidFill>
                  <a:schemeClr val="accent1"/>
                </a:solidFill>
                <a:latin typeface="DM Sans"/>
                <a:ea typeface="DM Sans"/>
                <a:cs typeface="DM Sans"/>
                <a:sym typeface="DM Sans"/>
              </a:rPr>
              <a:t>Limited support for streaming</a:t>
            </a:r>
            <a:endParaRPr sz="1100">
              <a:solidFill>
                <a:schemeClr val="accent1"/>
              </a:solidFill>
              <a:latin typeface="DM Sans"/>
              <a:ea typeface="DM Sans"/>
              <a:cs typeface="DM Sans"/>
              <a:sym typeface="DM Sans"/>
            </a:endParaRPr>
          </a:p>
        </p:txBody>
      </p:sp>
      <p:sp>
        <p:nvSpPr>
          <p:cNvPr id="3057" name="Google Shape;3057;p462"/>
          <p:cNvSpPr txBox="1"/>
          <p:nvPr/>
        </p:nvSpPr>
        <p:spPr>
          <a:xfrm>
            <a:off x="2689532" y="5149168"/>
            <a:ext cx="1671900" cy="560400"/>
          </a:xfrm>
          <a:prstGeom prst="rect">
            <a:avLst/>
          </a:prstGeom>
          <a:noFill/>
          <a:ln>
            <a:noFill/>
          </a:ln>
        </p:spPr>
        <p:txBody>
          <a:bodyPr spcFirstLastPara="1" wrap="square" lIns="0" tIns="0" rIns="0" bIns="0" anchor="ctr" anchorCtr="0">
            <a:noAutofit/>
          </a:bodyPr>
          <a:lstStyle/>
          <a:p>
            <a:pPr algn="ctr">
              <a:buClr>
                <a:srgbClr val="000000"/>
              </a:buClr>
              <a:buSzPts val="1300"/>
            </a:pPr>
            <a:r>
              <a:rPr lang="en" sz="1100" b="1">
                <a:solidFill>
                  <a:schemeClr val="accent1"/>
                </a:solidFill>
                <a:latin typeface="DM Sans"/>
                <a:ea typeface="DM Sans"/>
                <a:cs typeface="DM Sans"/>
                <a:sym typeface="DM Sans"/>
              </a:rPr>
              <a:t>Limited support for unstructured data (audio/images/video)</a:t>
            </a:r>
            <a:endParaRPr sz="1100" b="1">
              <a:solidFill>
                <a:schemeClr val="accent1"/>
              </a:solidFill>
              <a:latin typeface="DM Sans"/>
              <a:ea typeface="DM Sans"/>
              <a:cs typeface="DM Sans"/>
              <a:sym typeface="DM Sans"/>
            </a:endParaRPr>
          </a:p>
        </p:txBody>
      </p:sp>
      <p:sp>
        <p:nvSpPr>
          <p:cNvPr id="3058" name="Google Shape;3058;p462"/>
          <p:cNvSpPr txBox="1"/>
          <p:nvPr/>
        </p:nvSpPr>
        <p:spPr>
          <a:xfrm>
            <a:off x="2717032" y="3012651"/>
            <a:ext cx="1534200" cy="667800"/>
          </a:xfrm>
          <a:prstGeom prst="rect">
            <a:avLst/>
          </a:prstGeom>
          <a:noFill/>
          <a:ln>
            <a:noFill/>
          </a:ln>
        </p:spPr>
        <p:txBody>
          <a:bodyPr spcFirstLastPara="1" wrap="square" lIns="0" tIns="0" rIns="0" bIns="0" anchor="ctr" anchorCtr="0">
            <a:noAutofit/>
          </a:bodyPr>
          <a:lstStyle/>
          <a:p>
            <a:pPr algn="ctr">
              <a:buClr>
                <a:srgbClr val="000000"/>
              </a:buClr>
              <a:buSzPts val="1300"/>
            </a:pPr>
            <a:r>
              <a:rPr lang="en" sz="1100" b="1">
                <a:solidFill>
                  <a:schemeClr val="accent1"/>
                </a:solidFill>
                <a:latin typeface="DM Sans"/>
                <a:ea typeface="DM Sans"/>
                <a:cs typeface="DM Sans"/>
                <a:sym typeface="DM Sans"/>
              </a:rPr>
              <a:t>Complex &amp; many stages.</a:t>
            </a:r>
            <a:endParaRPr sz="1100" b="1">
              <a:solidFill>
                <a:schemeClr val="accent1"/>
              </a:solidFill>
              <a:latin typeface="DM Sans"/>
              <a:ea typeface="DM Sans"/>
              <a:cs typeface="DM Sans"/>
              <a:sym typeface="DM Sans"/>
            </a:endParaRPr>
          </a:p>
        </p:txBody>
      </p:sp>
      <p:sp>
        <p:nvSpPr>
          <p:cNvPr id="3059" name="Google Shape;3059;p462"/>
          <p:cNvSpPr txBox="1"/>
          <p:nvPr/>
        </p:nvSpPr>
        <p:spPr>
          <a:xfrm>
            <a:off x="4029598" y="5966765"/>
            <a:ext cx="1616700" cy="522900"/>
          </a:xfrm>
          <a:prstGeom prst="rect">
            <a:avLst/>
          </a:prstGeom>
          <a:noFill/>
          <a:ln>
            <a:noFill/>
          </a:ln>
        </p:spPr>
        <p:txBody>
          <a:bodyPr spcFirstLastPara="1" wrap="square" lIns="0" tIns="0" rIns="0" bIns="0" anchor="ctr" anchorCtr="0">
            <a:noAutofit/>
          </a:bodyPr>
          <a:lstStyle/>
          <a:p>
            <a:pPr algn="ctr">
              <a:buClr>
                <a:srgbClr val="000000"/>
              </a:buClr>
              <a:buSzPts val="1300"/>
            </a:pPr>
            <a:r>
              <a:rPr lang="en" sz="1100" b="1">
                <a:solidFill>
                  <a:schemeClr val="accent1"/>
                </a:solidFill>
                <a:latin typeface="DM Sans"/>
                <a:ea typeface="DM Sans"/>
                <a:cs typeface="DM Sans"/>
                <a:sym typeface="DM Sans"/>
              </a:rPr>
              <a:t>Lock-in / proprietary format</a:t>
            </a:r>
            <a:endParaRPr sz="1100" b="1">
              <a:solidFill>
                <a:schemeClr val="accent1"/>
              </a:solidFill>
              <a:latin typeface="DM Sans"/>
              <a:ea typeface="DM Sans"/>
              <a:cs typeface="DM Sans"/>
              <a:sym typeface="DM Sans"/>
            </a:endParaRPr>
          </a:p>
        </p:txBody>
      </p:sp>
      <p:sp>
        <p:nvSpPr>
          <p:cNvPr id="3060" name="Google Shape;3060;p462"/>
          <p:cNvSpPr txBox="1"/>
          <p:nvPr/>
        </p:nvSpPr>
        <p:spPr>
          <a:xfrm>
            <a:off x="998288" y="1758207"/>
            <a:ext cx="1704300" cy="528000"/>
          </a:xfrm>
          <a:prstGeom prst="rect">
            <a:avLst/>
          </a:prstGeom>
          <a:noFill/>
          <a:ln>
            <a:noFill/>
          </a:ln>
        </p:spPr>
        <p:txBody>
          <a:bodyPr spcFirstLastPara="1" wrap="square" lIns="0" tIns="0" rIns="0" bIns="0" anchor="ctr" anchorCtr="0">
            <a:noAutofit/>
          </a:bodyPr>
          <a:lstStyle/>
          <a:p>
            <a:pPr algn="ctr">
              <a:buClr>
                <a:srgbClr val="000000"/>
              </a:buClr>
              <a:buSzPts val="1300"/>
            </a:pPr>
            <a:r>
              <a:rPr lang="en" sz="1100" b="1">
                <a:solidFill>
                  <a:schemeClr val="accent1"/>
                </a:solidFill>
                <a:latin typeface="DM Sans"/>
                <a:ea typeface="DM Sans"/>
                <a:cs typeface="DM Sans"/>
                <a:sym typeface="DM Sans"/>
              </a:rPr>
              <a:t>Up to 6x the cost  for ELT workloads</a:t>
            </a:r>
            <a:endParaRPr sz="1100" b="1">
              <a:solidFill>
                <a:schemeClr val="accent1"/>
              </a:solidFill>
              <a:latin typeface="DM Sans"/>
              <a:ea typeface="DM Sans"/>
              <a:cs typeface="DM Sans"/>
              <a:sym typeface="DM Sans"/>
            </a:endParaRPr>
          </a:p>
        </p:txBody>
      </p:sp>
      <p:cxnSp>
        <p:nvCxnSpPr>
          <p:cNvPr id="3061" name="Google Shape;3061;p462"/>
          <p:cNvCxnSpPr/>
          <p:nvPr/>
        </p:nvCxnSpPr>
        <p:spPr>
          <a:xfrm>
            <a:off x="2922856" y="2892120"/>
            <a:ext cx="1122600" cy="0"/>
          </a:xfrm>
          <a:prstGeom prst="straightConnector1">
            <a:avLst/>
          </a:prstGeom>
          <a:noFill/>
          <a:ln w="9525" cap="flat" cmpd="sng">
            <a:solidFill>
              <a:schemeClr val="dk1"/>
            </a:solidFill>
            <a:prstDash val="solid"/>
            <a:round/>
            <a:headEnd type="none" w="sm" len="sm"/>
            <a:tailEnd type="triangle" w="med" len="med"/>
          </a:ln>
        </p:spPr>
      </p:cxnSp>
      <p:cxnSp>
        <p:nvCxnSpPr>
          <p:cNvPr id="3062" name="Google Shape;3062;p462"/>
          <p:cNvCxnSpPr/>
          <p:nvPr/>
        </p:nvCxnSpPr>
        <p:spPr>
          <a:xfrm>
            <a:off x="2922844" y="4909382"/>
            <a:ext cx="1122600" cy="0"/>
          </a:xfrm>
          <a:prstGeom prst="straightConnector1">
            <a:avLst/>
          </a:prstGeom>
          <a:noFill/>
          <a:ln w="9525" cap="flat" cmpd="sng">
            <a:solidFill>
              <a:schemeClr val="dk1"/>
            </a:solidFill>
            <a:prstDash val="solid"/>
            <a:round/>
            <a:headEnd type="none" w="sm" len="sm"/>
            <a:tailEnd type="triangle" w="med" len="med"/>
          </a:ln>
        </p:spPr>
      </p:cxnSp>
      <p:sp>
        <p:nvSpPr>
          <p:cNvPr id="3063" name="Google Shape;3063;p462"/>
          <p:cNvSpPr txBox="1"/>
          <p:nvPr/>
        </p:nvSpPr>
        <p:spPr>
          <a:xfrm>
            <a:off x="2702523" y="2061171"/>
            <a:ext cx="1563300" cy="528000"/>
          </a:xfrm>
          <a:prstGeom prst="rect">
            <a:avLst/>
          </a:prstGeom>
          <a:noFill/>
          <a:ln>
            <a:noFill/>
          </a:ln>
        </p:spPr>
        <p:txBody>
          <a:bodyPr spcFirstLastPara="1" wrap="square" lIns="0" tIns="0" rIns="0" bIns="0" anchor="ctr" anchorCtr="0">
            <a:noAutofit/>
          </a:bodyPr>
          <a:lstStyle/>
          <a:p>
            <a:pPr algn="ctr">
              <a:buClr>
                <a:srgbClr val="000000"/>
              </a:buClr>
              <a:buSzPts val="1300"/>
            </a:pPr>
            <a:r>
              <a:rPr lang="en" sz="1100" b="1">
                <a:solidFill>
                  <a:schemeClr val="accent1"/>
                </a:solidFill>
                <a:latin typeface="DM Sans"/>
                <a:ea typeface="DM Sans"/>
                <a:cs typeface="DM Sans"/>
                <a:sym typeface="DM Sans"/>
              </a:rPr>
              <a:t>Not optimized for </a:t>
            </a:r>
            <a:endParaRPr>
              <a:solidFill>
                <a:schemeClr val="accent1"/>
              </a:solidFill>
              <a:latin typeface="DM Sans"/>
              <a:ea typeface="DM Sans"/>
              <a:cs typeface="DM Sans"/>
              <a:sym typeface="DM Sans"/>
            </a:endParaRPr>
          </a:p>
          <a:p>
            <a:pPr algn="ctr">
              <a:buClr>
                <a:srgbClr val="000000"/>
              </a:buClr>
              <a:buSzPts val="1300"/>
            </a:pPr>
            <a:r>
              <a:rPr lang="en" sz="1100" b="1">
                <a:solidFill>
                  <a:schemeClr val="accent1"/>
                </a:solidFill>
                <a:latin typeface="DM Sans"/>
                <a:ea typeface="DM Sans"/>
                <a:cs typeface="DM Sans"/>
                <a:sym typeface="DM Sans"/>
              </a:rPr>
              <a:t>Data Engineering</a:t>
            </a:r>
            <a:endParaRPr sz="1100" b="1">
              <a:solidFill>
                <a:schemeClr val="accent1"/>
              </a:solidFill>
              <a:latin typeface="DM Sans"/>
              <a:ea typeface="DM Sans"/>
              <a:cs typeface="DM Sans"/>
              <a:sym typeface="DM Sans"/>
            </a:endParaRPr>
          </a:p>
        </p:txBody>
      </p:sp>
      <p:grpSp>
        <p:nvGrpSpPr>
          <p:cNvPr id="3064" name="Google Shape;3064;p462"/>
          <p:cNvGrpSpPr/>
          <p:nvPr/>
        </p:nvGrpSpPr>
        <p:grpSpPr>
          <a:xfrm>
            <a:off x="1120379" y="5272435"/>
            <a:ext cx="1460100" cy="823025"/>
            <a:chOff x="889816" y="1668671"/>
            <a:chExt cx="1460100" cy="823025"/>
          </a:xfrm>
        </p:grpSpPr>
        <p:sp>
          <p:nvSpPr>
            <p:cNvPr id="3065" name="Google Shape;3065;p462"/>
            <p:cNvSpPr/>
            <p:nvPr/>
          </p:nvSpPr>
          <p:spPr>
            <a:xfrm>
              <a:off x="1072910" y="1682597"/>
              <a:ext cx="1044300" cy="809100"/>
            </a:xfrm>
            <a:prstGeom prst="rect">
              <a:avLst/>
            </a:prstGeom>
            <a:solidFill>
              <a:srgbClr val="FEFEFE"/>
            </a:solidFill>
            <a:ln w="19050" cap="flat" cmpd="sng">
              <a:solidFill>
                <a:srgbClr val="618794"/>
              </a:solidFill>
              <a:prstDash val="solid"/>
              <a:round/>
              <a:headEnd type="none" w="sm" len="sm"/>
              <a:tailEnd type="none" w="sm" len="sm"/>
            </a:ln>
          </p:spPr>
          <p:txBody>
            <a:bodyPr spcFirstLastPara="1" wrap="square" lIns="91425" tIns="45700" rIns="91425" bIns="45700" anchor="ctr" anchorCtr="0">
              <a:noAutofit/>
            </a:bodyPr>
            <a:lstStyle/>
            <a:p>
              <a:pPr algn="ctr">
                <a:buClr>
                  <a:srgbClr val="000000"/>
                </a:buClr>
                <a:buSzPts val="1400"/>
              </a:pPr>
              <a:endParaRPr sz="1400">
                <a:solidFill>
                  <a:schemeClr val="dk1"/>
                </a:solidFill>
                <a:latin typeface="Arial"/>
                <a:ea typeface="Arial"/>
                <a:cs typeface="Arial"/>
                <a:sym typeface="Arial"/>
              </a:endParaRPr>
            </a:p>
          </p:txBody>
        </p:sp>
        <p:sp>
          <p:nvSpPr>
            <p:cNvPr id="3066" name="Google Shape;3066;p462"/>
            <p:cNvSpPr/>
            <p:nvPr/>
          </p:nvSpPr>
          <p:spPr>
            <a:xfrm>
              <a:off x="1097366" y="2286779"/>
              <a:ext cx="1015800" cy="168000"/>
            </a:xfrm>
            <a:prstGeom prst="rect">
              <a:avLst/>
            </a:prstGeom>
            <a:noFill/>
            <a:ln>
              <a:noFill/>
            </a:ln>
          </p:spPr>
          <p:txBody>
            <a:bodyPr spcFirstLastPara="1" wrap="square" lIns="121875" tIns="121875" rIns="121875" bIns="121875" anchor="ctr" anchorCtr="0">
              <a:noAutofit/>
            </a:bodyPr>
            <a:lstStyle/>
            <a:p>
              <a:pPr algn="ctr"/>
              <a:r>
                <a:rPr lang="en" sz="900">
                  <a:solidFill>
                    <a:schemeClr val="dk1"/>
                  </a:solidFill>
                  <a:latin typeface="DM Sans"/>
                  <a:ea typeface="DM Sans"/>
                  <a:cs typeface="DM Sans"/>
                  <a:sym typeface="DM Sans"/>
                </a:rPr>
                <a:t>DATA LAKE</a:t>
              </a:r>
              <a:endParaRPr sz="900">
                <a:solidFill>
                  <a:schemeClr val="dk1"/>
                </a:solidFill>
                <a:latin typeface="DM Sans"/>
                <a:ea typeface="DM Sans"/>
                <a:cs typeface="DM Sans"/>
                <a:sym typeface="DM Sans"/>
              </a:endParaRPr>
            </a:p>
          </p:txBody>
        </p:sp>
        <p:pic>
          <p:nvPicPr>
            <p:cNvPr id="3067" name="Google Shape;3067;p462"/>
            <p:cNvPicPr preferRelativeResize="0"/>
            <p:nvPr/>
          </p:nvPicPr>
          <p:blipFill rotWithShape="1">
            <a:blip r:embed="rId3">
              <a:alphaModFix/>
            </a:blip>
            <a:srcRect/>
            <a:stretch/>
          </p:blipFill>
          <p:spPr>
            <a:xfrm>
              <a:off x="1360253" y="1668671"/>
              <a:ext cx="476087" cy="476081"/>
            </a:xfrm>
            <a:prstGeom prst="rect">
              <a:avLst/>
            </a:prstGeom>
            <a:noFill/>
            <a:ln>
              <a:noFill/>
            </a:ln>
          </p:spPr>
        </p:pic>
        <p:sp>
          <p:nvSpPr>
            <p:cNvPr id="3068" name="Google Shape;3068;p462"/>
            <p:cNvSpPr/>
            <p:nvPr/>
          </p:nvSpPr>
          <p:spPr>
            <a:xfrm>
              <a:off x="889816" y="2077380"/>
              <a:ext cx="1460100" cy="264600"/>
            </a:xfrm>
            <a:prstGeom prst="rect">
              <a:avLst/>
            </a:prstGeom>
            <a:noFill/>
            <a:ln>
              <a:noFill/>
            </a:ln>
          </p:spPr>
          <p:txBody>
            <a:bodyPr spcFirstLastPara="1" wrap="square" lIns="121875" tIns="121875" rIns="121875" bIns="121875" anchor="ctr" anchorCtr="0">
              <a:noAutofit/>
            </a:bodyPr>
            <a:lstStyle/>
            <a:p>
              <a:pPr algn="ctr">
                <a:buClr>
                  <a:srgbClr val="000000"/>
                </a:buClr>
                <a:buSzPts val="900"/>
              </a:pPr>
              <a:r>
                <a:rPr lang="en" sz="600">
                  <a:solidFill>
                    <a:schemeClr val="dk1"/>
                  </a:solidFill>
                  <a:latin typeface="DM Sans"/>
                  <a:ea typeface="DM Sans"/>
                  <a:cs typeface="DM Sans"/>
                  <a:sym typeface="DM Sans"/>
                </a:rPr>
                <a:t>ADLS      S3      GCS</a:t>
              </a:r>
              <a:endParaRPr sz="600">
                <a:solidFill>
                  <a:schemeClr val="dk1"/>
                </a:solidFill>
                <a:latin typeface="DM Sans"/>
                <a:ea typeface="DM Sans"/>
                <a:cs typeface="DM Sans"/>
                <a:sym typeface="DM Sans"/>
              </a:endParaRPr>
            </a:p>
          </p:txBody>
        </p:sp>
      </p:grpSp>
      <p:sp>
        <p:nvSpPr>
          <p:cNvPr id="3069" name="Google Shape;3069;p462"/>
          <p:cNvSpPr txBox="1"/>
          <p:nvPr/>
        </p:nvSpPr>
        <p:spPr>
          <a:xfrm>
            <a:off x="2925263" y="6138300"/>
            <a:ext cx="1117800" cy="435900"/>
          </a:xfrm>
          <a:prstGeom prst="rect">
            <a:avLst/>
          </a:prstGeom>
          <a:noFill/>
          <a:ln>
            <a:noFill/>
          </a:ln>
        </p:spPr>
        <p:txBody>
          <a:bodyPr spcFirstLastPara="1" wrap="square" lIns="0" tIns="0" rIns="0" bIns="0" anchor="ctr" anchorCtr="0">
            <a:noAutofit/>
          </a:bodyPr>
          <a:lstStyle/>
          <a:p>
            <a:pPr algn="ctr">
              <a:buClr>
                <a:srgbClr val="000000"/>
              </a:buClr>
              <a:buSzPts val="1300"/>
            </a:pPr>
            <a:r>
              <a:rPr lang="en" sz="1100" b="1">
                <a:solidFill>
                  <a:schemeClr val="accent1"/>
                </a:solidFill>
                <a:latin typeface="DM Sans"/>
                <a:ea typeface="DM Sans"/>
                <a:cs typeface="DM Sans"/>
                <a:sym typeface="DM Sans"/>
              </a:rPr>
              <a:t>Data is replicated</a:t>
            </a:r>
            <a:endParaRPr sz="1100" b="1">
              <a:solidFill>
                <a:schemeClr val="accent1"/>
              </a:solidFill>
              <a:latin typeface="DM Sans"/>
              <a:ea typeface="DM Sans"/>
              <a:cs typeface="DM Sans"/>
              <a:sym typeface="DM Sans"/>
            </a:endParaRPr>
          </a:p>
        </p:txBody>
      </p:sp>
      <p:sp>
        <p:nvSpPr>
          <p:cNvPr id="3070" name="Google Shape;3070;p462"/>
          <p:cNvSpPr/>
          <p:nvPr/>
        </p:nvSpPr>
        <p:spPr>
          <a:xfrm>
            <a:off x="4375029" y="1899511"/>
            <a:ext cx="925800" cy="4015200"/>
          </a:xfrm>
          <a:prstGeom prst="rect">
            <a:avLst/>
          </a:prstGeom>
          <a:solidFill>
            <a:srgbClr val="FEFEFE"/>
          </a:solidFill>
          <a:ln w="19050" cap="flat" cmpd="sng">
            <a:solidFill>
              <a:srgbClr val="618794"/>
            </a:solidFill>
            <a:prstDash val="solid"/>
            <a:round/>
            <a:headEnd type="none" w="sm" len="sm"/>
            <a:tailEnd type="none" w="sm" len="sm"/>
          </a:ln>
        </p:spPr>
        <p:txBody>
          <a:bodyPr spcFirstLastPara="1" wrap="square" lIns="91425" tIns="45700" rIns="91425" bIns="45700" anchor="ctr" anchorCtr="0">
            <a:noAutofit/>
          </a:bodyPr>
          <a:lstStyle/>
          <a:p>
            <a:pPr algn="ctr">
              <a:buClr>
                <a:srgbClr val="000000"/>
              </a:buClr>
              <a:buSzPts val="1400"/>
            </a:pPr>
            <a:endParaRPr sz="1400">
              <a:solidFill>
                <a:schemeClr val="dk1"/>
              </a:solidFill>
              <a:latin typeface="Arial"/>
              <a:ea typeface="Arial"/>
              <a:cs typeface="Arial"/>
              <a:sym typeface="Arial"/>
            </a:endParaRPr>
          </a:p>
        </p:txBody>
      </p:sp>
      <p:pic>
        <p:nvPicPr>
          <p:cNvPr id="3071" name="Google Shape;3071;p462"/>
          <p:cNvPicPr preferRelativeResize="0"/>
          <p:nvPr/>
        </p:nvPicPr>
        <p:blipFill rotWithShape="1">
          <a:blip r:embed="rId4">
            <a:alphaModFix/>
          </a:blip>
          <a:srcRect/>
          <a:stretch/>
        </p:blipFill>
        <p:spPr>
          <a:xfrm>
            <a:off x="4449500" y="3385148"/>
            <a:ext cx="776875" cy="80101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76"/>
        <p:cNvGrpSpPr/>
        <p:nvPr/>
      </p:nvGrpSpPr>
      <p:grpSpPr>
        <a:xfrm>
          <a:off x="0" y="0"/>
          <a:ext cx="0" cy="0"/>
          <a:chOff x="0" y="0"/>
          <a:chExt cx="0" cy="0"/>
        </a:xfrm>
      </p:grpSpPr>
      <p:sp>
        <p:nvSpPr>
          <p:cNvPr id="3077" name="Google Shape;3077;p463"/>
          <p:cNvSpPr/>
          <p:nvPr/>
        </p:nvSpPr>
        <p:spPr>
          <a:xfrm>
            <a:off x="7416487" y="1869190"/>
            <a:ext cx="4501800" cy="1472700"/>
          </a:xfrm>
          <a:prstGeom prst="rect">
            <a:avLst/>
          </a:prstGeom>
          <a:solidFill>
            <a:srgbClr val="FEFEFE"/>
          </a:solidFill>
          <a:ln w="19050" cap="flat" cmpd="sng">
            <a:solidFill>
              <a:srgbClr val="618794"/>
            </a:solidFill>
            <a:prstDash val="solid"/>
            <a:round/>
            <a:headEnd type="none" w="sm" len="sm"/>
            <a:tailEnd type="none" w="sm" len="sm"/>
          </a:ln>
        </p:spPr>
        <p:txBody>
          <a:bodyPr spcFirstLastPara="1" wrap="square" lIns="91425" tIns="45700" rIns="91425" bIns="45700" anchor="ctr" anchorCtr="0">
            <a:noAutofit/>
          </a:bodyPr>
          <a:lstStyle/>
          <a:p>
            <a:pPr algn="ctr">
              <a:buClr>
                <a:srgbClr val="000000"/>
              </a:buClr>
              <a:buSzPts val="1400"/>
            </a:pPr>
            <a:endParaRPr sz="1400">
              <a:solidFill>
                <a:schemeClr val="dk1"/>
              </a:solidFill>
              <a:latin typeface="DM Sans"/>
              <a:ea typeface="DM Sans"/>
              <a:cs typeface="DM Sans"/>
              <a:sym typeface="DM Sans"/>
            </a:endParaRPr>
          </a:p>
        </p:txBody>
      </p:sp>
      <p:sp>
        <p:nvSpPr>
          <p:cNvPr id="3078" name="Google Shape;3078;p463"/>
          <p:cNvSpPr txBox="1">
            <a:spLocks noGrp="1"/>
          </p:cNvSpPr>
          <p:nvPr>
            <p:ph type="title"/>
          </p:nvPr>
        </p:nvSpPr>
        <p:spPr>
          <a:xfrm>
            <a:off x="750833" y="535597"/>
            <a:ext cx="10659300" cy="583500"/>
          </a:xfrm>
          <a:prstGeom prst="rect">
            <a:avLst/>
          </a:prstGeom>
          <a:noFill/>
          <a:ln>
            <a:noFill/>
          </a:ln>
        </p:spPr>
        <p:txBody>
          <a:bodyPr spcFirstLastPara="1" vert="horz" wrap="square" lIns="0" tIns="0" rIns="0" bIns="0" rtlCol="0" anchor="ctr" anchorCtr="0">
            <a:noAutofit/>
          </a:bodyPr>
          <a:lstStyle/>
          <a:p>
            <a:r>
              <a:rPr lang="en" sz="3600"/>
              <a:t>Why not use a cloud data warehouse?</a:t>
            </a:r>
            <a:endParaRPr sz="3600"/>
          </a:p>
        </p:txBody>
      </p:sp>
      <p:sp>
        <p:nvSpPr>
          <p:cNvPr id="3079" name="Google Shape;3079;p463"/>
          <p:cNvSpPr txBox="1">
            <a:spLocks noGrp="1"/>
          </p:cNvSpPr>
          <p:nvPr>
            <p:ph type="subTitle" idx="1"/>
          </p:nvPr>
        </p:nvSpPr>
        <p:spPr>
          <a:xfrm>
            <a:off x="766397" y="1174702"/>
            <a:ext cx="10659300" cy="583500"/>
          </a:xfrm>
          <a:prstGeom prst="rect">
            <a:avLst/>
          </a:prstGeom>
          <a:noFill/>
          <a:ln>
            <a:noFill/>
          </a:ln>
        </p:spPr>
        <p:txBody>
          <a:bodyPr spcFirstLastPara="1" vert="horz" wrap="square" lIns="0" tIns="0" rIns="0" bIns="0" rtlCol="0" anchor="t" anchorCtr="0">
            <a:noAutofit/>
          </a:bodyPr>
          <a:lstStyle/>
          <a:p>
            <a:pPr marL="457200" indent="-400050"/>
            <a:r>
              <a:rPr lang="en">
                <a:latin typeface="DM Mono Medium"/>
                <a:ea typeface="DM Mono Medium"/>
                <a:cs typeface="DM Mono Medium"/>
                <a:sym typeface="DM Mono Medium"/>
              </a:rPr>
              <a:t>Pay a premium for all workloads</a:t>
            </a:r>
            <a:endParaRPr>
              <a:latin typeface="DM Mono Medium"/>
              <a:ea typeface="DM Mono Medium"/>
              <a:cs typeface="DM Mono Medium"/>
              <a:sym typeface="DM Mono Medium"/>
            </a:endParaRPr>
          </a:p>
        </p:txBody>
      </p:sp>
      <p:sp>
        <p:nvSpPr>
          <p:cNvPr id="3080" name="Google Shape;3080;p463"/>
          <p:cNvSpPr/>
          <p:nvPr/>
        </p:nvSpPr>
        <p:spPr>
          <a:xfrm>
            <a:off x="1169264" y="2622272"/>
            <a:ext cx="1309800" cy="539700"/>
          </a:xfrm>
          <a:prstGeom prst="rect">
            <a:avLst/>
          </a:prstGeom>
          <a:solidFill>
            <a:schemeClr val="lt2"/>
          </a:solidFill>
          <a:ln w="19050" cap="flat" cmpd="sng">
            <a:solidFill>
              <a:srgbClr val="618794"/>
            </a:solidFill>
            <a:prstDash val="solid"/>
            <a:round/>
            <a:headEnd type="none" w="sm" len="sm"/>
            <a:tailEnd type="none" w="sm" len="sm"/>
          </a:ln>
        </p:spPr>
        <p:txBody>
          <a:bodyPr spcFirstLastPara="1" wrap="square" lIns="91425" tIns="45700" rIns="91425" bIns="45700" anchor="ctr" anchorCtr="0">
            <a:noAutofit/>
          </a:bodyPr>
          <a:lstStyle/>
          <a:p>
            <a:pPr algn="ctr">
              <a:buClr>
                <a:srgbClr val="000000"/>
              </a:buClr>
              <a:buSzPts val="1400"/>
            </a:pPr>
            <a:r>
              <a:rPr lang="en" sz="1000">
                <a:solidFill>
                  <a:schemeClr val="dk1"/>
                </a:solidFill>
                <a:latin typeface="DM Sans"/>
                <a:ea typeface="DM Sans"/>
                <a:cs typeface="DM Sans"/>
                <a:sym typeface="DM Sans"/>
              </a:rPr>
              <a:t>Structured</a:t>
            </a:r>
            <a:endParaRPr sz="1000">
              <a:solidFill>
                <a:schemeClr val="dk1"/>
              </a:solidFill>
              <a:latin typeface="DM Sans"/>
              <a:ea typeface="DM Sans"/>
              <a:cs typeface="DM Sans"/>
              <a:sym typeface="DM Sans"/>
            </a:endParaRPr>
          </a:p>
        </p:txBody>
      </p:sp>
      <p:cxnSp>
        <p:nvCxnSpPr>
          <p:cNvPr id="3081" name="Google Shape;3081;p463"/>
          <p:cNvCxnSpPr/>
          <p:nvPr/>
        </p:nvCxnSpPr>
        <p:spPr>
          <a:xfrm>
            <a:off x="2922844" y="3785657"/>
            <a:ext cx="1122600" cy="0"/>
          </a:xfrm>
          <a:prstGeom prst="straightConnector1">
            <a:avLst/>
          </a:prstGeom>
          <a:noFill/>
          <a:ln w="9525" cap="flat" cmpd="sng">
            <a:solidFill>
              <a:schemeClr val="dk1"/>
            </a:solidFill>
            <a:prstDash val="solid"/>
            <a:round/>
            <a:headEnd type="none" w="sm" len="sm"/>
            <a:tailEnd type="triangle" w="med" len="med"/>
          </a:ln>
        </p:spPr>
      </p:cxnSp>
      <p:sp>
        <p:nvSpPr>
          <p:cNvPr id="3082" name="Google Shape;3082;p463"/>
          <p:cNvSpPr/>
          <p:nvPr/>
        </p:nvSpPr>
        <p:spPr>
          <a:xfrm>
            <a:off x="1169264" y="4571952"/>
            <a:ext cx="1309800" cy="539700"/>
          </a:xfrm>
          <a:prstGeom prst="rect">
            <a:avLst/>
          </a:prstGeom>
          <a:solidFill>
            <a:schemeClr val="lt2"/>
          </a:solidFill>
          <a:ln w="19050" cap="flat" cmpd="sng">
            <a:solidFill>
              <a:srgbClr val="618794"/>
            </a:solidFill>
            <a:prstDash val="solid"/>
            <a:round/>
            <a:headEnd type="none" w="sm" len="sm"/>
            <a:tailEnd type="none" w="sm" len="sm"/>
          </a:ln>
        </p:spPr>
        <p:txBody>
          <a:bodyPr spcFirstLastPara="1" wrap="square" lIns="91425" tIns="45700" rIns="91425" bIns="45700" anchor="ctr" anchorCtr="0">
            <a:noAutofit/>
          </a:bodyPr>
          <a:lstStyle/>
          <a:p>
            <a:pPr algn="ctr">
              <a:buClr>
                <a:srgbClr val="000000"/>
              </a:buClr>
              <a:buSzPts val="1400"/>
            </a:pPr>
            <a:r>
              <a:rPr lang="en" sz="1000">
                <a:solidFill>
                  <a:schemeClr val="dk1"/>
                </a:solidFill>
                <a:latin typeface="DM Sans"/>
                <a:ea typeface="DM Sans"/>
                <a:cs typeface="DM Sans"/>
                <a:sym typeface="DM Sans"/>
              </a:rPr>
              <a:t>Unstructured</a:t>
            </a:r>
            <a:endParaRPr sz="1000">
              <a:solidFill>
                <a:schemeClr val="dk1"/>
              </a:solidFill>
              <a:latin typeface="DM Sans"/>
              <a:ea typeface="DM Sans"/>
              <a:cs typeface="DM Sans"/>
              <a:sym typeface="DM Sans"/>
            </a:endParaRPr>
          </a:p>
        </p:txBody>
      </p:sp>
      <p:sp>
        <p:nvSpPr>
          <p:cNvPr id="3083" name="Google Shape;3083;p463"/>
          <p:cNvSpPr/>
          <p:nvPr/>
        </p:nvSpPr>
        <p:spPr>
          <a:xfrm>
            <a:off x="1169264" y="3597112"/>
            <a:ext cx="1309800" cy="539700"/>
          </a:xfrm>
          <a:prstGeom prst="rect">
            <a:avLst/>
          </a:prstGeom>
          <a:solidFill>
            <a:schemeClr val="lt2"/>
          </a:solidFill>
          <a:ln w="19050" cap="flat" cmpd="sng">
            <a:solidFill>
              <a:srgbClr val="618794"/>
            </a:solidFill>
            <a:prstDash val="solid"/>
            <a:round/>
            <a:headEnd type="none" w="sm" len="sm"/>
            <a:tailEnd type="none" w="sm" len="sm"/>
          </a:ln>
        </p:spPr>
        <p:txBody>
          <a:bodyPr spcFirstLastPara="1" wrap="square" lIns="91425" tIns="45700" rIns="91425" bIns="45700" anchor="ctr" anchorCtr="0">
            <a:noAutofit/>
          </a:bodyPr>
          <a:lstStyle/>
          <a:p>
            <a:pPr algn="ctr">
              <a:buClr>
                <a:srgbClr val="000000"/>
              </a:buClr>
              <a:buSzPts val="1400"/>
            </a:pPr>
            <a:r>
              <a:rPr lang="en" sz="1000">
                <a:solidFill>
                  <a:schemeClr val="dk1"/>
                </a:solidFill>
                <a:latin typeface="DM Sans"/>
                <a:ea typeface="DM Sans"/>
                <a:cs typeface="DM Sans"/>
                <a:sym typeface="DM Sans"/>
              </a:rPr>
              <a:t>Semi-Structured</a:t>
            </a:r>
            <a:endParaRPr sz="1000">
              <a:solidFill>
                <a:schemeClr val="dk1"/>
              </a:solidFill>
              <a:latin typeface="DM Sans"/>
              <a:ea typeface="DM Sans"/>
              <a:cs typeface="DM Sans"/>
              <a:sym typeface="DM Sans"/>
            </a:endParaRPr>
          </a:p>
        </p:txBody>
      </p:sp>
      <p:cxnSp>
        <p:nvCxnSpPr>
          <p:cNvPr id="3084" name="Google Shape;3084;p463"/>
          <p:cNvCxnSpPr>
            <a:endCxn id="3077" idx="1"/>
          </p:cNvCxnSpPr>
          <p:nvPr/>
        </p:nvCxnSpPr>
        <p:spPr>
          <a:xfrm>
            <a:off x="5285287" y="2605540"/>
            <a:ext cx="2131200" cy="0"/>
          </a:xfrm>
          <a:prstGeom prst="straightConnector1">
            <a:avLst/>
          </a:prstGeom>
          <a:noFill/>
          <a:ln w="9525" cap="flat" cmpd="sng">
            <a:solidFill>
              <a:schemeClr val="dk1"/>
            </a:solidFill>
            <a:prstDash val="solid"/>
            <a:round/>
            <a:headEnd type="none" w="sm" len="sm"/>
            <a:tailEnd type="triangle" w="med" len="med"/>
          </a:ln>
        </p:spPr>
      </p:cxnSp>
      <p:grpSp>
        <p:nvGrpSpPr>
          <p:cNvPr id="3085" name="Google Shape;3085;p463"/>
          <p:cNvGrpSpPr/>
          <p:nvPr/>
        </p:nvGrpSpPr>
        <p:grpSpPr>
          <a:xfrm>
            <a:off x="7722714" y="1913346"/>
            <a:ext cx="4219941" cy="1342764"/>
            <a:chOff x="7313612" y="2012753"/>
            <a:chExt cx="4219941" cy="1342764"/>
          </a:xfrm>
        </p:grpSpPr>
        <p:sp>
          <p:nvSpPr>
            <p:cNvPr id="3086" name="Google Shape;3086;p463"/>
            <p:cNvSpPr txBox="1"/>
            <p:nvPr/>
          </p:nvSpPr>
          <p:spPr>
            <a:xfrm>
              <a:off x="7485731" y="2012753"/>
              <a:ext cx="3545100" cy="333000"/>
            </a:xfrm>
            <a:prstGeom prst="rect">
              <a:avLst/>
            </a:prstGeom>
            <a:noFill/>
            <a:ln>
              <a:noFill/>
            </a:ln>
          </p:spPr>
          <p:txBody>
            <a:bodyPr spcFirstLastPara="1" wrap="square" lIns="121875" tIns="121875" rIns="121875" bIns="121875" anchor="ctr" anchorCtr="0">
              <a:noAutofit/>
            </a:bodyPr>
            <a:lstStyle/>
            <a:p>
              <a:pPr algn="ctr">
                <a:buClr>
                  <a:srgbClr val="000000"/>
                </a:buClr>
                <a:buSzPts val="1600"/>
              </a:pPr>
              <a:r>
                <a:rPr lang="en">
                  <a:solidFill>
                    <a:schemeClr val="dk1"/>
                  </a:solidFill>
                  <a:latin typeface="DM Sans"/>
                  <a:ea typeface="DM Sans"/>
                  <a:cs typeface="DM Sans"/>
                  <a:sym typeface="DM Sans"/>
                </a:rPr>
                <a:t>BI Reports, Dashboards &amp; SQL ELT</a:t>
              </a:r>
              <a:endParaRPr>
                <a:solidFill>
                  <a:schemeClr val="dk1"/>
                </a:solidFill>
                <a:latin typeface="DM Sans"/>
                <a:ea typeface="DM Sans"/>
                <a:cs typeface="DM Sans"/>
                <a:sym typeface="DM Sans"/>
              </a:endParaRPr>
            </a:p>
          </p:txBody>
        </p:sp>
        <p:pic>
          <p:nvPicPr>
            <p:cNvPr id="3087" name="Google Shape;3087;p463" descr="A picture containing drawing, sign&#10;&#10;Description automatically generated"/>
            <p:cNvPicPr preferRelativeResize="0"/>
            <p:nvPr/>
          </p:nvPicPr>
          <p:blipFill rotWithShape="1">
            <a:blip r:embed="rId3">
              <a:alphaModFix/>
            </a:blip>
            <a:srcRect/>
            <a:stretch/>
          </p:blipFill>
          <p:spPr>
            <a:xfrm>
              <a:off x="8630148" y="2516753"/>
              <a:ext cx="1122632" cy="217910"/>
            </a:xfrm>
            <a:prstGeom prst="rect">
              <a:avLst/>
            </a:prstGeom>
            <a:noFill/>
            <a:ln>
              <a:noFill/>
            </a:ln>
          </p:spPr>
        </p:pic>
        <p:pic>
          <p:nvPicPr>
            <p:cNvPr id="3088" name="Google Shape;3088;p463" descr="A picture containing light, hat, drawing&#10;&#10;Description automatically generated"/>
            <p:cNvPicPr preferRelativeResize="0"/>
            <p:nvPr/>
          </p:nvPicPr>
          <p:blipFill rotWithShape="1">
            <a:blip r:embed="rId4">
              <a:alphaModFix/>
            </a:blip>
            <a:srcRect/>
            <a:stretch/>
          </p:blipFill>
          <p:spPr>
            <a:xfrm>
              <a:off x="10012565" y="2500889"/>
              <a:ext cx="514119" cy="217910"/>
            </a:xfrm>
            <a:prstGeom prst="rect">
              <a:avLst/>
            </a:prstGeom>
            <a:noFill/>
            <a:ln>
              <a:noFill/>
            </a:ln>
          </p:spPr>
        </p:pic>
        <p:pic>
          <p:nvPicPr>
            <p:cNvPr id="3089" name="Google Shape;3089;p463"/>
            <p:cNvPicPr preferRelativeResize="0"/>
            <p:nvPr/>
          </p:nvPicPr>
          <p:blipFill rotWithShape="1">
            <a:blip r:embed="rId5">
              <a:alphaModFix/>
            </a:blip>
            <a:srcRect/>
            <a:stretch/>
          </p:blipFill>
          <p:spPr>
            <a:xfrm>
              <a:off x="7313612" y="2416098"/>
              <a:ext cx="1021659" cy="486991"/>
            </a:xfrm>
            <a:prstGeom prst="rect">
              <a:avLst/>
            </a:prstGeom>
            <a:noFill/>
            <a:ln>
              <a:noFill/>
            </a:ln>
          </p:spPr>
        </p:pic>
        <p:pic>
          <p:nvPicPr>
            <p:cNvPr id="3090" name="Google Shape;3090;p463" descr="dbt Labs - Tropos.io"/>
            <p:cNvPicPr preferRelativeResize="0"/>
            <p:nvPr/>
          </p:nvPicPr>
          <p:blipFill rotWithShape="1">
            <a:blip r:embed="rId6">
              <a:alphaModFix/>
            </a:blip>
            <a:srcRect/>
            <a:stretch/>
          </p:blipFill>
          <p:spPr>
            <a:xfrm>
              <a:off x="10605161" y="2393610"/>
              <a:ext cx="928392" cy="464196"/>
            </a:xfrm>
            <a:prstGeom prst="rect">
              <a:avLst/>
            </a:prstGeom>
            <a:noFill/>
            <a:ln>
              <a:noFill/>
            </a:ln>
          </p:spPr>
        </p:pic>
        <p:pic>
          <p:nvPicPr>
            <p:cNvPr id="3091" name="Google Shape;3091;p463" descr="ODBC Connector - ODBC Reporting Tool | Sisense"/>
            <p:cNvPicPr preferRelativeResize="0"/>
            <p:nvPr/>
          </p:nvPicPr>
          <p:blipFill rotWithShape="1">
            <a:blip r:embed="rId7">
              <a:alphaModFix/>
            </a:blip>
            <a:srcRect/>
            <a:stretch/>
          </p:blipFill>
          <p:spPr>
            <a:xfrm>
              <a:off x="8335271" y="2968557"/>
              <a:ext cx="824580" cy="386960"/>
            </a:xfrm>
            <a:prstGeom prst="rect">
              <a:avLst/>
            </a:prstGeom>
            <a:noFill/>
            <a:ln>
              <a:noFill/>
            </a:ln>
          </p:spPr>
        </p:pic>
        <p:pic>
          <p:nvPicPr>
            <p:cNvPr id="3092" name="Google Shape;3092;p463" descr="How to delete a record using JDBC PreparedStatement | ADMFactory"/>
            <p:cNvPicPr preferRelativeResize="0"/>
            <p:nvPr/>
          </p:nvPicPr>
          <p:blipFill rotWithShape="1">
            <a:blip r:embed="rId8">
              <a:alphaModFix amt="50000"/>
            </a:blip>
            <a:srcRect/>
            <a:stretch/>
          </p:blipFill>
          <p:spPr>
            <a:xfrm>
              <a:off x="9600275" y="2935623"/>
              <a:ext cx="824580" cy="388334"/>
            </a:xfrm>
            <a:prstGeom prst="rect">
              <a:avLst/>
            </a:prstGeom>
            <a:noFill/>
            <a:ln>
              <a:noFill/>
            </a:ln>
          </p:spPr>
        </p:pic>
      </p:grpSp>
      <p:sp>
        <p:nvSpPr>
          <p:cNvPr id="3093" name="Google Shape;3093;p463"/>
          <p:cNvSpPr txBox="1"/>
          <p:nvPr/>
        </p:nvSpPr>
        <p:spPr>
          <a:xfrm>
            <a:off x="2947380" y="4102253"/>
            <a:ext cx="1156200" cy="332700"/>
          </a:xfrm>
          <a:prstGeom prst="rect">
            <a:avLst/>
          </a:prstGeom>
          <a:noFill/>
          <a:ln>
            <a:noFill/>
          </a:ln>
        </p:spPr>
        <p:txBody>
          <a:bodyPr spcFirstLastPara="1" wrap="square" lIns="0" tIns="0" rIns="0" bIns="0" anchor="ctr" anchorCtr="0">
            <a:noAutofit/>
          </a:bodyPr>
          <a:lstStyle/>
          <a:p>
            <a:pPr algn="ctr">
              <a:buClr>
                <a:srgbClr val="000000"/>
              </a:buClr>
              <a:buSzPts val="1300"/>
            </a:pPr>
            <a:r>
              <a:rPr lang="en" sz="1100" b="1">
                <a:solidFill>
                  <a:schemeClr val="accent1"/>
                </a:solidFill>
                <a:latin typeface="DM Sans"/>
                <a:ea typeface="DM Sans"/>
                <a:cs typeface="DM Sans"/>
                <a:sym typeface="DM Sans"/>
              </a:rPr>
              <a:t>Limited support for streaming</a:t>
            </a:r>
            <a:endParaRPr sz="1100">
              <a:solidFill>
                <a:schemeClr val="accent1"/>
              </a:solidFill>
              <a:latin typeface="DM Sans"/>
              <a:ea typeface="DM Sans"/>
              <a:cs typeface="DM Sans"/>
              <a:sym typeface="DM Sans"/>
            </a:endParaRPr>
          </a:p>
        </p:txBody>
      </p:sp>
      <p:sp>
        <p:nvSpPr>
          <p:cNvPr id="3094" name="Google Shape;3094;p463"/>
          <p:cNvSpPr txBox="1"/>
          <p:nvPr/>
        </p:nvSpPr>
        <p:spPr>
          <a:xfrm>
            <a:off x="2689532" y="5149168"/>
            <a:ext cx="1671900" cy="560400"/>
          </a:xfrm>
          <a:prstGeom prst="rect">
            <a:avLst/>
          </a:prstGeom>
          <a:noFill/>
          <a:ln>
            <a:noFill/>
          </a:ln>
        </p:spPr>
        <p:txBody>
          <a:bodyPr spcFirstLastPara="1" wrap="square" lIns="0" tIns="0" rIns="0" bIns="0" anchor="ctr" anchorCtr="0">
            <a:noAutofit/>
          </a:bodyPr>
          <a:lstStyle/>
          <a:p>
            <a:pPr algn="ctr">
              <a:buClr>
                <a:srgbClr val="000000"/>
              </a:buClr>
              <a:buSzPts val="1300"/>
            </a:pPr>
            <a:r>
              <a:rPr lang="en" sz="1100" b="1">
                <a:solidFill>
                  <a:schemeClr val="accent1"/>
                </a:solidFill>
                <a:latin typeface="DM Sans"/>
                <a:ea typeface="DM Sans"/>
                <a:cs typeface="DM Sans"/>
                <a:sym typeface="DM Sans"/>
              </a:rPr>
              <a:t>Limited support for unstructured data (audio/images/video)</a:t>
            </a:r>
            <a:endParaRPr sz="1100" b="1">
              <a:solidFill>
                <a:schemeClr val="accent1"/>
              </a:solidFill>
              <a:latin typeface="DM Sans"/>
              <a:ea typeface="DM Sans"/>
              <a:cs typeface="DM Sans"/>
              <a:sym typeface="DM Sans"/>
            </a:endParaRPr>
          </a:p>
        </p:txBody>
      </p:sp>
      <p:sp>
        <p:nvSpPr>
          <p:cNvPr id="3095" name="Google Shape;3095;p463"/>
          <p:cNvSpPr txBox="1"/>
          <p:nvPr/>
        </p:nvSpPr>
        <p:spPr>
          <a:xfrm>
            <a:off x="2717032" y="3012651"/>
            <a:ext cx="1534200" cy="667800"/>
          </a:xfrm>
          <a:prstGeom prst="rect">
            <a:avLst/>
          </a:prstGeom>
          <a:noFill/>
          <a:ln>
            <a:noFill/>
          </a:ln>
        </p:spPr>
        <p:txBody>
          <a:bodyPr spcFirstLastPara="1" wrap="square" lIns="0" tIns="0" rIns="0" bIns="0" anchor="ctr" anchorCtr="0">
            <a:noAutofit/>
          </a:bodyPr>
          <a:lstStyle/>
          <a:p>
            <a:pPr algn="ctr">
              <a:buClr>
                <a:srgbClr val="000000"/>
              </a:buClr>
              <a:buSzPts val="1300"/>
            </a:pPr>
            <a:r>
              <a:rPr lang="en" sz="1100" b="1">
                <a:solidFill>
                  <a:schemeClr val="accent1"/>
                </a:solidFill>
                <a:latin typeface="DM Sans"/>
                <a:ea typeface="DM Sans"/>
                <a:cs typeface="DM Sans"/>
                <a:sym typeface="DM Sans"/>
              </a:rPr>
              <a:t>Complex &amp; many stages.</a:t>
            </a:r>
            <a:endParaRPr sz="1100" b="1">
              <a:solidFill>
                <a:schemeClr val="accent1"/>
              </a:solidFill>
              <a:latin typeface="DM Sans"/>
              <a:ea typeface="DM Sans"/>
              <a:cs typeface="DM Sans"/>
              <a:sym typeface="DM Sans"/>
            </a:endParaRPr>
          </a:p>
        </p:txBody>
      </p:sp>
      <p:sp>
        <p:nvSpPr>
          <p:cNvPr id="3096" name="Google Shape;3096;p463"/>
          <p:cNvSpPr txBox="1"/>
          <p:nvPr/>
        </p:nvSpPr>
        <p:spPr>
          <a:xfrm>
            <a:off x="4029598" y="5966765"/>
            <a:ext cx="1616700" cy="522900"/>
          </a:xfrm>
          <a:prstGeom prst="rect">
            <a:avLst/>
          </a:prstGeom>
          <a:noFill/>
          <a:ln>
            <a:noFill/>
          </a:ln>
        </p:spPr>
        <p:txBody>
          <a:bodyPr spcFirstLastPara="1" wrap="square" lIns="0" tIns="0" rIns="0" bIns="0" anchor="ctr" anchorCtr="0">
            <a:noAutofit/>
          </a:bodyPr>
          <a:lstStyle/>
          <a:p>
            <a:pPr algn="ctr">
              <a:buClr>
                <a:srgbClr val="000000"/>
              </a:buClr>
              <a:buSzPts val="1300"/>
            </a:pPr>
            <a:r>
              <a:rPr lang="en" sz="1100" b="1">
                <a:solidFill>
                  <a:schemeClr val="accent1"/>
                </a:solidFill>
                <a:latin typeface="DM Sans"/>
                <a:ea typeface="DM Sans"/>
                <a:cs typeface="DM Sans"/>
                <a:sym typeface="DM Sans"/>
              </a:rPr>
              <a:t>Lock-in / proprietary format</a:t>
            </a:r>
            <a:endParaRPr sz="1100" b="1">
              <a:solidFill>
                <a:schemeClr val="accent1"/>
              </a:solidFill>
              <a:latin typeface="DM Sans"/>
              <a:ea typeface="DM Sans"/>
              <a:cs typeface="DM Sans"/>
              <a:sym typeface="DM Sans"/>
            </a:endParaRPr>
          </a:p>
        </p:txBody>
      </p:sp>
      <p:sp>
        <p:nvSpPr>
          <p:cNvPr id="3097" name="Google Shape;3097;p463"/>
          <p:cNvSpPr txBox="1"/>
          <p:nvPr/>
        </p:nvSpPr>
        <p:spPr>
          <a:xfrm>
            <a:off x="998288" y="1758207"/>
            <a:ext cx="1704300" cy="528000"/>
          </a:xfrm>
          <a:prstGeom prst="rect">
            <a:avLst/>
          </a:prstGeom>
          <a:noFill/>
          <a:ln>
            <a:noFill/>
          </a:ln>
        </p:spPr>
        <p:txBody>
          <a:bodyPr spcFirstLastPara="1" wrap="square" lIns="0" tIns="0" rIns="0" bIns="0" anchor="ctr" anchorCtr="0">
            <a:noAutofit/>
          </a:bodyPr>
          <a:lstStyle/>
          <a:p>
            <a:pPr algn="ctr">
              <a:buClr>
                <a:srgbClr val="000000"/>
              </a:buClr>
              <a:buSzPts val="1300"/>
            </a:pPr>
            <a:r>
              <a:rPr lang="en" sz="1100" b="1">
                <a:solidFill>
                  <a:schemeClr val="accent1"/>
                </a:solidFill>
                <a:latin typeface="DM Sans"/>
                <a:ea typeface="DM Sans"/>
                <a:cs typeface="DM Sans"/>
                <a:sym typeface="DM Sans"/>
              </a:rPr>
              <a:t>Up to 6x the cost  for ELT workloads</a:t>
            </a:r>
            <a:endParaRPr sz="1100" b="1">
              <a:solidFill>
                <a:schemeClr val="accent1"/>
              </a:solidFill>
              <a:latin typeface="DM Sans"/>
              <a:ea typeface="DM Sans"/>
              <a:cs typeface="DM Sans"/>
              <a:sym typeface="DM Sans"/>
            </a:endParaRPr>
          </a:p>
        </p:txBody>
      </p:sp>
      <p:sp>
        <p:nvSpPr>
          <p:cNvPr id="3098" name="Google Shape;3098;p463"/>
          <p:cNvSpPr txBox="1"/>
          <p:nvPr/>
        </p:nvSpPr>
        <p:spPr>
          <a:xfrm>
            <a:off x="5757174" y="1949825"/>
            <a:ext cx="1309800" cy="464100"/>
          </a:xfrm>
          <a:prstGeom prst="rect">
            <a:avLst/>
          </a:prstGeom>
          <a:noFill/>
          <a:ln>
            <a:noFill/>
          </a:ln>
        </p:spPr>
        <p:txBody>
          <a:bodyPr spcFirstLastPara="1" wrap="square" lIns="0" tIns="0" rIns="0" bIns="0" anchor="ctr" anchorCtr="0">
            <a:noAutofit/>
          </a:bodyPr>
          <a:lstStyle/>
          <a:p>
            <a:pPr algn="ctr">
              <a:buClr>
                <a:srgbClr val="000000"/>
              </a:buClr>
              <a:buSzPts val="1300"/>
            </a:pPr>
            <a:r>
              <a:rPr lang="en" sz="1100" b="1">
                <a:solidFill>
                  <a:schemeClr val="accent1"/>
                </a:solidFill>
                <a:latin typeface="DM Sans"/>
                <a:ea typeface="DM Sans"/>
                <a:cs typeface="DM Sans"/>
                <a:sym typeface="DM Sans"/>
              </a:rPr>
              <a:t>Compute cost for all data access</a:t>
            </a:r>
            <a:endParaRPr sz="1100" b="1">
              <a:solidFill>
                <a:schemeClr val="accent1"/>
              </a:solidFill>
              <a:latin typeface="DM Sans"/>
              <a:ea typeface="DM Sans"/>
              <a:cs typeface="DM Sans"/>
              <a:sym typeface="DM Sans"/>
            </a:endParaRPr>
          </a:p>
        </p:txBody>
      </p:sp>
      <p:cxnSp>
        <p:nvCxnSpPr>
          <p:cNvPr id="3099" name="Google Shape;3099;p463"/>
          <p:cNvCxnSpPr/>
          <p:nvPr/>
        </p:nvCxnSpPr>
        <p:spPr>
          <a:xfrm>
            <a:off x="2922856" y="2892120"/>
            <a:ext cx="1122600" cy="0"/>
          </a:xfrm>
          <a:prstGeom prst="straightConnector1">
            <a:avLst/>
          </a:prstGeom>
          <a:noFill/>
          <a:ln w="9525" cap="flat" cmpd="sng">
            <a:solidFill>
              <a:schemeClr val="dk1"/>
            </a:solidFill>
            <a:prstDash val="solid"/>
            <a:round/>
            <a:headEnd type="none" w="sm" len="sm"/>
            <a:tailEnd type="triangle" w="med" len="med"/>
          </a:ln>
        </p:spPr>
      </p:cxnSp>
      <p:cxnSp>
        <p:nvCxnSpPr>
          <p:cNvPr id="3100" name="Google Shape;3100;p463"/>
          <p:cNvCxnSpPr/>
          <p:nvPr/>
        </p:nvCxnSpPr>
        <p:spPr>
          <a:xfrm>
            <a:off x="2922844" y="4909382"/>
            <a:ext cx="1122600" cy="0"/>
          </a:xfrm>
          <a:prstGeom prst="straightConnector1">
            <a:avLst/>
          </a:prstGeom>
          <a:noFill/>
          <a:ln w="9525" cap="flat" cmpd="sng">
            <a:solidFill>
              <a:schemeClr val="dk1"/>
            </a:solidFill>
            <a:prstDash val="solid"/>
            <a:round/>
            <a:headEnd type="none" w="sm" len="sm"/>
            <a:tailEnd type="triangle" w="med" len="med"/>
          </a:ln>
        </p:spPr>
      </p:cxnSp>
      <p:sp>
        <p:nvSpPr>
          <p:cNvPr id="3101" name="Google Shape;3101;p463"/>
          <p:cNvSpPr txBox="1"/>
          <p:nvPr/>
        </p:nvSpPr>
        <p:spPr>
          <a:xfrm>
            <a:off x="2702523" y="2061171"/>
            <a:ext cx="1563300" cy="528000"/>
          </a:xfrm>
          <a:prstGeom prst="rect">
            <a:avLst/>
          </a:prstGeom>
          <a:noFill/>
          <a:ln>
            <a:noFill/>
          </a:ln>
        </p:spPr>
        <p:txBody>
          <a:bodyPr spcFirstLastPara="1" wrap="square" lIns="0" tIns="0" rIns="0" bIns="0" anchor="ctr" anchorCtr="0">
            <a:noAutofit/>
          </a:bodyPr>
          <a:lstStyle/>
          <a:p>
            <a:pPr algn="ctr">
              <a:buClr>
                <a:srgbClr val="000000"/>
              </a:buClr>
              <a:buSzPts val="1300"/>
            </a:pPr>
            <a:r>
              <a:rPr lang="en" sz="1100" b="1">
                <a:solidFill>
                  <a:schemeClr val="accent1"/>
                </a:solidFill>
                <a:latin typeface="DM Sans"/>
                <a:ea typeface="DM Sans"/>
                <a:cs typeface="DM Sans"/>
                <a:sym typeface="DM Sans"/>
              </a:rPr>
              <a:t>Not optimized for </a:t>
            </a:r>
            <a:endParaRPr>
              <a:solidFill>
                <a:schemeClr val="accent1"/>
              </a:solidFill>
              <a:latin typeface="DM Sans"/>
              <a:ea typeface="DM Sans"/>
              <a:cs typeface="DM Sans"/>
              <a:sym typeface="DM Sans"/>
            </a:endParaRPr>
          </a:p>
          <a:p>
            <a:pPr algn="ctr">
              <a:buClr>
                <a:srgbClr val="000000"/>
              </a:buClr>
              <a:buSzPts val="1300"/>
            </a:pPr>
            <a:r>
              <a:rPr lang="en" sz="1100" b="1">
                <a:solidFill>
                  <a:schemeClr val="accent1"/>
                </a:solidFill>
                <a:latin typeface="DM Sans"/>
                <a:ea typeface="DM Sans"/>
                <a:cs typeface="DM Sans"/>
                <a:sym typeface="DM Sans"/>
              </a:rPr>
              <a:t>Data Engineering</a:t>
            </a:r>
            <a:endParaRPr sz="1100" b="1">
              <a:solidFill>
                <a:schemeClr val="accent1"/>
              </a:solidFill>
              <a:latin typeface="DM Sans"/>
              <a:ea typeface="DM Sans"/>
              <a:cs typeface="DM Sans"/>
              <a:sym typeface="DM Sans"/>
            </a:endParaRPr>
          </a:p>
        </p:txBody>
      </p:sp>
      <p:grpSp>
        <p:nvGrpSpPr>
          <p:cNvPr id="3102" name="Google Shape;3102;p463"/>
          <p:cNvGrpSpPr/>
          <p:nvPr/>
        </p:nvGrpSpPr>
        <p:grpSpPr>
          <a:xfrm>
            <a:off x="1120379" y="5272435"/>
            <a:ext cx="1460100" cy="823025"/>
            <a:chOff x="889816" y="1668671"/>
            <a:chExt cx="1460100" cy="823025"/>
          </a:xfrm>
        </p:grpSpPr>
        <p:sp>
          <p:nvSpPr>
            <p:cNvPr id="3103" name="Google Shape;3103;p463"/>
            <p:cNvSpPr/>
            <p:nvPr/>
          </p:nvSpPr>
          <p:spPr>
            <a:xfrm>
              <a:off x="1072910" y="1682597"/>
              <a:ext cx="1044300" cy="809100"/>
            </a:xfrm>
            <a:prstGeom prst="rect">
              <a:avLst/>
            </a:prstGeom>
            <a:solidFill>
              <a:srgbClr val="FEFEFE"/>
            </a:solidFill>
            <a:ln w="19050" cap="flat" cmpd="sng">
              <a:solidFill>
                <a:srgbClr val="618794"/>
              </a:solidFill>
              <a:prstDash val="solid"/>
              <a:round/>
              <a:headEnd type="none" w="sm" len="sm"/>
              <a:tailEnd type="none" w="sm" len="sm"/>
            </a:ln>
          </p:spPr>
          <p:txBody>
            <a:bodyPr spcFirstLastPara="1" wrap="square" lIns="91425" tIns="45700" rIns="91425" bIns="45700" anchor="ctr" anchorCtr="0">
              <a:noAutofit/>
            </a:bodyPr>
            <a:lstStyle/>
            <a:p>
              <a:pPr algn="ctr">
                <a:buClr>
                  <a:srgbClr val="000000"/>
                </a:buClr>
                <a:buSzPts val="1400"/>
              </a:pPr>
              <a:endParaRPr sz="1400">
                <a:solidFill>
                  <a:schemeClr val="dk1"/>
                </a:solidFill>
                <a:latin typeface="Arial"/>
                <a:ea typeface="Arial"/>
                <a:cs typeface="Arial"/>
                <a:sym typeface="Arial"/>
              </a:endParaRPr>
            </a:p>
          </p:txBody>
        </p:sp>
        <p:sp>
          <p:nvSpPr>
            <p:cNvPr id="3104" name="Google Shape;3104;p463"/>
            <p:cNvSpPr/>
            <p:nvPr/>
          </p:nvSpPr>
          <p:spPr>
            <a:xfrm>
              <a:off x="1097366" y="2286779"/>
              <a:ext cx="1015800" cy="168000"/>
            </a:xfrm>
            <a:prstGeom prst="rect">
              <a:avLst/>
            </a:prstGeom>
            <a:noFill/>
            <a:ln>
              <a:noFill/>
            </a:ln>
          </p:spPr>
          <p:txBody>
            <a:bodyPr spcFirstLastPara="1" wrap="square" lIns="121875" tIns="121875" rIns="121875" bIns="121875" anchor="ctr" anchorCtr="0">
              <a:noAutofit/>
            </a:bodyPr>
            <a:lstStyle/>
            <a:p>
              <a:pPr algn="ctr"/>
              <a:r>
                <a:rPr lang="en" sz="900">
                  <a:solidFill>
                    <a:schemeClr val="dk1"/>
                  </a:solidFill>
                  <a:latin typeface="DM Sans"/>
                  <a:ea typeface="DM Sans"/>
                  <a:cs typeface="DM Sans"/>
                  <a:sym typeface="DM Sans"/>
                </a:rPr>
                <a:t>DATA LAKE</a:t>
              </a:r>
              <a:endParaRPr sz="900">
                <a:solidFill>
                  <a:schemeClr val="dk1"/>
                </a:solidFill>
                <a:latin typeface="DM Sans"/>
                <a:ea typeface="DM Sans"/>
                <a:cs typeface="DM Sans"/>
                <a:sym typeface="DM Sans"/>
              </a:endParaRPr>
            </a:p>
          </p:txBody>
        </p:sp>
        <p:pic>
          <p:nvPicPr>
            <p:cNvPr id="3105" name="Google Shape;3105;p463"/>
            <p:cNvPicPr preferRelativeResize="0"/>
            <p:nvPr/>
          </p:nvPicPr>
          <p:blipFill rotWithShape="1">
            <a:blip r:embed="rId9">
              <a:alphaModFix/>
            </a:blip>
            <a:srcRect/>
            <a:stretch/>
          </p:blipFill>
          <p:spPr>
            <a:xfrm>
              <a:off x="1360253" y="1668671"/>
              <a:ext cx="476087" cy="476081"/>
            </a:xfrm>
            <a:prstGeom prst="rect">
              <a:avLst/>
            </a:prstGeom>
            <a:noFill/>
            <a:ln>
              <a:noFill/>
            </a:ln>
          </p:spPr>
        </p:pic>
        <p:sp>
          <p:nvSpPr>
            <p:cNvPr id="3106" name="Google Shape;3106;p463"/>
            <p:cNvSpPr/>
            <p:nvPr/>
          </p:nvSpPr>
          <p:spPr>
            <a:xfrm>
              <a:off x="889816" y="2077380"/>
              <a:ext cx="1460100" cy="264600"/>
            </a:xfrm>
            <a:prstGeom prst="rect">
              <a:avLst/>
            </a:prstGeom>
            <a:noFill/>
            <a:ln>
              <a:noFill/>
            </a:ln>
          </p:spPr>
          <p:txBody>
            <a:bodyPr spcFirstLastPara="1" wrap="square" lIns="121875" tIns="121875" rIns="121875" bIns="121875" anchor="ctr" anchorCtr="0">
              <a:noAutofit/>
            </a:bodyPr>
            <a:lstStyle/>
            <a:p>
              <a:pPr algn="ctr">
                <a:buClr>
                  <a:srgbClr val="000000"/>
                </a:buClr>
                <a:buSzPts val="900"/>
              </a:pPr>
              <a:r>
                <a:rPr lang="en" sz="600">
                  <a:solidFill>
                    <a:schemeClr val="dk1"/>
                  </a:solidFill>
                  <a:latin typeface="DM Sans"/>
                  <a:ea typeface="DM Sans"/>
                  <a:cs typeface="DM Sans"/>
                  <a:sym typeface="DM Sans"/>
                </a:rPr>
                <a:t>ADLS      S3      GCS</a:t>
              </a:r>
              <a:endParaRPr sz="600">
                <a:solidFill>
                  <a:schemeClr val="dk1"/>
                </a:solidFill>
                <a:latin typeface="DM Sans"/>
                <a:ea typeface="DM Sans"/>
                <a:cs typeface="DM Sans"/>
                <a:sym typeface="DM Sans"/>
              </a:endParaRPr>
            </a:p>
          </p:txBody>
        </p:sp>
      </p:grpSp>
      <p:sp>
        <p:nvSpPr>
          <p:cNvPr id="3107" name="Google Shape;3107;p463"/>
          <p:cNvSpPr txBox="1"/>
          <p:nvPr/>
        </p:nvSpPr>
        <p:spPr>
          <a:xfrm>
            <a:off x="2925263" y="6138300"/>
            <a:ext cx="1117800" cy="435900"/>
          </a:xfrm>
          <a:prstGeom prst="rect">
            <a:avLst/>
          </a:prstGeom>
          <a:noFill/>
          <a:ln>
            <a:noFill/>
          </a:ln>
        </p:spPr>
        <p:txBody>
          <a:bodyPr spcFirstLastPara="1" wrap="square" lIns="0" tIns="0" rIns="0" bIns="0" anchor="ctr" anchorCtr="0">
            <a:noAutofit/>
          </a:bodyPr>
          <a:lstStyle/>
          <a:p>
            <a:pPr algn="ctr">
              <a:buClr>
                <a:srgbClr val="000000"/>
              </a:buClr>
              <a:buSzPts val="1300"/>
            </a:pPr>
            <a:r>
              <a:rPr lang="en" sz="1100" b="1">
                <a:solidFill>
                  <a:schemeClr val="accent1"/>
                </a:solidFill>
                <a:latin typeface="DM Sans"/>
                <a:ea typeface="DM Sans"/>
                <a:cs typeface="DM Sans"/>
                <a:sym typeface="DM Sans"/>
              </a:rPr>
              <a:t>Data is replicated</a:t>
            </a:r>
            <a:endParaRPr sz="1100" b="1">
              <a:solidFill>
                <a:schemeClr val="accent1"/>
              </a:solidFill>
              <a:latin typeface="DM Sans"/>
              <a:ea typeface="DM Sans"/>
              <a:cs typeface="DM Sans"/>
              <a:sym typeface="DM Sans"/>
            </a:endParaRPr>
          </a:p>
        </p:txBody>
      </p:sp>
      <p:pic>
        <p:nvPicPr>
          <p:cNvPr id="3108" name="Google Shape;3108;p463"/>
          <p:cNvPicPr preferRelativeResize="0"/>
          <p:nvPr/>
        </p:nvPicPr>
        <p:blipFill>
          <a:blip r:embed="rId10">
            <a:alphaModFix/>
          </a:blip>
          <a:stretch>
            <a:fillRect/>
          </a:stretch>
        </p:blipFill>
        <p:spPr>
          <a:xfrm>
            <a:off x="6266213" y="3292568"/>
            <a:ext cx="377230" cy="377246"/>
          </a:xfrm>
          <a:prstGeom prst="rect">
            <a:avLst/>
          </a:prstGeom>
          <a:noFill/>
          <a:ln>
            <a:noFill/>
          </a:ln>
        </p:spPr>
      </p:pic>
      <p:pic>
        <p:nvPicPr>
          <p:cNvPr id="3109" name="Google Shape;3109;p463"/>
          <p:cNvPicPr preferRelativeResize="0"/>
          <p:nvPr/>
        </p:nvPicPr>
        <p:blipFill>
          <a:blip r:embed="rId11">
            <a:alphaModFix/>
          </a:blip>
          <a:stretch>
            <a:fillRect/>
          </a:stretch>
        </p:blipFill>
        <p:spPr>
          <a:xfrm>
            <a:off x="5831486" y="3309063"/>
            <a:ext cx="344250" cy="344265"/>
          </a:xfrm>
          <a:prstGeom prst="rect">
            <a:avLst/>
          </a:prstGeom>
          <a:noFill/>
          <a:ln>
            <a:noFill/>
          </a:ln>
        </p:spPr>
      </p:pic>
      <p:pic>
        <p:nvPicPr>
          <p:cNvPr id="3110" name="Google Shape;3110;p463"/>
          <p:cNvPicPr preferRelativeResize="0"/>
          <p:nvPr/>
        </p:nvPicPr>
        <p:blipFill>
          <a:blip r:embed="rId12">
            <a:alphaModFix/>
          </a:blip>
          <a:stretch>
            <a:fillRect/>
          </a:stretch>
        </p:blipFill>
        <p:spPr>
          <a:xfrm>
            <a:off x="6561566" y="3189498"/>
            <a:ext cx="583330" cy="583354"/>
          </a:xfrm>
          <a:prstGeom prst="rect">
            <a:avLst/>
          </a:prstGeom>
          <a:noFill/>
          <a:ln>
            <a:noFill/>
          </a:ln>
        </p:spPr>
      </p:pic>
      <p:sp>
        <p:nvSpPr>
          <p:cNvPr id="3111" name="Google Shape;3111;p463"/>
          <p:cNvSpPr txBox="1"/>
          <p:nvPr/>
        </p:nvSpPr>
        <p:spPr>
          <a:xfrm>
            <a:off x="5633023" y="3681983"/>
            <a:ext cx="1563300" cy="528000"/>
          </a:xfrm>
          <a:prstGeom prst="rect">
            <a:avLst/>
          </a:prstGeom>
          <a:noFill/>
          <a:ln>
            <a:noFill/>
          </a:ln>
        </p:spPr>
        <p:txBody>
          <a:bodyPr spcFirstLastPara="1" wrap="square" lIns="0" tIns="0" rIns="0" bIns="0" anchor="ctr" anchorCtr="0">
            <a:noAutofit/>
          </a:bodyPr>
          <a:lstStyle/>
          <a:p>
            <a:pPr algn="ctr"/>
            <a:r>
              <a:rPr lang="en" sz="1100" b="1">
                <a:solidFill>
                  <a:schemeClr val="accent1"/>
                </a:solidFill>
                <a:latin typeface="DM Sans"/>
                <a:ea typeface="DM Sans"/>
                <a:cs typeface="DM Sans"/>
                <a:sym typeface="DM Sans"/>
              </a:rPr>
              <a:t>Incompatible security and governance models</a:t>
            </a:r>
            <a:endParaRPr sz="1100" b="1">
              <a:solidFill>
                <a:schemeClr val="accent1"/>
              </a:solidFill>
              <a:latin typeface="DM Sans"/>
              <a:ea typeface="DM Sans"/>
              <a:cs typeface="DM Sans"/>
              <a:sym typeface="DM Sans"/>
            </a:endParaRPr>
          </a:p>
        </p:txBody>
      </p:sp>
      <p:sp>
        <p:nvSpPr>
          <p:cNvPr id="3112" name="Google Shape;3112;p463"/>
          <p:cNvSpPr/>
          <p:nvPr/>
        </p:nvSpPr>
        <p:spPr>
          <a:xfrm>
            <a:off x="4375029" y="1899511"/>
            <a:ext cx="925800" cy="4015200"/>
          </a:xfrm>
          <a:prstGeom prst="rect">
            <a:avLst/>
          </a:prstGeom>
          <a:solidFill>
            <a:srgbClr val="FEFEFE"/>
          </a:solidFill>
          <a:ln w="19050" cap="flat" cmpd="sng">
            <a:solidFill>
              <a:srgbClr val="618794"/>
            </a:solidFill>
            <a:prstDash val="solid"/>
            <a:round/>
            <a:headEnd type="none" w="sm" len="sm"/>
            <a:tailEnd type="none" w="sm" len="sm"/>
          </a:ln>
        </p:spPr>
        <p:txBody>
          <a:bodyPr spcFirstLastPara="1" wrap="square" lIns="91425" tIns="45700" rIns="91425" bIns="45700" anchor="ctr" anchorCtr="0">
            <a:noAutofit/>
          </a:bodyPr>
          <a:lstStyle/>
          <a:p>
            <a:pPr algn="ctr">
              <a:buClr>
                <a:srgbClr val="000000"/>
              </a:buClr>
              <a:buSzPts val="1400"/>
            </a:pPr>
            <a:endParaRPr sz="1400">
              <a:solidFill>
                <a:schemeClr val="dk1"/>
              </a:solidFill>
              <a:latin typeface="Arial"/>
              <a:ea typeface="Arial"/>
              <a:cs typeface="Arial"/>
              <a:sym typeface="Arial"/>
            </a:endParaRPr>
          </a:p>
        </p:txBody>
      </p:sp>
      <p:pic>
        <p:nvPicPr>
          <p:cNvPr id="3113" name="Google Shape;3113;p463"/>
          <p:cNvPicPr preferRelativeResize="0"/>
          <p:nvPr/>
        </p:nvPicPr>
        <p:blipFill rotWithShape="1">
          <a:blip r:embed="rId13">
            <a:alphaModFix/>
          </a:blip>
          <a:srcRect/>
          <a:stretch/>
        </p:blipFill>
        <p:spPr>
          <a:xfrm>
            <a:off x="4449500" y="3385148"/>
            <a:ext cx="776875" cy="80101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118"/>
        <p:cNvGrpSpPr/>
        <p:nvPr/>
      </p:nvGrpSpPr>
      <p:grpSpPr>
        <a:xfrm>
          <a:off x="0" y="0"/>
          <a:ext cx="0" cy="0"/>
          <a:chOff x="0" y="0"/>
          <a:chExt cx="0" cy="0"/>
        </a:xfrm>
      </p:grpSpPr>
      <p:sp>
        <p:nvSpPr>
          <p:cNvPr id="3119" name="Google Shape;3119;p464"/>
          <p:cNvSpPr/>
          <p:nvPr/>
        </p:nvSpPr>
        <p:spPr>
          <a:xfrm>
            <a:off x="7416487" y="1869190"/>
            <a:ext cx="4501800" cy="1472700"/>
          </a:xfrm>
          <a:prstGeom prst="rect">
            <a:avLst/>
          </a:prstGeom>
          <a:solidFill>
            <a:srgbClr val="FEFEFE"/>
          </a:solidFill>
          <a:ln w="19050" cap="flat" cmpd="sng">
            <a:solidFill>
              <a:srgbClr val="618794"/>
            </a:solidFill>
            <a:prstDash val="solid"/>
            <a:round/>
            <a:headEnd type="none" w="sm" len="sm"/>
            <a:tailEnd type="none" w="sm" len="sm"/>
          </a:ln>
        </p:spPr>
        <p:txBody>
          <a:bodyPr spcFirstLastPara="1" wrap="square" lIns="91425" tIns="45700" rIns="91425" bIns="45700" anchor="ctr" anchorCtr="0">
            <a:noAutofit/>
          </a:bodyPr>
          <a:lstStyle/>
          <a:p>
            <a:pPr algn="ctr">
              <a:buClr>
                <a:srgbClr val="000000"/>
              </a:buClr>
              <a:buSzPts val="1400"/>
            </a:pPr>
            <a:endParaRPr sz="1400">
              <a:solidFill>
                <a:schemeClr val="dk1"/>
              </a:solidFill>
              <a:latin typeface="DM Sans"/>
              <a:ea typeface="DM Sans"/>
              <a:cs typeface="DM Sans"/>
              <a:sym typeface="DM Sans"/>
            </a:endParaRPr>
          </a:p>
        </p:txBody>
      </p:sp>
      <p:sp>
        <p:nvSpPr>
          <p:cNvPr id="3120" name="Google Shape;3120;p464"/>
          <p:cNvSpPr/>
          <p:nvPr/>
        </p:nvSpPr>
        <p:spPr>
          <a:xfrm>
            <a:off x="8393697" y="4845738"/>
            <a:ext cx="3543600" cy="1534500"/>
          </a:xfrm>
          <a:prstGeom prst="rect">
            <a:avLst/>
          </a:prstGeom>
          <a:solidFill>
            <a:srgbClr val="FEFEFE"/>
          </a:solidFill>
          <a:ln w="19050" cap="flat" cmpd="sng">
            <a:solidFill>
              <a:srgbClr val="618794"/>
            </a:solidFill>
            <a:prstDash val="solid"/>
            <a:round/>
            <a:headEnd type="none" w="sm" len="sm"/>
            <a:tailEnd type="none" w="sm" len="sm"/>
          </a:ln>
        </p:spPr>
        <p:txBody>
          <a:bodyPr spcFirstLastPara="1" wrap="square" lIns="91425" tIns="45700" rIns="91425" bIns="45700" anchor="ctr" anchorCtr="0">
            <a:noAutofit/>
          </a:bodyPr>
          <a:lstStyle/>
          <a:p>
            <a:pPr algn="ctr">
              <a:buClr>
                <a:srgbClr val="000000"/>
              </a:buClr>
              <a:buSzPts val="1400"/>
            </a:pPr>
            <a:endParaRPr sz="1400">
              <a:solidFill>
                <a:schemeClr val="dk1"/>
              </a:solidFill>
              <a:latin typeface="DM Sans"/>
              <a:ea typeface="DM Sans"/>
              <a:cs typeface="DM Sans"/>
              <a:sym typeface="DM Sans"/>
            </a:endParaRPr>
          </a:p>
        </p:txBody>
      </p:sp>
      <p:sp>
        <p:nvSpPr>
          <p:cNvPr id="3121" name="Google Shape;3121;p464"/>
          <p:cNvSpPr txBox="1">
            <a:spLocks noGrp="1"/>
          </p:cNvSpPr>
          <p:nvPr>
            <p:ph type="title"/>
          </p:nvPr>
        </p:nvSpPr>
        <p:spPr>
          <a:xfrm>
            <a:off x="750833" y="535597"/>
            <a:ext cx="10659300" cy="583500"/>
          </a:xfrm>
          <a:prstGeom prst="rect">
            <a:avLst/>
          </a:prstGeom>
          <a:noFill/>
          <a:ln>
            <a:noFill/>
          </a:ln>
        </p:spPr>
        <p:txBody>
          <a:bodyPr spcFirstLastPara="1" vert="horz" wrap="square" lIns="0" tIns="0" rIns="0" bIns="0" rtlCol="0" anchor="ctr" anchorCtr="0">
            <a:noAutofit/>
          </a:bodyPr>
          <a:lstStyle/>
          <a:p>
            <a:r>
              <a:rPr lang="en" sz="3600"/>
              <a:t>Why not use a cloud data warehouse?</a:t>
            </a:r>
            <a:endParaRPr sz="3600"/>
          </a:p>
        </p:txBody>
      </p:sp>
      <p:sp>
        <p:nvSpPr>
          <p:cNvPr id="3122" name="Google Shape;3122;p464"/>
          <p:cNvSpPr txBox="1">
            <a:spLocks noGrp="1"/>
          </p:cNvSpPr>
          <p:nvPr>
            <p:ph type="subTitle" idx="1"/>
          </p:nvPr>
        </p:nvSpPr>
        <p:spPr>
          <a:xfrm>
            <a:off x="766397" y="1174702"/>
            <a:ext cx="10659300" cy="583500"/>
          </a:xfrm>
          <a:prstGeom prst="rect">
            <a:avLst/>
          </a:prstGeom>
          <a:noFill/>
          <a:ln>
            <a:noFill/>
          </a:ln>
        </p:spPr>
        <p:txBody>
          <a:bodyPr spcFirstLastPara="1" vert="horz" wrap="square" lIns="0" tIns="0" rIns="0" bIns="0" rtlCol="0" anchor="t" anchorCtr="0">
            <a:noAutofit/>
          </a:bodyPr>
          <a:lstStyle/>
          <a:p>
            <a:pPr marL="457200" indent="-400050"/>
            <a:r>
              <a:rPr lang="en">
                <a:latin typeface="DM Mono Medium"/>
                <a:ea typeface="DM Mono Medium"/>
                <a:cs typeface="DM Mono Medium"/>
                <a:sym typeface="DM Mono Medium"/>
              </a:rPr>
              <a:t>A cloud data warehouse is NOT a modern data platform</a:t>
            </a:r>
            <a:endParaRPr>
              <a:latin typeface="DM Mono Medium"/>
              <a:ea typeface="DM Mono Medium"/>
              <a:cs typeface="DM Mono Medium"/>
              <a:sym typeface="DM Mono Medium"/>
            </a:endParaRPr>
          </a:p>
        </p:txBody>
      </p:sp>
      <p:sp>
        <p:nvSpPr>
          <p:cNvPr id="3123" name="Google Shape;3123;p464"/>
          <p:cNvSpPr/>
          <p:nvPr/>
        </p:nvSpPr>
        <p:spPr>
          <a:xfrm>
            <a:off x="1169264" y="2622272"/>
            <a:ext cx="1309800" cy="539700"/>
          </a:xfrm>
          <a:prstGeom prst="rect">
            <a:avLst/>
          </a:prstGeom>
          <a:solidFill>
            <a:schemeClr val="lt2"/>
          </a:solidFill>
          <a:ln w="19050" cap="flat" cmpd="sng">
            <a:solidFill>
              <a:srgbClr val="618794"/>
            </a:solidFill>
            <a:prstDash val="solid"/>
            <a:round/>
            <a:headEnd type="none" w="sm" len="sm"/>
            <a:tailEnd type="none" w="sm" len="sm"/>
          </a:ln>
        </p:spPr>
        <p:txBody>
          <a:bodyPr spcFirstLastPara="1" wrap="square" lIns="91425" tIns="45700" rIns="91425" bIns="45700" anchor="ctr" anchorCtr="0">
            <a:noAutofit/>
          </a:bodyPr>
          <a:lstStyle/>
          <a:p>
            <a:pPr algn="ctr">
              <a:buClr>
                <a:srgbClr val="000000"/>
              </a:buClr>
              <a:buSzPts val="1400"/>
            </a:pPr>
            <a:r>
              <a:rPr lang="en" sz="1000">
                <a:solidFill>
                  <a:schemeClr val="dk1"/>
                </a:solidFill>
                <a:latin typeface="DM Sans"/>
                <a:ea typeface="DM Sans"/>
                <a:cs typeface="DM Sans"/>
                <a:sym typeface="DM Sans"/>
              </a:rPr>
              <a:t>Structured</a:t>
            </a:r>
            <a:endParaRPr sz="1000">
              <a:solidFill>
                <a:schemeClr val="dk1"/>
              </a:solidFill>
              <a:latin typeface="DM Sans"/>
              <a:ea typeface="DM Sans"/>
              <a:cs typeface="DM Sans"/>
              <a:sym typeface="DM Sans"/>
            </a:endParaRPr>
          </a:p>
        </p:txBody>
      </p:sp>
      <p:cxnSp>
        <p:nvCxnSpPr>
          <p:cNvPr id="3124" name="Google Shape;3124;p464"/>
          <p:cNvCxnSpPr/>
          <p:nvPr/>
        </p:nvCxnSpPr>
        <p:spPr>
          <a:xfrm>
            <a:off x="2922844" y="3785657"/>
            <a:ext cx="1122600" cy="0"/>
          </a:xfrm>
          <a:prstGeom prst="straightConnector1">
            <a:avLst/>
          </a:prstGeom>
          <a:noFill/>
          <a:ln w="9525" cap="flat" cmpd="sng">
            <a:solidFill>
              <a:schemeClr val="dk1"/>
            </a:solidFill>
            <a:prstDash val="solid"/>
            <a:round/>
            <a:headEnd type="none" w="sm" len="sm"/>
            <a:tailEnd type="triangle" w="med" len="med"/>
          </a:ln>
        </p:spPr>
      </p:cxnSp>
      <p:sp>
        <p:nvSpPr>
          <p:cNvPr id="3125" name="Google Shape;3125;p464"/>
          <p:cNvSpPr/>
          <p:nvPr/>
        </p:nvSpPr>
        <p:spPr>
          <a:xfrm>
            <a:off x="1169264" y="4571952"/>
            <a:ext cx="1309800" cy="539700"/>
          </a:xfrm>
          <a:prstGeom prst="rect">
            <a:avLst/>
          </a:prstGeom>
          <a:solidFill>
            <a:schemeClr val="lt2"/>
          </a:solidFill>
          <a:ln w="19050" cap="flat" cmpd="sng">
            <a:solidFill>
              <a:srgbClr val="618794"/>
            </a:solidFill>
            <a:prstDash val="solid"/>
            <a:round/>
            <a:headEnd type="none" w="sm" len="sm"/>
            <a:tailEnd type="none" w="sm" len="sm"/>
          </a:ln>
        </p:spPr>
        <p:txBody>
          <a:bodyPr spcFirstLastPara="1" wrap="square" lIns="91425" tIns="45700" rIns="91425" bIns="45700" anchor="ctr" anchorCtr="0">
            <a:noAutofit/>
          </a:bodyPr>
          <a:lstStyle/>
          <a:p>
            <a:pPr algn="ctr">
              <a:buClr>
                <a:srgbClr val="000000"/>
              </a:buClr>
              <a:buSzPts val="1400"/>
            </a:pPr>
            <a:r>
              <a:rPr lang="en" sz="1000">
                <a:solidFill>
                  <a:schemeClr val="dk1"/>
                </a:solidFill>
                <a:latin typeface="DM Sans"/>
                <a:ea typeface="DM Sans"/>
                <a:cs typeface="DM Sans"/>
                <a:sym typeface="DM Sans"/>
              </a:rPr>
              <a:t>Unstructured</a:t>
            </a:r>
            <a:endParaRPr sz="1000">
              <a:solidFill>
                <a:schemeClr val="dk1"/>
              </a:solidFill>
              <a:latin typeface="DM Sans"/>
              <a:ea typeface="DM Sans"/>
              <a:cs typeface="DM Sans"/>
              <a:sym typeface="DM Sans"/>
            </a:endParaRPr>
          </a:p>
        </p:txBody>
      </p:sp>
      <p:sp>
        <p:nvSpPr>
          <p:cNvPr id="3126" name="Google Shape;3126;p464"/>
          <p:cNvSpPr/>
          <p:nvPr/>
        </p:nvSpPr>
        <p:spPr>
          <a:xfrm>
            <a:off x="1169264" y="3597112"/>
            <a:ext cx="1309800" cy="539700"/>
          </a:xfrm>
          <a:prstGeom prst="rect">
            <a:avLst/>
          </a:prstGeom>
          <a:solidFill>
            <a:schemeClr val="lt2"/>
          </a:solidFill>
          <a:ln w="19050" cap="flat" cmpd="sng">
            <a:solidFill>
              <a:srgbClr val="618794"/>
            </a:solidFill>
            <a:prstDash val="solid"/>
            <a:round/>
            <a:headEnd type="none" w="sm" len="sm"/>
            <a:tailEnd type="none" w="sm" len="sm"/>
          </a:ln>
        </p:spPr>
        <p:txBody>
          <a:bodyPr spcFirstLastPara="1" wrap="square" lIns="91425" tIns="45700" rIns="91425" bIns="45700" anchor="ctr" anchorCtr="0">
            <a:noAutofit/>
          </a:bodyPr>
          <a:lstStyle/>
          <a:p>
            <a:pPr algn="ctr">
              <a:buClr>
                <a:srgbClr val="000000"/>
              </a:buClr>
              <a:buSzPts val="1400"/>
            </a:pPr>
            <a:r>
              <a:rPr lang="en" sz="1000">
                <a:solidFill>
                  <a:schemeClr val="dk1"/>
                </a:solidFill>
                <a:latin typeface="DM Sans"/>
                <a:ea typeface="DM Sans"/>
                <a:cs typeface="DM Sans"/>
                <a:sym typeface="DM Sans"/>
              </a:rPr>
              <a:t>Semi-Structured</a:t>
            </a:r>
            <a:endParaRPr sz="1000">
              <a:solidFill>
                <a:schemeClr val="dk1"/>
              </a:solidFill>
              <a:latin typeface="DM Sans"/>
              <a:ea typeface="DM Sans"/>
              <a:cs typeface="DM Sans"/>
              <a:sym typeface="DM Sans"/>
            </a:endParaRPr>
          </a:p>
        </p:txBody>
      </p:sp>
      <p:cxnSp>
        <p:nvCxnSpPr>
          <p:cNvPr id="3127" name="Google Shape;3127;p464"/>
          <p:cNvCxnSpPr>
            <a:endCxn id="3119" idx="1"/>
          </p:cNvCxnSpPr>
          <p:nvPr/>
        </p:nvCxnSpPr>
        <p:spPr>
          <a:xfrm>
            <a:off x="5285287" y="2605540"/>
            <a:ext cx="2131200" cy="0"/>
          </a:xfrm>
          <a:prstGeom prst="straightConnector1">
            <a:avLst/>
          </a:prstGeom>
          <a:noFill/>
          <a:ln w="9525" cap="flat" cmpd="sng">
            <a:solidFill>
              <a:schemeClr val="dk1"/>
            </a:solidFill>
            <a:prstDash val="solid"/>
            <a:round/>
            <a:headEnd type="none" w="sm" len="sm"/>
            <a:tailEnd type="triangle" w="med" len="med"/>
          </a:ln>
        </p:spPr>
      </p:cxnSp>
      <p:cxnSp>
        <p:nvCxnSpPr>
          <p:cNvPr id="3128" name="Google Shape;3128;p464"/>
          <p:cNvCxnSpPr>
            <a:endCxn id="3129" idx="1"/>
          </p:cNvCxnSpPr>
          <p:nvPr/>
        </p:nvCxnSpPr>
        <p:spPr>
          <a:xfrm rot="10800000" flipH="1">
            <a:off x="5299786" y="5680947"/>
            <a:ext cx="1595100" cy="6000"/>
          </a:xfrm>
          <a:prstGeom prst="straightConnector1">
            <a:avLst/>
          </a:prstGeom>
          <a:noFill/>
          <a:ln w="9525" cap="flat" cmpd="sng">
            <a:solidFill>
              <a:schemeClr val="dk1"/>
            </a:solidFill>
            <a:prstDash val="solid"/>
            <a:round/>
            <a:headEnd type="none" w="sm" len="sm"/>
            <a:tailEnd type="triangle" w="med" len="med"/>
          </a:ln>
        </p:spPr>
      </p:cxnSp>
      <p:grpSp>
        <p:nvGrpSpPr>
          <p:cNvPr id="3130" name="Google Shape;3130;p464"/>
          <p:cNvGrpSpPr/>
          <p:nvPr/>
        </p:nvGrpSpPr>
        <p:grpSpPr>
          <a:xfrm>
            <a:off x="7722714" y="1913346"/>
            <a:ext cx="4219941" cy="1342764"/>
            <a:chOff x="7313612" y="2012753"/>
            <a:chExt cx="4219941" cy="1342764"/>
          </a:xfrm>
        </p:grpSpPr>
        <p:sp>
          <p:nvSpPr>
            <p:cNvPr id="3131" name="Google Shape;3131;p464"/>
            <p:cNvSpPr txBox="1"/>
            <p:nvPr/>
          </p:nvSpPr>
          <p:spPr>
            <a:xfrm>
              <a:off x="7485731" y="2012753"/>
              <a:ext cx="3545100" cy="333000"/>
            </a:xfrm>
            <a:prstGeom prst="rect">
              <a:avLst/>
            </a:prstGeom>
            <a:noFill/>
            <a:ln>
              <a:noFill/>
            </a:ln>
          </p:spPr>
          <p:txBody>
            <a:bodyPr spcFirstLastPara="1" wrap="square" lIns="121875" tIns="121875" rIns="121875" bIns="121875" anchor="ctr" anchorCtr="0">
              <a:noAutofit/>
            </a:bodyPr>
            <a:lstStyle/>
            <a:p>
              <a:pPr algn="ctr">
                <a:buClr>
                  <a:srgbClr val="000000"/>
                </a:buClr>
                <a:buSzPts val="1600"/>
              </a:pPr>
              <a:r>
                <a:rPr lang="en">
                  <a:solidFill>
                    <a:schemeClr val="dk1"/>
                  </a:solidFill>
                  <a:latin typeface="DM Sans"/>
                  <a:ea typeface="DM Sans"/>
                  <a:cs typeface="DM Sans"/>
                  <a:sym typeface="DM Sans"/>
                </a:rPr>
                <a:t>BI Reports, Dashboards &amp; SQL ELT</a:t>
              </a:r>
              <a:endParaRPr>
                <a:solidFill>
                  <a:schemeClr val="dk1"/>
                </a:solidFill>
                <a:latin typeface="DM Sans"/>
                <a:ea typeface="DM Sans"/>
                <a:cs typeface="DM Sans"/>
                <a:sym typeface="DM Sans"/>
              </a:endParaRPr>
            </a:p>
          </p:txBody>
        </p:sp>
        <p:pic>
          <p:nvPicPr>
            <p:cNvPr id="3132" name="Google Shape;3132;p464" descr="A picture containing drawing, sign&#10;&#10;Description automatically generated"/>
            <p:cNvPicPr preferRelativeResize="0"/>
            <p:nvPr/>
          </p:nvPicPr>
          <p:blipFill rotWithShape="1">
            <a:blip r:embed="rId3">
              <a:alphaModFix/>
            </a:blip>
            <a:srcRect/>
            <a:stretch/>
          </p:blipFill>
          <p:spPr>
            <a:xfrm>
              <a:off x="8630148" y="2516753"/>
              <a:ext cx="1122632" cy="217910"/>
            </a:xfrm>
            <a:prstGeom prst="rect">
              <a:avLst/>
            </a:prstGeom>
            <a:noFill/>
            <a:ln>
              <a:noFill/>
            </a:ln>
          </p:spPr>
        </p:pic>
        <p:pic>
          <p:nvPicPr>
            <p:cNvPr id="3133" name="Google Shape;3133;p464" descr="A picture containing light, hat, drawing&#10;&#10;Description automatically generated"/>
            <p:cNvPicPr preferRelativeResize="0"/>
            <p:nvPr/>
          </p:nvPicPr>
          <p:blipFill rotWithShape="1">
            <a:blip r:embed="rId4">
              <a:alphaModFix/>
            </a:blip>
            <a:srcRect/>
            <a:stretch/>
          </p:blipFill>
          <p:spPr>
            <a:xfrm>
              <a:off x="10012565" y="2500889"/>
              <a:ext cx="514119" cy="217910"/>
            </a:xfrm>
            <a:prstGeom prst="rect">
              <a:avLst/>
            </a:prstGeom>
            <a:noFill/>
            <a:ln>
              <a:noFill/>
            </a:ln>
          </p:spPr>
        </p:pic>
        <p:pic>
          <p:nvPicPr>
            <p:cNvPr id="3134" name="Google Shape;3134;p464"/>
            <p:cNvPicPr preferRelativeResize="0"/>
            <p:nvPr/>
          </p:nvPicPr>
          <p:blipFill rotWithShape="1">
            <a:blip r:embed="rId5">
              <a:alphaModFix/>
            </a:blip>
            <a:srcRect/>
            <a:stretch/>
          </p:blipFill>
          <p:spPr>
            <a:xfrm>
              <a:off x="7313612" y="2416098"/>
              <a:ext cx="1021659" cy="486991"/>
            </a:xfrm>
            <a:prstGeom prst="rect">
              <a:avLst/>
            </a:prstGeom>
            <a:noFill/>
            <a:ln>
              <a:noFill/>
            </a:ln>
          </p:spPr>
        </p:pic>
        <p:pic>
          <p:nvPicPr>
            <p:cNvPr id="3135" name="Google Shape;3135;p464" descr="dbt Labs - Tropos.io"/>
            <p:cNvPicPr preferRelativeResize="0"/>
            <p:nvPr/>
          </p:nvPicPr>
          <p:blipFill rotWithShape="1">
            <a:blip r:embed="rId6">
              <a:alphaModFix/>
            </a:blip>
            <a:srcRect/>
            <a:stretch/>
          </p:blipFill>
          <p:spPr>
            <a:xfrm>
              <a:off x="10605161" y="2393610"/>
              <a:ext cx="928392" cy="464196"/>
            </a:xfrm>
            <a:prstGeom prst="rect">
              <a:avLst/>
            </a:prstGeom>
            <a:noFill/>
            <a:ln>
              <a:noFill/>
            </a:ln>
          </p:spPr>
        </p:pic>
        <p:pic>
          <p:nvPicPr>
            <p:cNvPr id="3136" name="Google Shape;3136;p464" descr="ODBC Connector - ODBC Reporting Tool | Sisense"/>
            <p:cNvPicPr preferRelativeResize="0"/>
            <p:nvPr/>
          </p:nvPicPr>
          <p:blipFill rotWithShape="1">
            <a:blip r:embed="rId7">
              <a:alphaModFix/>
            </a:blip>
            <a:srcRect/>
            <a:stretch/>
          </p:blipFill>
          <p:spPr>
            <a:xfrm>
              <a:off x="8335271" y="2968557"/>
              <a:ext cx="824580" cy="386960"/>
            </a:xfrm>
            <a:prstGeom prst="rect">
              <a:avLst/>
            </a:prstGeom>
            <a:noFill/>
            <a:ln>
              <a:noFill/>
            </a:ln>
          </p:spPr>
        </p:pic>
        <p:pic>
          <p:nvPicPr>
            <p:cNvPr id="3137" name="Google Shape;3137;p464" descr="How to delete a record using JDBC PreparedStatement | ADMFactory"/>
            <p:cNvPicPr preferRelativeResize="0"/>
            <p:nvPr/>
          </p:nvPicPr>
          <p:blipFill rotWithShape="1">
            <a:blip r:embed="rId8">
              <a:alphaModFix amt="50000"/>
            </a:blip>
            <a:srcRect/>
            <a:stretch/>
          </p:blipFill>
          <p:spPr>
            <a:xfrm>
              <a:off x="9600275" y="2935623"/>
              <a:ext cx="824580" cy="388334"/>
            </a:xfrm>
            <a:prstGeom prst="rect">
              <a:avLst/>
            </a:prstGeom>
            <a:noFill/>
            <a:ln>
              <a:noFill/>
            </a:ln>
          </p:spPr>
        </p:pic>
      </p:grpSp>
      <p:cxnSp>
        <p:nvCxnSpPr>
          <p:cNvPr id="3138" name="Google Shape;3138;p464"/>
          <p:cNvCxnSpPr>
            <a:stCxn id="3129" idx="3"/>
          </p:cNvCxnSpPr>
          <p:nvPr/>
        </p:nvCxnSpPr>
        <p:spPr>
          <a:xfrm>
            <a:off x="7939186" y="5680947"/>
            <a:ext cx="464400" cy="6000"/>
          </a:xfrm>
          <a:prstGeom prst="straightConnector1">
            <a:avLst/>
          </a:prstGeom>
          <a:noFill/>
          <a:ln w="9525" cap="flat" cmpd="sng">
            <a:solidFill>
              <a:schemeClr val="dk1"/>
            </a:solidFill>
            <a:prstDash val="solid"/>
            <a:round/>
            <a:headEnd type="none" w="sm" len="sm"/>
            <a:tailEnd type="triangle" w="med" len="med"/>
          </a:ln>
        </p:spPr>
      </p:cxnSp>
      <p:pic>
        <p:nvPicPr>
          <p:cNvPr id="3139" name="Google Shape;3139;p464" descr="Partners | Morgan Hill"/>
          <p:cNvPicPr preferRelativeResize="0"/>
          <p:nvPr/>
        </p:nvPicPr>
        <p:blipFill rotWithShape="1">
          <a:blip r:embed="rId9">
            <a:alphaModFix/>
          </a:blip>
          <a:srcRect/>
          <a:stretch/>
        </p:blipFill>
        <p:spPr>
          <a:xfrm>
            <a:off x="8601882" y="5097417"/>
            <a:ext cx="843211" cy="284385"/>
          </a:xfrm>
          <a:prstGeom prst="rect">
            <a:avLst/>
          </a:prstGeom>
          <a:noFill/>
          <a:ln>
            <a:noFill/>
          </a:ln>
        </p:spPr>
      </p:pic>
      <p:pic>
        <p:nvPicPr>
          <p:cNvPr id="3140" name="Google Shape;3140;p464" descr="H2O.ai | AI Cloud Platform"/>
          <p:cNvPicPr preferRelativeResize="0"/>
          <p:nvPr/>
        </p:nvPicPr>
        <p:blipFill rotWithShape="1">
          <a:blip r:embed="rId10">
            <a:alphaModFix/>
          </a:blip>
          <a:srcRect/>
          <a:stretch/>
        </p:blipFill>
        <p:spPr>
          <a:xfrm>
            <a:off x="9758975" y="4960443"/>
            <a:ext cx="507700" cy="507700"/>
          </a:xfrm>
          <a:prstGeom prst="rect">
            <a:avLst/>
          </a:prstGeom>
          <a:noFill/>
          <a:ln>
            <a:noFill/>
          </a:ln>
        </p:spPr>
      </p:pic>
      <p:pic>
        <p:nvPicPr>
          <p:cNvPr id="3141" name="Google Shape;3141;p464" descr="DataRobot — PreIPO Network"/>
          <p:cNvPicPr preferRelativeResize="0"/>
          <p:nvPr/>
        </p:nvPicPr>
        <p:blipFill rotWithShape="1">
          <a:blip r:embed="rId11">
            <a:alphaModFix/>
          </a:blip>
          <a:srcRect/>
          <a:stretch/>
        </p:blipFill>
        <p:spPr>
          <a:xfrm>
            <a:off x="10186430" y="4909370"/>
            <a:ext cx="1858551" cy="642264"/>
          </a:xfrm>
          <a:prstGeom prst="rect">
            <a:avLst/>
          </a:prstGeom>
          <a:noFill/>
          <a:ln>
            <a:noFill/>
          </a:ln>
        </p:spPr>
      </p:pic>
      <p:sp>
        <p:nvSpPr>
          <p:cNvPr id="3142" name="Google Shape;3142;p464"/>
          <p:cNvSpPr/>
          <p:nvPr/>
        </p:nvSpPr>
        <p:spPr>
          <a:xfrm>
            <a:off x="8482198" y="5670093"/>
            <a:ext cx="1588500" cy="262800"/>
          </a:xfrm>
          <a:prstGeom prst="rect">
            <a:avLst/>
          </a:prstGeom>
          <a:noFill/>
          <a:ln>
            <a:noFill/>
          </a:ln>
        </p:spPr>
        <p:txBody>
          <a:bodyPr spcFirstLastPara="1" wrap="square" lIns="121875" tIns="121875" rIns="121875" bIns="121875" anchor="ctr" anchorCtr="0">
            <a:noAutofit/>
          </a:bodyPr>
          <a:lstStyle/>
          <a:p>
            <a:pPr algn="ctr"/>
            <a:r>
              <a:rPr lang="en" sz="1100">
                <a:solidFill>
                  <a:schemeClr val="dk1"/>
                </a:solidFill>
                <a:latin typeface="DM Sans"/>
                <a:ea typeface="DM Sans"/>
                <a:cs typeface="DM Sans"/>
                <a:sym typeface="DM Sans"/>
              </a:rPr>
              <a:t>Data Science</a:t>
            </a:r>
            <a:endParaRPr sz="1100">
              <a:solidFill>
                <a:schemeClr val="dk1"/>
              </a:solidFill>
              <a:latin typeface="DM Sans"/>
              <a:ea typeface="DM Sans"/>
              <a:cs typeface="DM Sans"/>
              <a:sym typeface="DM Sans"/>
            </a:endParaRPr>
          </a:p>
        </p:txBody>
      </p:sp>
      <p:sp>
        <p:nvSpPr>
          <p:cNvPr id="3143" name="Google Shape;3143;p464"/>
          <p:cNvSpPr/>
          <p:nvPr/>
        </p:nvSpPr>
        <p:spPr>
          <a:xfrm>
            <a:off x="9842729" y="5660611"/>
            <a:ext cx="2158800" cy="262800"/>
          </a:xfrm>
          <a:prstGeom prst="rect">
            <a:avLst/>
          </a:prstGeom>
          <a:noFill/>
          <a:ln>
            <a:noFill/>
          </a:ln>
        </p:spPr>
        <p:txBody>
          <a:bodyPr spcFirstLastPara="1" wrap="square" lIns="121875" tIns="121875" rIns="121875" bIns="121875" anchor="ctr" anchorCtr="0">
            <a:noAutofit/>
          </a:bodyPr>
          <a:lstStyle/>
          <a:p>
            <a:pPr algn="ctr"/>
            <a:r>
              <a:rPr lang="en" sz="1100">
                <a:solidFill>
                  <a:schemeClr val="dk1"/>
                </a:solidFill>
                <a:latin typeface="DM Sans"/>
                <a:ea typeface="DM Sans"/>
                <a:cs typeface="DM Sans"/>
                <a:sym typeface="DM Sans"/>
              </a:rPr>
              <a:t>Model Training</a:t>
            </a:r>
            <a:endParaRPr sz="1100">
              <a:solidFill>
                <a:schemeClr val="dk1"/>
              </a:solidFill>
              <a:latin typeface="DM Sans"/>
              <a:ea typeface="DM Sans"/>
              <a:cs typeface="DM Sans"/>
              <a:sym typeface="DM Sans"/>
            </a:endParaRPr>
          </a:p>
        </p:txBody>
      </p:sp>
      <p:sp>
        <p:nvSpPr>
          <p:cNvPr id="3144" name="Google Shape;3144;p464"/>
          <p:cNvSpPr/>
          <p:nvPr/>
        </p:nvSpPr>
        <p:spPr>
          <a:xfrm>
            <a:off x="8482198" y="6031939"/>
            <a:ext cx="1588500" cy="262800"/>
          </a:xfrm>
          <a:prstGeom prst="rect">
            <a:avLst/>
          </a:prstGeom>
          <a:noFill/>
          <a:ln>
            <a:noFill/>
          </a:ln>
        </p:spPr>
        <p:txBody>
          <a:bodyPr spcFirstLastPara="1" wrap="square" lIns="121875" tIns="121875" rIns="121875" bIns="121875" anchor="ctr" anchorCtr="0">
            <a:noAutofit/>
          </a:bodyPr>
          <a:lstStyle/>
          <a:p>
            <a:pPr algn="ctr"/>
            <a:r>
              <a:rPr lang="en" sz="1100">
                <a:solidFill>
                  <a:schemeClr val="dk1"/>
                </a:solidFill>
                <a:latin typeface="DM Sans"/>
                <a:ea typeface="DM Sans"/>
                <a:cs typeface="DM Sans"/>
                <a:sym typeface="DM Sans"/>
              </a:rPr>
              <a:t>Model Scoring</a:t>
            </a:r>
            <a:endParaRPr sz="1100">
              <a:solidFill>
                <a:schemeClr val="dk1"/>
              </a:solidFill>
              <a:latin typeface="DM Sans"/>
              <a:ea typeface="DM Sans"/>
              <a:cs typeface="DM Sans"/>
              <a:sym typeface="DM Sans"/>
            </a:endParaRPr>
          </a:p>
        </p:txBody>
      </p:sp>
      <p:sp>
        <p:nvSpPr>
          <p:cNvPr id="3145" name="Google Shape;3145;p464"/>
          <p:cNvSpPr/>
          <p:nvPr/>
        </p:nvSpPr>
        <p:spPr>
          <a:xfrm>
            <a:off x="10100635" y="6043492"/>
            <a:ext cx="1751700" cy="262800"/>
          </a:xfrm>
          <a:prstGeom prst="rect">
            <a:avLst/>
          </a:prstGeom>
          <a:noFill/>
          <a:ln>
            <a:noFill/>
          </a:ln>
        </p:spPr>
        <p:txBody>
          <a:bodyPr spcFirstLastPara="1" wrap="square" lIns="121875" tIns="121875" rIns="121875" bIns="121875" anchor="ctr" anchorCtr="0">
            <a:noAutofit/>
          </a:bodyPr>
          <a:lstStyle/>
          <a:p>
            <a:pPr algn="ctr"/>
            <a:r>
              <a:rPr lang="en" sz="1100">
                <a:solidFill>
                  <a:schemeClr val="dk1"/>
                </a:solidFill>
                <a:latin typeface="DM Sans"/>
                <a:ea typeface="DM Sans"/>
                <a:cs typeface="DM Sans"/>
                <a:sym typeface="DM Sans"/>
              </a:rPr>
              <a:t>Model Deployment</a:t>
            </a:r>
            <a:endParaRPr sz="1100">
              <a:solidFill>
                <a:schemeClr val="dk1"/>
              </a:solidFill>
              <a:latin typeface="DM Sans"/>
              <a:ea typeface="DM Sans"/>
              <a:cs typeface="DM Sans"/>
              <a:sym typeface="DM Sans"/>
            </a:endParaRPr>
          </a:p>
        </p:txBody>
      </p:sp>
      <p:sp>
        <p:nvSpPr>
          <p:cNvPr id="3146" name="Google Shape;3146;p464"/>
          <p:cNvSpPr txBox="1"/>
          <p:nvPr/>
        </p:nvSpPr>
        <p:spPr>
          <a:xfrm>
            <a:off x="2947380" y="4102253"/>
            <a:ext cx="1156200" cy="332700"/>
          </a:xfrm>
          <a:prstGeom prst="rect">
            <a:avLst/>
          </a:prstGeom>
          <a:noFill/>
          <a:ln>
            <a:noFill/>
          </a:ln>
        </p:spPr>
        <p:txBody>
          <a:bodyPr spcFirstLastPara="1" wrap="square" lIns="0" tIns="0" rIns="0" bIns="0" anchor="ctr" anchorCtr="0">
            <a:noAutofit/>
          </a:bodyPr>
          <a:lstStyle/>
          <a:p>
            <a:pPr algn="ctr">
              <a:buClr>
                <a:srgbClr val="000000"/>
              </a:buClr>
              <a:buSzPts val="1300"/>
            </a:pPr>
            <a:r>
              <a:rPr lang="en" sz="1100" b="1">
                <a:solidFill>
                  <a:schemeClr val="accent1"/>
                </a:solidFill>
                <a:latin typeface="DM Sans"/>
                <a:ea typeface="DM Sans"/>
                <a:cs typeface="DM Sans"/>
                <a:sym typeface="DM Sans"/>
              </a:rPr>
              <a:t>Limited support for streaming</a:t>
            </a:r>
            <a:endParaRPr sz="1100">
              <a:solidFill>
                <a:schemeClr val="accent1"/>
              </a:solidFill>
              <a:latin typeface="DM Sans"/>
              <a:ea typeface="DM Sans"/>
              <a:cs typeface="DM Sans"/>
              <a:sym typeface="DM Sans"/>
            </a:endParaRPr>
          </a:p>
        </p:txBody>
      </p:sp>
      <p:sp>
        <p:nvSpPr>
          <p:cNvPr id="3147" name="Google Shape;3147;p464"/>
          <p:cNvSpPr txBox="1"/>
          <p:nvPr/>
        </p:nvSpPr>
        <p:spPr>
          <a:xfrm>
            <a:off x="2689532" y="5149168"/>
            <a:ext cx="1671900" cy="560400"/>
          </a:xfrm>
          <a:prstGeom prst="rect">
            <a:avLst/>
          </a:prstGeom>
          <a:noFill/>
          <a:ln>
            <a:noFill/>
          </a:ln>
        </p:spPr>
        <p:txBody>
          <a:bodyPr spcFirstLastPara="1" wrap="square" lIns="0" tIns="0" rIns="0" bIns="0" anchor="ctr" anchorCtr="0">
            <a:noAutofit/>
          </a:bodyPr>
          <a:lstStyle/>
          <a:p>
            <a:pPr algn="ctr">
              <a:buClr>
                <a:srgbClr val="000000"/>
              </a:buClr>
              <a:buSzPts val="1300"/>
            </a:pPr>
            <a:r>
              <a:rPr lang="en" sz="1100" b="1">
                <a:solidFill>
                  <a:schemeClr val="accent1"/>
                </a:solidFill>
                <a:latin typeface="DM Sans"/>
                <a:ea typeface="DM Sans"/>
                <a:cs typeface="DM Sans"/>
                <a:sym typeface="DM Sans"/>
              </a:rPr>
              <a:t>Limited support for unstructured data (audio/images/video)</a:t>
            </a:r>
            <a:endParaRPr sz="1100" b="1">
              <a:solidFill>
                <a:schemeClr val="accent1"/>
              </a:solidFill>
              <a:latin typeface="DM Sans"/>
              <a:ea typeface="DM Sans"/>
              <a:cs typeface="DM Sans"/>
              <a:sym typeface="DM Sans"/>
            </a:endParaRPr>
          </a:p>
        </p:txBody>
      </p:sp>
      <p:sp>
        <p:nvSpPr>
          <p:cNvPr id="3148" name="Google Shape;3148;p464"/>
          <p:cNvSpPr txBox="1"/>
          <p:nvPr/>
        </p:nvSpPr>
        <p:spPr>
          <a:xfrm>
            <a:off x="2717032" y="3012651"/>
            <a:ext cx="1534200" cy="667800"/>
          </a:xfrm>
          <a:prstGeom prst="rect">
            <a:avLst/>
          </a:prstGeom>
          <a:noFill/>
          <a:ln>
            <a:noFill/>
          </a:ln>
        </p:spPr>
        <p:txBody>
          <a:bodyPr spcFirstLastPara="1" wrap="square" lIns="0" tIns="0" rIns="0" bIns="0" anchor="ctr" anchorCtr="0">
            <a:noAutofit/>
          </a:bodyPr>
          <a:lstStyle/>
          <a:p>
            <a:pPr algn="ctr">
              <a:buClr>
                <a:srgbClr val="000000"/>
              </a:buClr>
              <a:buSzPts val="1300"/>
            </a:pPr>
            <a:r>
              <a:rPr lang="en" sz="1100" b="1">
                <a:solidFill>
                  <a:schemeClr val="accent1"/>
                </a:solidFill>
                <a:latin typeface="DM Sans"/>
                <a:ea typeface="DM Sans"/>
                <a:cs typeface="DM Sans"/>
                <a:sym typeface="DM Sans"/>
              </a:rPr>
              <a:t>Complex &amp; many stages.</a:t>
            </a:r>
            <a:endParaRPr sz="1100" b="1">
              <a:solidFill>
                <a:schemeClr val="accent1"/>
              </a:solidFill>
              <a:latin typeface="DM Sans"/>
              <a:ea typeface="DM Sans"/>
              <a:cs typeface="DM Sans"/>
              <a:sym typeface="DM Sans"/>
            </a:endParaRPr>
          </a:p>
        </p:txBody>
      </p:sp>
      <p:sp>
        <p:nvSpPr>
          <p:cNvPr id="3149" name="Google Shape;3149;p464"/>
          <p:cNvSpPr txBox="1"/>
          <p:nvPr/>
        </p:nvSpPr>
        <p:spPr>
          <a:xfrm>
            <a:off x="5521588" y="5149175"/>
            <a:ext cx="1117800" cy="435900"/>
          </a:xfrm>
          <a:prstGeom prst="rect">
            <a:avLst/>
          </a:prstGeom>
          <a:noFill/>
          <a:ln>
            <a:noFill/>
          </a:ln>
        </p:spPr>
        <p:txBody>
          <a:bodyPr spcFirstLastPara="1" wrap="square" lIns="0" tIns="0" rIns="0" bIns="0" anchor="ctr" anchorCtr="0">
            <a:noAutofit/>
          </a:bodyPr>
          <a:lstStyle/>
          <a:p>
            <a:pPr algn="ctr">
              <a:buClr>
                <a:srgbClr val="000000"/>
              </a:buClr>
              <a:buSzPts val="1300"/>
            </a:pPr>
            <a:r>
              <a:rPr lang="en" sz="1100" b="1">
                <a:solidFill>
                  <a:schemeClr val="accent1"/>
                </a:solidFill>
                <a:latin typeface="DM Sans"/>
                <a:ea typeface="DM Sans"/>
                <a:cs typeface="DM Sans"/>
                <a:sym typeface="DM Sans"/>
              </a:rPr>
              <a:t>Data is duplicated</a:t>
            </a:r>
            <a:endParaRPr sz="1100" b="1">
              <a:solidFill>
                <a:schemeClr val="accent1"/>
              </a:solidFill>
              <a:latin typeface="DM Sans"/>
              <a:ea typeface="DM Sans"/>
              <a:cs typeface="DM Sans"/>
              <a:sym typeface="DM Sans"/>
            </a:endParaRPr>
          </a:p>
        </p:txBody>
      </p:sp>
      <p:sp>
        <p:nvSpPr>
          <p:cNvPr id="3150" name="Google Shape;3150;p464"/>
          <p:cNvSpPr txBox="1"/>
          <p:nvPr/>
        </p:nvSpPr>
        <p:spPr>
          <a:xfrm>
            <a:off x="4029598" y="5966765"/>
            <a:ext cx="1616700" cy="522900"/>
          </a:xfrm>
          <a:prstGeom prst="rect">
            <a:avLst/>
          </a:prstGeom>
          <a:noFill/>
          <a:ln>
            <a:noFill/>
          </a:ln>
        </p:spPr>
        <p:txBody>
          <a:bodyPr spcFirstLastPara="1" wrap="square" lIns="0" tIns="0" rIns="0" bIns="0" anchor="ctr" anchorCtr="0">
            <a:noAutofit/>
          </a:bodyPr>
          <a:lstStyle/>
          <a:p>
            <a:pPr algn="ctr">
              <a:buClr>
                <a:srgbClr val="000000"/>
              </a:buClr>
              <a:buSzPts val="1300"/>
            </a:pPr>
            <a:r>
              <a:rPr lang="en" sz="1100" b="1">
                <a:solidFill>
                  <a:schemeClr val="accent1"/>
                </a:solidFill>
                <a:latin typeface="DM Sans"/>
                <a:ea typeface="DM Sans"/>
                <a:cs typeface="DM Sans"/>
                <a:sym typeface="DM Sans"/>
              </a:rPr>
              <a:t>Lock-in / proprietary format</a:t>
            </a:r>
            <a:endParaRPr sz="1100" b="1">
              <a:solidFill>
                <a:schemeClr val="accent1"/>
              </a:solidFill>
              <a:latin typeface="DM Sans"/>
              <a:ea typeface="DM Sans"/>
              <a:cs typeface="DM Sans"/>
              <a:sym typeface="DM Sans"/>
            </a:endParaRPr>
          </a:p>
        </p:txBody>
      </p:sp>
      <p:sp>
        <p:nvSpPr>
          <p:cNvPr id="3151" name="Google Shape;3151;p464"/>
          <p:cNvSpPr txBox="1"/>
          <p:nvPr/>
        </p:nvSpPr>
        <p:spPr>
          <a:xfrm>
            <a:off x="7383923" y="4199108"/>
            <a:ext cx="1563300" cy="528000"/>
          </a:xfrm>
          <a:prstGeom prst="rect">
            <a:avLst/>
          </a:prstGeom>
          <a:noFill/>
          <a:ln>
            <a:noFill/>
          </a:ln>
        </p:spPr>
        <p:txBody>
          <a:bodyPr spcFirstLastPara="1" wrap="square" lIns="0" tIns="0" rIns="0" bIns="0" anchor="ctr" anchorCtr="0">
            <a:noAutofit/>
          </a:bodyPr>
          <a:lstStyle/>
          <a:p>
            <a:pPr algn="ctr">
              <a:buClr>
                <a:srgbClr val="000000"/>
              </a:buClr>
              <a:buSzPts val="1300"/>
            </a:pPr>
            <a:r>
              <a:rPr lang="en" sz="1100" b="1">
                <a:solidFill>
                  <a:schemeClr val="accent1"/>
                </a:solidFill>
                <a:latin typeface="DM Sans"/>
                <a:ea typeface="DM Sans"/>
                <a:cs typeface="DM Sans"/>
                <a:sym typeface="DM Sans"/>
              </a:rPr>
              <a:t>Not optimized for </a:t>
            </a:r>
            <a:endParaRPr>
              <a:solidFill>
                <a:schemeClr val="accent1"/>
              </a:solidFill>
              <a:latin typeface="DM Sans"/>
              <a:ea typeface="DM Sans"/>
              <a:cs typeface="DM Sans"/>
              <a:sym typeface="DM Sans"/>
            </a:endParaRPr>
          </a:p>
          <a:p>
            <a:pPr algn="ctr">
              <a:buClr>
                <a:srgbClr val="000000"/>
              </a:buClr>
              <a:buSzPts val="1300"/>
            </a:pPr>
            <a:r>
              <a:rPr lang="en" sz="1100" b="1">
                <a:solidFill>
                  <a:schemeClr val="accent1"/>
                </a:solidFill>
                <a:latin typeface="DM Sans"/>
                <a:ea typeface="DM Sans"/>
                <a:cs typeface="DM Sans"/>
                <a:sym typeface="DM Sans"/>
              </a:rPr>
              <a:t>Data Science</a:t>
            </a:r>
            <a:endParaRPr sz="1100" b="1">
              <a:solidFill>
                <a:schemeClr val="accent1"/>
              </a:solidFill>
              <a:latin typeface="DM Sans"/>
              <a:ea typeface="DM Sans"/>
              <a:cs typeface="DM Sans"/>
              <a:sym typeface="DM Sans"/>
            </a:endParaRPr>
          </a:p>
        </p:txBody>
      </p:sp>
      <p:sp>
        <p:nvSpPr>
          <p:cNvPr id="3152" name="Google Shape;3152;p464"/>
          <p:cNvSpPr txBox="1"/>
          <p:nvPr/>
        </p:nvSpPr>
        <p:spPr>
          <a:xfrm>
            <a:off x="998288" y="1758207"/>
            <a:ext cx="1704300" cy="528000"/>
          </a:xfrm>
          <a:prstGeom prst="rect">
            <a:avLst/>
          </a:prstGeom>
          <a:noFill/>
          <a:ln>
            <a:noFill/>
          </a:ln>
        </p:spPr>
        <p:txBody>
          <a:bodyPr spcFirstLastPara="1" wrap="square" lIns="0" tIns="0" rIns="0" bIns="0" anchor="ctr" anchorCtr="0">
            <a:noAutofit/>
          </a:bodyPr>
          <a:lstStyle/>
          <a:p>
            <a:pPr algn="ctr">
              <a:buClr>
                <a:srgbClr val="000000"/>
              </a:buClr>
              <a:buSzPts val="1300"/>
            </a:pPr>
            <a:r>
              <a:rPr lang="en" sz="1100" b="1">
                <a:solidFill>
                  <a:schemeClr val="accent1"/>
                </a:solidFill>
                <a:latin typeface="DM Sans"/>
                <a:ea typeface="DM Sans"/>
                <a:cs typeface="DM Sans"/>
                <a:sym typeface="DM Sans"/>
              </a:rPr>
              <a:t>Up to 6x the cost  for ELT workloads</a:t>
            </a:r>
            <a:endParaRPr sz="1100" b="1">
              <a:solidFill>
                <a:schemeClr val="accent1"/>
              </a:solidFill>
              <a:latin typeface="DM Sans"/>
              <a:ea typeface="DM Sans"/>
              <a:cs typeface="DM Sans"/>
              <a:sym typeface="DM Sans"/>
            </a:endParaRPr>
          </a:p>
        </p:txBody>
      </p:sp>
      <p:sp>
        <p:nvSpPr>
          <p:cNvPr id="3153" name="Google Shape;3153;p464"/>
          <p:cNvSpPr txBox="1"/>
          <p:nvPr/>
        </p:nvSpPr>
        <p:spPr>
          <a:xfrm>
            <a:off x="5757174" y="1949825"/>
            <a:ext cx="1309800" cy="464100"/>
          </a:xfrm>
          <a:prstGeom prst="rect">
            <a:avLst/>
          </a:prstGeom>
          <a:noFill/>
          <a:ln>
            <a:noFill/>
          </a:ln>
        </p:spPr>
        <p:txBody>
          <a:bodyPr spcFirstLastPara="1" wrap="square" lIns="0" tIns="0" rIns="0" bIns="0" anchor="ctr" anchorCtr="0">
            <a:noAutofit/>
          </a:bodyPr>
          <a:lstStyle/>
          <a:p>
            <a:pPr algn="ctr">
              <a:buClr>
                <a:srgbClr val="000000"/>
              </a:buClr>
              <a:buSzPts val="1300"/>
            </a:pPr>
            <a:r>
              <a:rPr lang="en" sz="1100" b="1">
                <a:solidFill>
                  <a:schemeClr val="accent1"/>
                </a:solidFill>
                <a:latin typeface="DM Sans"/>
                <a:ea typeface="DM Sans"/>
                <a:cs typeface="DM Sans"/>
                <a:sym typeface="DM Sans"/>
              </a:rPr>
              <a:t>Compute cost for all data access</a:t>
            </a:r>
            <a:endParaRPr sz="1100" b="1">
              <a:solidFill>
                <a:schemeClr val="accent1"/>
              </a:solidFill>
              <a:latin typeface="DM Sans"/>
              <a:ea typeface="DM Sans"/>
              <a:cs typeface="DM Sans"/>
              <a:sym typeface="DM Sans"/>
            </a:endParaRPr>
          </a:p>
        </p:txBody>
      </p:sp>
      <p:sp>
        <p:nvSpPr>
          <p:cNvPr id="3154" name="Google Shape;3154;p464"/>
          <p:cNvSpPr txBox="1"/>
          <p:nvPr/>
        </p:nvSpPr>
        <p:spPr>
          <a:xfrm>
            <a:off x="9030776" y="6426400"/>
            <a:ext cx="2550300" cy="399300"/>
          </a:xfrm>
          <a:prstGeom prst="rect">
            <a:avLst/>
          </a:prstGeom>
          <a:noFill/>
          <a:ln>
            <a:noFill/>
          </a:ln>
        </p:spPr>
        <p:txBody>
          <a:bodyPr spcFirstLastPara="1" wrap="square" lIns="0" tIns="0" rIns="0" bIns="0" anchor="ctr" anchorCtr="0">
            <a:noAutofit/>
          </a:bodyPr>
          <a:lstStyle/>
          <a:p>
            <a:pPr algn="ctr">
              <a:buClr>
                <a:srgbClr val="000000"/>
              </a:buClr>
              <a:buSzPts val="1300"/>
            </a:pPr>
            <a:r>
              <a:rPr lang="en" sz="1100" b="1">
                <a:solidFill>
                  <a:schemeClr val="accent1"/>
                </a:solidFill>
                <a:latin typeface="DM Sans"/>
                <a:ea typeface="DM Sans"/>
                <a:cs typeface="DM Sans"/>
                <a:sym typeface="DM Sans"/>
              </a:rPr>
              <a:t>Disparate tooling decreases </a:t>
            </a:r>
            <a:br>
              <a:rPr lang="en" sz="1100" b="1">
                <a:solidFill>
                  <a:schemeClr val="accent1"/>
                </a:solidFill>
                <a:latin typeface="DM Sans"/>
                <a:ea typeface="DM Sans"/>
                <a:cs typeface="DM Sans"/>
                <a:sym typeface="DM Sans"/>
              </a:rPr>
            </a:br>
            <a:r>
              <a:rPr lang="en" sz="1100" b="1">
                <a:solidFill>
                  <a:schemeClr val="accent1"/>
                </a:solidFill>
                <a:latin typeface="DM Sans"/>
                <a:ea typeface="DM Sans"/>
                <a:cs typeface="DM Sans"/>
                <a:sym typeface="DM Sans"/>
              </a:rPr>
              <a:t>data team productivity</a:t>
            </a:r>
            <a:endParaRPr sz="1100" b="1">
              <a:solidFill>
                <a:schemeClr val="accent1"/>
              </a:solidFill>
              <a:latin typeface="DM Sans"/>
              <a:ea typeface="DM Sans"/>
              <a:cs typeface="DM Sans"/>
              <a:sym typeface="DM Sans"/>
            </a:endParaRPr>
          </a:p>
        </p:txBody>
      </p:sp>
      <p:cxnSp>
        <p:nvCxnSpPr>
          <p:cNvPr id="3155" name="Google Shape;3155;p464"/>
          <p:cNvCxnSpPr/>
          <p:nvPr/>
        </p:nvCxnSpPr>
        <p:spPr>
          <a:xfrm>
            <a:off x="2922856" y="2892120"/>
            <a:ext cx="1122600" cy="0"/>
          </a:xfrm>
          <a:prstGeom prst="straightConnector1">
            <a:avLst/>
          </a:prstGeom>
          <a:noFill/>
          <a:ln w="9525" cap="flat" cmpd="sng">
            <a:solidFill>
              <a:schemeClr val="dk1"/>
            </a:solidFill>
            <a:prstDash val="solid"/>
            <a:round/>
            <a:headEnd type="none" w="sm" len="sm"/>
            <a:tailEnd type="triangle" w="med" len="med"/>
          </a:ln>
        </p:spPr>
      </p:cxnSp>
      <p:cxnSp>
        <p:nvCxnSpPr>
          <p:cNvPr id="3156" name="Google Shape;3156;p464"/>
          <p:cNvCxnSpPr/>
          <p:nvPr/>
        </p:nvCxnSpPr>
        <p:spPr>
          <a:xfrm>
            <a:off x="2922844" y="4909382"/>
            <a:ext cx="1122600" cy="0"/>
          </a:xfrm>
          <a:prstGeom prst="straightConnector1">
            <a:avLst/>
          </a:prstGeom>
          <a:noFill/>
          <a:ln w="9525" cap="flat" cmpd="sng">
            <a:solidFill>
              <a:schemeClr val="dk1"/>
            </a:solidFill>
            <a:prstDash val="solid"/>
            <a:round/>
            <a:headEnd type="none" w="sm" len="sm"/>
            <a:tailEnd type="triangle" w="med" len="med"/>
          </a:ln>
        </p:spPr>
      </p:cxnSp>
      <p:sp>
        <p:nvSpPr>
          <p:cNvPr id="3157" name="Google Shape;3157;p464"/>
          <p:cNvSpPr txBox="1"/>
          <p:nvPr/>
        </p:nvSpPr>
        <p:spPr>
          <a:xfrm>
            <a:off x="2702523" y="2061171"/>
            <a:ext cx="1563300" cy="528000"/>
          </a:xfrm>
          <a:prstGeom prst="rect">
            <a:avLst/>
          </a:prstGeom>
          <a:noFill/>
          <a:ln>
            <a:noFill/>
          </a:ln>
        </p:spPr>
        <p:txBody>
          <a:bodyPr spcFirstLastPara="1" wrap="square" lIns="0" tIns="0" rIns="0" bIns="0" anchor="ctr" anchorCtr="0">
            <a:noAutofit/>
          </a:bodyPr>
          <a:lstStyle/>
          <a:p>
            <a:pPr algn="ctr">
              <a:buClr>
                <a:srgbClr val="000000"/>
              </a:buClr>
              <a:buSzPts val="1300"/>
            </a:pPr>
            <a:r>
              <a:rPr lang="en" sz="1100" b="1">
                <a:solidFill>
                  <a:schemeClr val="accent1"/>
                </a:solidFill>
                <a:latin typeface="DM Sans"/>
                <a:ea typeface="DM Sans"/>
                <a:cs typeface="DM Sans"/>
                <a:sym typeface="DM Sans"/>
              </a:rPr>
              <a:t>Not optimized for </a:t>
            </a:r>
            <a:endParaRPr>
              <a:solidFill>
                <a:schemeClr val="accent1"/>
              </a:solidFill>
              <a:latin typeface="DM Sans"/>
              <a:ea typeface="DM Sans"/>
              <a:cs typeface="DM Sans"/>
              <a:sym typeface="DM Sans"/>
            </a:endParaRPr>
          </a:p>
          <a:p>
            <a:pPr algn="ctr">
              <a:buClr>
                <a:srgbClr val="000000"/>
              </a:buClr>
              <a:buSzPts val="1300"/>
            </a:pPr>
            <a:r>
              <a:rPr lang="en" sz="1100" b="1">
                <a:solidFill>
                  <a:schemeClr val="accent1"/>
                </a:solidFill>
                <a:latin typeface="DM Sans"/>
                <a:ea typeface="DM Sans"/>
                <a:cs typeface="DM Sans"/>
                <a:sym typeface="DM Sans"/>
              </a:rPr>
              <a:t>Data Engineering</a:t>
            </a:r>
            <a:endParaRPr sz="1100" b="1">
              <a:solidFill>
                <a:schemeClr val="accent1"/>
              </a:solidFill>
              <a:latin typeface="DM Sans"/>
              <a:ea typeface="DM Sans"/>
              <a:cs typeface="DM Sans"/>
              <a:sym typeface="DM Sans"/>
            </a:endParaRPr>
          </a:p>
        </p:txBody>
      </p:sp>
      <p:grpSp>
        <p:nvGrpSpPr>
          <p:cNvPr id="3158" name="Google Shape;3158;p464"/>
          <p:cNvGrpSpPr/>
          <p:nvPr/>
        </p:nvGrpSpPr>
        <p:grpSpPr>
          <a:xfrm>
            <a:off x="1120379" y="5272435"/>
            <a:ext cx="1460100" cy="823025"/>
            <a:chOff x="889816" y="1668671"/>
            <a:chExt cx="1460100" cy="823025"/>
          </a:xfrm>
        </p:grpSpPr>
        <p:sp>
          <p:nvSpPr>
            <p:cNvPr id="3159" name="Google Shape;3159;p464"/>
            <p:cNvSpPr/>
            <p:nvPr/>
          </p:nvSpPr>
          <p:spPr>
            <a:xfrm>
              <a:off x="1072910" y="1682597"/>
              <a:ext cx="1044300" cy="809100"/>
            </a:xfrm>
            <a:prstGeom prst="rect">
              <a:avLst/>
            </a:prstGeom>
            <a:solidFill>
              <a:srgbClr val="FEFEFE"/>
            </a:solidFill>
            <a:ln w="19050" cap="flat" cmpd="sng">
              <a:solidFill>
                <a:srgbClr val="618794"/>
              </a:solidFill>
              <a:prstDash val="solid"/>
              <a:round/>
              <a:headEnd type="none" w="sm" len="sm"/>
              <a:tailEnd type="none" w="sm" len="sm"/>
            </a:ln>
          </p:spPr>
          <p:txBody>
            <a:bodyPr spcFirstLastPara="1" wrap="square" lIns="91425" tIns="45700" rIns="91425" bIns="45700" anchor="ctr" anchorCtr="0">
              <a:noAutofit/>
            </a:bodyPr>
            <a:lstStyle/>
            <a:p>
              <a:pPr algn="ctr">
                <a:buClr>
                  <a:srgbClr val="000000"/>
                </a:buClr>
                <a:buSzPts val="1400"/>
              </a:pPr>
              <a:endParaRPr sz="1400">
                <a:solidFill>
                  <a:schemeClr val="dk1"/>
                </a:solidFill>
                <a:latin typeface="Arial"/>
                <a:ea typeface="Arial"/>
                <a:cs typeface="Arial"/>
                <a:sym typeface="Arial"/>
              </a:endParaRPr>
            </a:p>
          </p:txBody>
        </p:sp>
        <p:sp>
          <p:nvSpPr>
            <p:cNvPr id="3160" name="Google Shape;3160;p464"/>
            <p:cNvSpPr/>
            <p:nvPr/>
          </p:nvSpPr>
          <p:spPr>
            <a:xfrm>
              <a:off x="1097366" y="2286779"/>
              <a:ext cx="1015800" cy="168000"/>
            </a:xfrm>
            <a:prstGeom prst="rect">
              <a:avLst/>
            </a:prstGeom>
            <a:noFill/>
            <a:ln>
              <a:noFill/>
            </a:ln>
          </p:spPr>
          <p:txBody>
            <a:bodyPr spcFirstLastPara="1" wrap="square" lIns="121875" tIns="121875" rIns="121875" bIns="121875" anchor="ctr" anchorCtr="0">
              <a:noAutofit/>
            </a:bodyPr>
            <a:lstStyle/>
            <a:p>
              <a:pPr algn="ctr"/>
              <a:r>
                <a:rPr lang="en" sz="900">
                  <a:solidFill>
                    <a:schemeClr val="dk1"/>
                  </a:solidFill>
                  <a:latin typeface="DM Sans"/>
                  <a:ea typeface="DM Sans"/>
                  <a:cs typeface="DM Sans"/>
                  <a:sym typeface="DM Sans"/>
                </a:rPr>
                <a:t>DATA LAKE</a:t>
              </a:r>
              <a:endParaRPr sz="900">
                <a:solidFill>
                  <a:schemeClr val="dk1"/>
                </a:solidFill>
                <a:latin typeface="DM Sans"/>
                <a:ea typeface="DM Sans"/>
                <a:cs typeface="DM Sans"/>
                <a:sym typeface="DM Sans"/>
              </a:endParaRPr>
            </a:p>
          </p:txBody>
        </p:sp>
        <p:pic>
          <p:nvPicPr>
            <p:cNvPr id="3161" name="Google Shape;3161;p464"/>
            <p:cNvPicPr preferRelativeResize="0"/>
            <p:nvPr/>
          </p:nvPicPr>
          <p:blipFill rotWithShape="1">
            <a:blip r:embed="rId12">
              <a:alphaModFix/>
            </a:blip>
            <a:srcRect/>
            <a:stretch/>
          </p:blipFill>
          <p:spPr>
            <a:xfrm>
              <a:off x="1360253" y="1668671"/>
              <a:ext cx="476087" cy="476081"/>
            </a:xfrm>
            <a:prstGeom prst="rect">
              <a:avLst/>
            </a:prstGeom>
            <a:noFill/>
            <a:ln>
              <a:noFill/>
            </a:ln>
          </p:spPr>
        </p:pic>
        <p:sp>
          <p:nvSpPr>
            <p:cNvPr id="3162" name="Google Shape;3162;p464"/>
            <p:cNvSpPr/>
            <p:nvPr/>
          </p:nvSpPr>
          <p:spPr>
            <a:xfrm>
              <a:off x="889816" y="2077380"/>
              <a:ext cx="1460100" cy="264600"/>
            </a:xfrm>
            <a:prstGeom prst="rect">
              <a:avLst/>
            </a:prstGeom>
            <a:noFill/>
            <a:ln>
              <a:noFill/>
            </a:ln>
          </p:spPr>
          <p:txBody>
            <a:bodyPr spcFirstLastPara="1" wrap="square" lIns="121875" tIns="121875" rIns="121875" bIns="121875" anchor="ctr" anchorCtr="0">
              <a:noAutofit/>
            </a:bodyPr>
            <a:lstStyle/>
            <a:p>
              <a:pPr algn="ctr">
                <a:buClr>
                  <a:srgbClr val="000000"/>
                </a:buClr>
                <a:buSzPts val="900"/>
              </a:pPr>
              <a:r>
                <a:rPr lang="en" sz="600">
                  <a:solidFill>
                    <a:schemeClr val="dk1"/>
                  </a:solidFill>
                  <a:latin typeface="DM Sans"/>
                  <a:ea typeface="DM Sans"/>
                  <a:cs typeface="DM Sans"/>
                  <a:sym typeface="DM Sans"/>
                </a:rPr>
                <a:t>ADLS      S3      GCS</a:t>
              </a:r>
              <a:endParaRPr sz="600">
                <a:solidFill>
                  <a:schemeClr val="dk1"/>
                </a:solidFill>
                <a:latin typeface="DM Sans"/>
                <a:ea typeface="DM Sans"/>
                <a:cs typeface="DM Sans"/>
                <a:sym typeface="DM Sans"/>
              </a:endParaRPr>
            </a:p>
          </p:txBody>
        </p:sp>
      </p:grpSp>
      <p:sp>
        <p:nvSpPr>
          <p:cNvPr id="3163" name="Google Shape;3163;p464"/>
          <p:cNvSpPr/>
          <p:nvPr/>
        </p:nvSpPr>
        <p:spPr>
          <a:xfrm>
            <a:off x="9134838" y="3739725"/>
            <a:ext cx="2061300" cy="822900"/>
          </a:xfrm>
          <a:prstGeom prst="rect">
            <a:avLst/>
          </a:prstGeom>
          <a:solidFill>
            <a:srgbClr val="FEFEFE"/>
          </a:solidFill>
          <a:ln w="19050" cap="flat" cmpd="sng">
            <a:solidFill>
              <a:srgbClr val="618794"/>
            </a:solidFill>
            <a:prstDash val="solid"/>
            <a:round/>
            <a:headEnd type="none" w="sm" len="sm"/>
            <a:tailEnd type="none" w="sm" len="sm"/>
          </a:ln>
        </p:spPr>
        <p:txBody>
          <a:bodyPr spcFirstLastPara="1" wrap="square" lIns="91425" tIns="45700" rIns="91425" bIns="45700" anchor="ctr" anchorCtr="0">
            <a:noAutofit/>
          </a:bodyPr>
          <a:lstStyle/>
          <a:p>
            <a:pPr algn="ctr">
              <a:buClr>
                <a:srgbClr val="000000"/>
              </a:buClr>
              <a:buSzPts val="1400"/>
            </a:pPr>
            <a:endParaRPr sz="1400">
              <a:solidFill>
                <a:schemeClr val="dk1"/>
              </a:solidFill>
              <a:latin typeface="DM Sans"/>
              <a:ea typeface="DM Sans"/>
              <a:cs typeface="DM Sans"/>
              <a:sym typeface="DM Sans"/>
            </a:endParaRPr>
          </a:p>
        </p:txBody>
      </p:sp>
      <p:cxnSp>
        <p:nvCxnSpPr>
          <p:cNvPr id="3164" name="Google Shape;3164;p464"/>
          <p:cNvCxnSpPr>
            <a:stCxn id="3120" idx="0"/>
            <a:endCxn id="3163" idx="2"/>
          </p:cNvCxnSpPr>
          <p:nvPr/>
        </p:nvCxnSpPr>
        <p:spPr>
          <a:xfrm rot="10800000">
            <a:off x="10165497" y="4562538"/>
            <a:ext cx="0" cy="283200"/>
          </a:xfrm>
          <a:prstGeom prst="straightConnector1">
            <a:avLst/>
          </a:prstGeom>
          <a:noFill/>
          <a:ln w="9525" cap="flat" cmpd="sng">
            <a:solidFill>
              <a:schemeClr val="dk2"/>
            </a:solidFill>
            <a:prstDash val="solid"/>
            <a:round/>
            <a:headEnd type="none" w="med" len="med"/>
            <a:tailEnd type="triangle" w="med" len="med"/>
          </a:ln>
        </p:spPr>
      </p:cxnSp>
      <p:sp>
        <p:nvSpPr>
          <p:cNvPr id="3165" name="Google Shape;3165;p464"/>
          <p:cNvSpPr/>
          <p:nvPr/>
        </p:nvSpPr>
        <p:spPr>
          <a:xfrm>
            <a:off x="9371248" y="3760068"/>
            <a:ext cx="1588500" cy="262800"/>
          </a:xfrm>
          <a:prstGeom prst="rect">
            <a:avLst/>
          </a:prstGeom>
          <a:noFill/>
          <a:ln>
            <a:noFill/>
          </a:ln>
        </p:spPr>
        <p:txBody>
          <a:bodyPr spcFirstLastPara="1" wrap="square" lIns="121875" tIns="121875" rIns="121875" bIns="121875" anchor="ctr" anchorCtr="0">
            <a:noAutofit/>
          </a:bodyPr>
          <a:lstStyle/>
          <a:p>
            <a:pPr algn="ctr"/>
            <a:r>
              <a:rPr lang="en" sz="1100">
                <a:solidFill>
                  <a:schemeClr val="dk1"/>
                </a:solidFill>
                <a:latin typeface="DM Sans"/>
                <a:ea typeface="DM Sans"/>
                <a:cs typeface="DM Sans"/>
                <a:sym typeface="DM Sans"/>
              </a:rPr>
              <a:t>Model Serving</a:t>
            </a:r>
            <a:endParaRPr sz="1100">
              <a:solidFill>
                <a:schemeClr val="dk1"/>
              </a:solidFill>
              <a:latin typeface="DM Sans"/>
              <a:ea typeface="DM Sans"/>
              <a:cs typeface="DM Sans"/>
              <a:sym typeface="DM Sans"/>
            </a:endParaRPr>
          </a:p>
        </p:txBody>
      </p:sp>
      <p:grpSp>
        <p:nvGrpSpPr>
          <p:cNvPr id="3166" name="Google Shape;3166;p464"/>
          <p:cNvGrpSpPr/>
          <p:nvPr/>
        </p:nvGrpSpPr>
        <p:grpSpPr>
          <a:xfrm>
            <a:off x="6711792" y="5262472"/>
            <a:ext cx="1460100" cy="823025"/>
            <a:chOff x="889816" y="1668671"/>
            <a:chExt cx="1460100" cy="823025"/>
          </a:xfrm>
        </p:grpSpPr>
        <p:sp>
          <p:nvSpPr>
            <p:cNvPr id="3129" name="Google Shape;3129;p464"/>
            <p:cNvSpPr/>
            <p:nvPr/>
          </p:nvSpPr>
          <p:spPr>
            <a:xfrm>
              <a:off x="1072910" y="1682597"/>
              <a:ext cx="1044300" cy="809100"/>
            </a:xfrm>
            <a:prstGeom prst="rect">
              <a:avLst/>
            </a:prstGeom>
            <a:solidFill>
              <a:srgbClr val="FEFEFE"/>
            </a:solidFill>
            <a:ln w="19050" cap="flat" cmpd="sng">
              <a:solidFill>
                <a:srgbClr val="618794"/>
              </a:solidFill>
              <a:prstDash val="solid"/>
              <a:round/>
              <a:headEnd type="none" w="sm" len="sm"/>
              <a:tailEnd type="none" w="sm" len="sm"/>
            </a:ln>
          </p:spPr>
          <p:txBody>
            <a:bodyPr spcFirstLastPara="1" wrap="square" lIns="91425" tIns="45700" rIns="91425" bIns="45700" anchor="ctr" anchorCtr="0">
              <a:noAutofit/>
            </a:bodyPr>
            <a:lstStyle/>
            <a:p>
              <a:pPr algn="ctr">
                <a:buClr>
                  <a:srgbClr val="000000"/>
                </a:buClr>
                <a:buSzPts val="1400"/>
              </a:pPr>
              <a:endParaRPr sz="1400">
                <a:solidFill>
                  <a:schemeClr val="dk1"/>
                </a:solidFill>
                <a:latin typeface="Arial"/>
                <a:ea typeface="Arial"/>
                <a:cs typeface="Arial"/>
                <a:sym typeface="Arial"/>
              </a:endParaRPr>
            </a:p>
          </p:txBody>
        </p:sp>
        <p:sp>
          <p:nvSpPr>
            <p:cNvPr id="3167" name="Google Shape;3167;p464"/>
            <p:cNvSpPr/>
            <p:nvPr/>
          </p:nvSpPr>
          <p:spPr>
            <a:xfrm>
              <a:off x="1097366" y="2286779"/>
              <a:ext cx="1015800" cy="168000"/>
            </a:xfrm>
            <a:prstGeom prst="rect">
              <a:avLst/>
            </a:prstGeom>
            <a:noFill/>
            <a:ln>
              <a:noFill/>
            </a:ln>
          </p:spPr>
          <p:txBody>
            <a:bodyPr spcFirstLastPara="1" wrap="square" lIns="121875" tIns="121875" rIns="121875" bIns="121875" anchor="ctr" anchorCtr="0">
              <a:noAutofit/>
            </a:bodyPr>
            <a:lstStyle/>
            <a:p>
              <a:pPr algn="ctr"/>
              <a:r>
                <a:rPr lang="en" sz="900">
                  <a:solidFill>
                    <a:schemeClr val="dk1"/>
                  </a:solidFill>
                  <a:latin typeface="DM Sans"/>
                  <a:ea typeface="DM Sans"/>
                  <a:cs typeface="DM Sans"/>
                  <a:sym typeface="DM Sans"/>
                </a:rPr>
                <a:t>DATA LAKE</a:t>
              </a:r>
              <a:endParaRPr sz="900">
                <a:solidFill>
                  <a:schemeClr val="dk1"/>
                </a:solidFill>
                <a:latin typeface="DM Sans"/>
                <a:ea typeface="DM Sans"/>
                <a:cs typeface="DM Sans"/>
                <a:sym typeface="DM Sans"/>
              </a:endParaRPr>
            </a:p>
          </p:txBody>
        </p:sp>
        <p:pic>
          <p:nvPicPr>
            <p:cNvPr id="3168" name="Google Shape;3168;p464"/>
            <p:cNvPicPr preferRelativeResize="0"/>
            <p:nvPr/>
          </p:nvPicPr>
          <p:blipFill rotWithShape="1">
            <a:blip r:embed="rId12">
              <a:alphaModFix/>
            </a:blip>
            <a:srcRect/>
            <a:stretch/>
          </p:blipFill>
          <p:spPr>
            <a:xfrm>
              <a:off x="1360253" y="1668671"/>
              <a:ext cx="476087" cy="476081"/>
            </a:xfrm>
            <a:prstGeom prst="rect">
              <a:avLst/>
            </a:prstGeom>
            <a:noFill/>
            <a:ln>
              <a:noFill/>
            </a:ln>
          </p:spPr>
        </p:pic>
        <p:sp>
          <p:nvSpPr>
            <p:cNvPr id="3169" name="Google Shape;3169;p464"/>
            <p:cNvSpPr/>
            <p:nvPr/>
          </p:nvSpPr>
          <p:spPr>
            <a:xfrm>
              <a:off x="889816" y="2077380"/>
              <a:ext cx="1460100" cy="264600"/>
            </a:xfrm>
            <a:prstGeom prst="rect">
              <a:avLst/>
            </a:prstGeom>
            <a:noFill/>
            <a:ln>
              <a:noFill/>
            </a:ln>
          </p:spPr>
          <p:txBody>
            <a:bodyPr spcFirstLastPara="1" wrap="square" lIns="121875" tIns="121875" rIns="121875" bIns="121875" anchor="ctr" anchorCtr="0">
              <a:noAutofit/>
            </a:bodyPr>
            <a:lstStyle/>
            <a:p>
              <a:pPr algn="ctr">
                <a:buClr>
                  <a:srgbClr val="000000"/>
                </a:buClr>
                <a:buSzPts val="900"/>
              </a:pPr>
              <a:r>
                <a:rPr lang="en" sz="600">
                  <a:solidFill>
                    <a:schemeClr val="dk1"/>
                  </a:solidFill>
                  <a:latin typeface="DM Sans"/>
                  <a:ea typeface="DM Sans"/>
                  <a:cs typeface="DM Sans"/>
                  <a:sym typeface="DM Sans"/>
                </a:rPr>
                <a:t>ADLS      S3      GCS</a:t>
              </a:r>
              <a:endParaRPr sz="600">
                <a:solidFill>
                  <a:schemeClr val="dk1"/>
                </a:solidFill>
                <a:latin typeface="DM Sans"/>
                <a:ea typeface="DM Sans"/>
                <a:cs typeface="DM Sans"/>
                <a:sym typeface="DM Sans"/>
              </a:endParaRPr>
            </a:p>
          </p:txBody>
        </p:sp>
      </p:grpSp>
      <p:sp>
        <p:nvSpPr>
          <p:cNvPr id="3170" name="Google Shape;3170;p464"/>
          <p:cNvSpPr txBox="1"/>
          <p:nvPr/>
        </p:nvSpPr>
        <p:spPr>
          <a:xfrm>
            <a:off x="2925263" y="6138300"/>
            <a:ext cx="1117800" cy="435900"/>
          </a:xfrm>
          <a:prstGeom prst="rect">
            <a:avLst/>
          </a:prstGeom>
          <a:noFill/>
          <a:ln>
            <a:noFill/>
          </a:ln>
        </p:spPr>
        <p:txBody>
          <a:bodyPr spcFirstLastPara="1" wrap="square" lIns="0" tIns="0" rIns="0" bIns="0" anchor="ctr" anchorCtr="0">
            <a:noAutofit/>
          </a:bodyPr>
          <a:lstStyle/>
          <a:p>
            <a:pPr algn="ctr">
              <a:buClr>
                <a:srgbClr val="000000"/>
              </a:buClr>
              <a:buSzPts val="1300"/>
            </a:pPr>
            <a:r>
              <a:rPr lang="en" sz="1100" b="1">
                <a:solidFill>
                  <a:schemeClr val="accent1"/>
                </a:solidFill>
                <a:latin typeface="DM Sans"/>
                <a:ea typeface="DM Sans"/>
                <a:cs typeface="DM Sans"/>
                <a:sym typeface="DM Sans"/>
              </a:rPr>
              <a:t>Data is replicated</a:t>
            </a:r>
            <a:endParaRPr sz="1100" b="1">
              <a:solidFill>
                <a:schemeClr val="accent1"/>
              </a:solidFill>
              <a:latin typeface="DM Sans"/>
              <a:ea typeface="DM Sans"/>
              <a:cs typeface="DM Sans"/>
              <a:sym typeface="DM Sans"/>
            </a:endParaRPr>
          </a:p>
        </p:txBody>
      </p:sp>
      <p:pic>
        <p:nvPicPr>
          <p:cNvPr id="3171" name="Google Shape;3171;p464"/>
          <p:cNvPicPr preferRelativeResize="0"/>
          <p:nvPr/>
        </p:nvPicPr>
        <p:blipFill>
          <a:blip r:embed="rId13">
            <a:alphaModFix/>
          </a:blip>
          <a:stretch>
            <a:fillRect/>
          </a:stretch>
        </p:blipFill>
        <p:spPr>
          <a:xfrm>
            <a:off x="6266213" y="3292568"/>
            <a:ext cx="377230" cy="377246"/>
          </a:xfrm>
          <a:prstGeom prst="rect">
            <a:avLst/>
          </a:prstGeom>
          <a:noFill/>
          <a:ln>
            <a:noFill/>
          </a:ln>
        </p:spPr>
      </p:pic>
      <p:pic>
        <p:nvPicPr>
          <p:cNvPr id="3172" name="Google Shape;3172;p464"/>
          <p:cNvPicPr preferRelativeResize="0"/>
          <p:nvPr/>
        </p:nvPicPr>
        <p:blipFill>
          <a:blip r:embed="rId14">
            <a:alphaModFix/>
          </a:blip>
          <a:stretch>
            <a:fillRect/>
          </a:stretch>
        </p:blipFill>
        <p:spPr>
          <a:xfrm>
            <a:off x="5831486" y="3309063"/>
            <a:ext cx="344250" cy="344265"/>
          </a:xfrm>
          <a:prstGeom prst="rect">
            <a:avLst/>
          </a:prstGeom>
          <a:noFill/>
          <a:ln>
            <a:noFill/>
          </a:ln>
        </p:spPr>
      </p:pic>
      <p:pic>
        <p:nvPicPr>
          <p:cNvPr id="3173" name="Google Shape;3173;p464"/>
          <p:cNvPicPr preferRelativeResize="0"/>
          <p:nvPr/>
        </p:nvPicPr>
        <p:blipFill>
          <a:blip r:embed="rId15">
            <a:alphaModFix/>
          </a:blip>
          <a:stretch>
            <a:fillRect/>
          </a:stretch>
        </p:blipFill>
        <p:spPr>
          <a:xfrm>
            <a:off x="6561566" y="3189498"/>
            <a:ext cx="583330" cy="583354"/>
          </a:xfrm>
          <a:prstGeom prst="rect">
            <a:avLst/>
          </a:prstGeom>
          <a:noFill/>
          <a:ln>
            <a:noFill/>
          </a:ln>
        </p:spPr>
      </p:pic>
      <p:sp>
        <p:nvSpPr>
          <p:cNvPr id="3174" name="Google Shape;3174;p464"/>
          <p:cNvSpPr txBox="1"/>
          <p:nvPr/>
        </p:nvSpPr>
        <p:spPr>
          <a:xfrm>
            <a:off x="5633023" y="3681983"/>
            <a:ext cx="1563300" cy="528000"/>
          </a:xfrm>
          <a:prstGeom prst="rect">
            <a:avLst/>
          </a:prstGeom>
          <a:noFill/>
          <a:ln>
            <a:noFill/>
          </a:ln>
        </p:spPr>
        <p:txBody>
          <a:bodyPr spcFirstLastPara="1" wrap="square" lIns="0" tIns="0" rIns="0" bIns="0" anchor="ctr" anchorCtr="0">
            <a:noAutofit/>
          </a:bodyPr>
          <a:lstStyle/>
          <a:p>
            <a:pPr algn="ctr"/>
            <a:r>
              <a:rPr lang="en" sz="1100" b="1">
                <a:solidFill>
                  <a:schemeClr val="accent1"/>
                </a:solidFill>
                <a:latin typeface="DM Sans"/>
                <a:ea typeface="DM Sans"/>
                <a:cs typeface="DM Sans"/>
                <a:sym typeface="DM Sans"/>
              </a:rPr>
              <a:t>Incompatible security and governance models</a:t>
            </a:r>
            <a:endParaRPr sz="1100" b="1">
              <a:solidFill>
                <a:schemeClr val="accent1"/>
              </a:solidFill>
              <a:latin typeface="DM Sans"/>
              <a:ea typeface="DM Sans"/>
              <a:cs typeface="DM Sans"/>
              <a:sym typeface="DM Sans"/>
            </a:endParaRPr>
          </a:p>
        </p:txBody>
      </p:sp>
      <p:pic>
        <p:nvPicPr>
          <p:cNvPr id="3175" name="Google Shape;3175;p464"/>
          <p:cNvPicPr preferRelativeResize="0"/>
          <p:nvPr/>
        </p:nvPicPr>
        <p:blipFill>
          <a:blip r:embed="rId16">
            <a:alphaModFix/>
          </a:blip>
          <a:stretch>
            <a:fillRect/>
          </a:stretch>
        </p:blipFill>
        <p:spPr>
          <a:xfrm>
            <a:off x="9462013" y="4080630"/>
            <a:ext cx="481151" cy="280230"/>
          </a:xfrm>
          <a:prstGeom prst="rect">
            <a:avLst/>
          </a:prstGeom>
          <a:noFill/>
          <a:ln>
            <a:noFill/>
          </a:ln>
        </p:spPr>
      </p:pic>
      <p:pic>
        <p:nvPicPr>
          <p:cNvPr id="3176" name="Google Shape;3176;p464"/>
          <p:cNvPicPr preferRelativeResize="0"/>
          <p:nvPr/>
        </p:nvPicPr>
        <p:blipFill>
          <a:blip r:embed="rId17">
            <a:alphaModFix/>
          </a:blip>
          <a:stretch>
            <a:fillRect/>
          </a:stretch>
        </p:blipFill>
        <p:spPr>
          <a:xfrm>
            <a:off x="9265676" y="4118032"/>
            <a:ext cx="250163" cy="255205"/>
          </a:xfrm>
          <a:prstGeom prst="rect">
            <a:avLst/>
          </a:prstGeom>
          <a:noFill/>
          <a:ln>
            <a:noFill/>
          </a:ln>
        </p:spPr>
      </p:pic>
      <p:pic>
        <p:nvPicPr>
          <p:cNvPr id="3177" name="Google Shape;3177;p464"/>
          <p:cNvPicPr preferRelativeResize="0"/>
          <p:nvPr/>
        </p:nvPicPr>
        <p:blipFill>
          <a:blip r:embed="rId18">
            <a:alphaModFix/>
          </a:blip>
          <a:stretch>
            <a:fillRect/>
          </a:stretch>
        </p:blipFill>
        <p:spPr>
          <a:xfrm>
            <a:off x="9852382" y="4059892"/>
            <a:ext cx="359500" cy="325094"/>
          </a:xfrm>
          <a:prstGeom prst="rect">
            <a:avLst/>
          </a:prstGeom>
          <a:noFill/>
          <a:ln>
            <a:noFill/>
          </a:ln>
        </p:spPr>
      </p:pic>
      <p:pic>
        <p:nvPicPr>
          <p:cNvPr id="3178" name="Google Shape;3178;p464"/>
          <p:cNvPicPr preferRelativeResize="0"/>
          <p:nvPr/>
        </p:nvPicPr>
        <p:blipFill>
          <a:blip r:embed="rId19">
            <a:alphaModFix/>
          </a:blip>
          <a:stretch>
            <a:fillRect/>
          </a:stretch>
        </p:blipFill>
        <p:spPr>
          <a:xfrm>
            <a:off x="10281788" y="4076648"/>
            <a:ext cx="316075" cy="319960"/>
          </a:xfrm>
          <a:prstGeom prst="rect">
            <a:avLst/>
          </a:prstGeom>
          <a:noFill/>
          <a:ln>
            <a:noFill/>
          </a:ln>
        </p:spPr>
      </p:pic>
      <p:pic>
        <p:nvPicPr>
          <p:cNvPr id="3179" name="Google Shape;3179;p464"/>
          <p:cNvPicPr preferRelativeResize="0"/>
          <p:nvPr/>
        </p:nvPicPr>
        <p:blipFill>
          <a:blip r:embed="rId20">
            <a:alphaModFix/>
          </a:blip>
          <a:stretch>
            <a:fillRect/>
          </a:stretch>
        </p:blipFill>
        <p:spPr>
          <a:xfrm>
            <a:off x="10726980" y="4094064"/>
            <a:ext cx="307266" cy="265285"/>
          </a:xfrm>
          <a:prstGeom prst="rect">
            <a:avLst/>
          </a:prstGeom>
          <a:noFill/>
          <a:ln>
            <a:noFill/>
          </a:ln>
        </p:spPr>
      </p:pic>
      <p:sp>
        <p:nvSpPr>
          <p:cNvPr id="3180" name="Google Shape;3180;p464"/>
          <p:cNvSpPr/>
          <p:nvPr/>
        </p:nvSpPr>
        <p:spPr>
          <a:xfrm>
            <a:off x="4375029" y="1899511"/>
            <a:ext cx="925800" cy="4015200"/>
          </a:xfrm>
          <a:prstGeom prst="rect">
            <a:avLst/>
          </a:prstGeom>
          <a:solidFill>
            <a:srgbClr val="FEFEFE"/>
          </a:solidFill>
          <a:ln w="19050" cap="flat" cmpd="sng">
            <a:solidFill>
              <a:srgbClr val="618794"/>
            </a:solidFill>
            <a:prstDash val="solid"/>
            <a:round/>
            <a:headEnd type="none" w="sm" len="sm"/>
            <a:tailEnd type="none" w="sm" len="sm"/>
          </a:ln>
        </p:spPr>
        <p:txBody>
          <a:bodyPr spcFirstLastPara="1" wrap="square" lIns="91425" tIns="45700" rIns="91425" bIns="45700" anchor="ctr" anchorCtr="0">
            <a:noAutofit/>
          </a:bodyPr>
          <a:lstStyle/>
          <a:p>
            <a:pPr algn="ctr">
              <a:buClr>
                <a:srgbClr val="000000"/>
              </a:buClr>
              <a:buSzPts val="1400"/>
            </a:pPr>
            <a:endParaRPr sz="1400">
              <a:solidFill>
                <a:schemeClr val="dk1"/>
              </a:solidFill>
              <a:latin typeface="Arial"/>
              <a:ea typeface="Arial"/>
              <a:cs typeface="Arial"/>
              <a:sym typeface="Arial"/>
            </a:endParaRPr>
          </a:p>
        </p:txBody>
      </p:sp>
      <p:pic>
        <p:nvPicPr>
          <p:cNvPr id="3181" name="Google Shape;3181;p464"/>
          <p:cNvPicPr preferRelativeResize="0"/>
          <p:nvPr/>
        </p:nvPicPr>
        <p:blipFill rotWithShape="1">
          <a:blip r:embed="rId21">
            <a:alphaModFix/>
          </a:blip>
          <a:srcRect/>
          <a:stretch/>
        </p:blipFill>
        <p:spPr>
          <a:xfrm>
            <a:off x="4449500" y="3385148"/>
            <a:ext cx="776875" cy="80101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185"/>
        <p:cNvGrpSpPr/>
        <p:nvPr/>
      </p:nvGrpSpPr>
      <p:grpSpPr>
        <a:xfrm>
          <a:off x="0" y="0"/>
          <a:ext cx="0" cy="0"/>
          <a:chOff x="0" y="0"/>
          <a:chExt cx="0" cy="0"/>
        </a:xfrm>
      </p:grpSpPr>
      <p:sp>
        <p:nvSpPr>
          <p:cNvPr id="3186" name="Google Shape;3186;p465"/>
          <p:cNvSpPr txBox="1">
            <a:spLocks noGrp="1"/>
          </p:cNvSpPr>
          <p:nvPr>
            <p:ph type="title"/>
          </p:nvPr>
        </p:nvSpPr>
        <p:spPr>
          <a:xfrm>
            <a:off x="750646" y="535597"/>
            <a:ext cx="10656600" cy="583500"/>
          </a:xfrm>
          <a:prstGeom prst="rect">
            <a:avLst/>
          </a:prstGeom>
        </p:spPr>
        <p:txBody>
          <a:bodyPr spcFirstLastPara="1" vert="horz" wrap="square" lIns="0" tIns="0" rIns="0" bIns="0" rtlCol="0" anchor="ctr" anchorCtr="0">
            <a:noAutofit/>
          </a:bodyPr>
          <a:lstStyle/>
          <a:p>
            <a:r>
              <a:rPr lang="en" sz="3600"/>
              <a:t>The Databricks Lakehouse Platform</a:t>
            </a:r>
            <a:endParaRPr sz="3600"/>
          </a:p>
        </p:txBody>
      </p:sp>
      <p:sp>
        <p:nvSpPr>
          <p:cNvPr id="3187" name="Google Shape;3187;p465"/>
          <p:cNvSpPr txBox="1">
            <a:spLocks noGrp="1"/>
          </p:cNvSpPr>
          <p:nvPr>
            <p:ph type="body" idx="2"/>
          </p:nvPr>
        </p:nvSpPr>
        <p:spPr>
          <a:xfrm>
            <a:off x="1585592" y="1303025"/>
            <a:ext cx="3978900" cy="962100"/>
          </a:xfrm>
          <a:prstGeom prst="rect">
            <a:avLst/>
          </a:prstGeom>
        </p:spPr>
        <p:txBody>
          <a:bodyPr spcFirstLastPara="1" vert="horz" wrap="square" lIns="0" tIns="0" rIns="0" bIns="0" rtlCol="0" anchor="t" anchorCtr="0">
            <a:noAutofit/>
          </a:bodyPr>
          <a:lstStyle/>
          <a:p>
            <a:pPr marL="0" indent="0">
              <a:buNone/>
            </a:pPr>
            <a:r>
              <a:rPr lang="en" sz="2500"/>
              <a:t>Single Source of truth for all your data</a:t>
            </a:r>
            <a:endParaRPr sz="2500"/>
          </a:p>
        </p:txBody>
      </p:sp>
      <p:sp>
        <p:nvSpPr>
          <p:cNvPr id="3188" name="Google Shape;3188;p465"/>
          <p:cNvSpPr/>
          <p:nvPr/>
        </p:nvSpPr>
        <p:spPr>
          <a:xfrm>
            <a:off x="734792" y="1393088"/>
            <a:ext cx="454200" cy="393600"/>
          </a:xfrm>
          <a:prstGeom prst="hexagon">
            <a:avLst>
              <a:gd name="adj" fmla="val 25000"/>
              <a:gd name="vf" fmla="val 115470"/>
            </a:avLst>
          </a:prstGeom>
          <a:solidFill>
            <a:srgbClr val="1B5162"/>
          </a:solidFill>
          <a:ln>
            <a:noFill/>
          </a:ln>
        </p:spPr>
        <p:txBody>
          <a:bodyPr spcFirstLastPara="1" wrap="square" lIns="0" tIns="0" rIns="0" bIns="0" anchor="ctr" anchorCtr="0">
            <a:noAutofit/>
          </a:bodyPr>
          <a:lstStyle/>
          <a:p>
            <a:pPr algn="ctr"/>
            <a:r>
              <a:rPr lang="en" b="1">
                <a:solidFill>
                  <a:srgbClr val="42BA91"/>
                </a:solidFill>
                <a:latin typeface="Inter"/>
                <a:ea typeface="Inter"/>
                <a:cs typeface="Inter"/>
                <a:sym typeface="Inter"/>
              </a:rPr>
              <a:t>✓</a:t>
            </a:r>
            <a:endParaRPr b="1">
              <a:solidFill>
                <a:srgbClr val="42BA91"/>
              </a:solidFill>
              <a:latin typeface="Inter"/>
              <a:ea typeface="Inter"/>
              <a:cs typeface="Inter"/>
              <a:sym typeface="Inter"/>
            </a:endParaRPr>
          </a:p>
        </p:txBody>
      </p:sp>
      <p:sp>
        <p:nvSpPr>
          <p:cNvPr id="3189" name="Google Shape;3189;p465"/>
          <p:cNvSpPr/>
          <p:nvPr/>
        </p:nvSpPr>
        <p:spPr>
          <a:xfrm>
            <a:off x="734792" y="2384200"/>
            <a:ext cx="454200" cy="393600"/>
          </a:xfrm>
          <a:prstGeom prst="hexagon">
            <a:avLst>
              <a:gd name="adj" fmla="val 25000"/>
              <a:gd name="vf" fmla="val 115470"/>
            </a:avLst>
          </a:prstGeom>
          <a:solidFill>
            <a:srgbClr val="1B5162"/>
          </a:solidFill>
          <a:ln>
            <a:noFill/>
          </a:ln>
        </p:spPr>
        <p:txBody>
          <a:bodyPr spcFirstLastPara="1" wrap="square" lIns="0" tIns="0" rIns="0" bIns="0" anchor="ctr" anchorCtr="0">
            <a:noAutofit/>
          </a:bodyPr>
          <a:lstStyle/>
          <a:p>
            <a:pPr algn="ctr"/>
            <a:r>
              <a:rPr lang="en" b="1">
                <a:solidFill>
                  <a:srgbClr val="42BA91"/>
                </a:solidFill>
                <a:latin typeface="Inter"/>
                <a:ea typeface="Inter"/>
                <a:cs typeface="Inter"/>
                <a:sym typeface="Inter"/>
              </a:rPr>
              <a:t>✓</a:t>
            </a:r>
            <a:endParaRPr b="1">
              <a:solidFill>
                <a:srgbClr val="42BA91"/>
              </a:solidFill>
              <a:latin typeface="Inter"/>
              <a:ea typeface="Inter"/>
              <a:cs typeface="Inter"/>
              <a:sym typeface="Inter"/>
            </a:endParaRPr>
          </a:p>
        </p:txBody>
      </p:sp>
      <p:sp>
        <p:nvSpPr>
          <p:cNvPr id="3190" name="Google Shape;3190;p465"/>
          <p:cNvSpPr/>
          <p:nvPr/>
        </p:nvSpPr>
        <p:spPr>
          <a:xfrm>
            <a:off x="734792" y="3290688"/>
            <a:ext cx="454200" cy="393600"/>
          </a:xfrm>
          <a:prstGeom prst="hexagon">
            <a:avLst>
              <a:gd name="adj" fmla="val 25000"/>
              <a:gd name="vf" fmla="val 115470"/>
            </a:avLst>
          </a:prstGeom>
          <a:solidFill>
            <a:srgbClr val="1B5162"/>
          </a:solidFill>
          <a:ln>
            <a:noFill/>
          </a:ln>
        </p:spPr>
        <p:txBody>
          <a:bodyPr spcFirstLastPara="1" wrap="square" lIns="0" tIns="0" rIns="0" bIns="0" anchor="ctr" anchorCtr="0">
            <a:noAutofit/>
          </a:bodyPr>
          <a:lstStyle/>
          <a:p>
            <a:pPr algn="ctr"/>
            <a:r>
              <a:rPr lang="en" b="1">
                <a:solidFill>
                  <a:srgbClr val="42BA91"/>
                </a:solidFill>
                <a:latin typeface="Inter"/>
                <a:ea typeface="Inter"/>
                <a:cs typeface="Inter"/>
                <a:sym typeface="Inter"/>
              </a:rPr>
              <a:t>✓</a:t>
            </a:r>
            <a:endParaRPr b="1">
              <a:solidFill>
                <a:srgbClr val="42BA91"/>
              </a:solidFill>
              <a:latin typeface="Inter"/>
              <a:ea typeface="Inter"/>
              <a:cs typeface="Inter"/>
              <a:sym typeface="Inter"/>
            </a:endParaRPr>
          </a:p>
        </p:txBody>
      </p:sp>
      <p:sp>
        <p:nvSpPr>
          <p:cNvPr id="3191" name="Google Shape;3191;p465"/>
          <p:cNvSpPr txBox="1">
            <a:spLocks noGrp="1"/>
          </p:cNvSpPr>
          <p:nvPr>
            <p:ph type="subTitle" idx="1"/>
          </p:nvPr>
        </p:nvSpPr>
        <p:spPr>
          <a:xfrm>
            <a:off x="1585592" y="2296850"/>
            <a:ext cx="3978900" cy="962100"/>
          </a:xfrm>
          <a:prstGeom prst="rect">
            <a:avLst/>
          </a:prstGeom>
        </p:spPr>
        <p:txBody>
          <a:bodyPr spcFirstLastPara="1" vert="horz" wrap="square" lIns="0" tIns="0" rIns="0" bIns="0" rtlCol="0" anchor="t" anchorCtr="0">
            <a:noAutofit/>
          </a:bodyPr>
          <a:lstStyle/>
          <a:p>
            <a:pPr marL="0" indent="0"/>
            <a:r>
              <a:rPr lang="en" sz="2500">
                <a:solidFill>
                  <a:schemeClr val="dk1"/>
                </a:solidFill>
                <a:latin typeface="DM Sans"/>
                <a:ea typeface="DM Sans"/>
                <a:cs typeface="DM Sans"/>
                <a:sym typeface="DM Sans"/>
              </a:rPr>
              <a:t>End-to-end ETL and Streaming capabilities</a:t>
            </a:r>
            <a:endParaRPr sz="2500">
              <a:solidFill>
                <a:schemeClr val="dk1"/>
              </a:solidFill>
              <a:latin typeface="DM Sans"/>
              <a:ea typeface="DM Sans"/>
              <a:cs typeface="DM Sans"/>
              <a:sym typeface="DM Sans"/>
            </a:endParaRPr>
          </a:p>
        </p:txBody>
      </p:sp>
      <p:sp>
        <p:nvSpPr>
          <p:cNvPr id="3192" name="Google Shape;3192;p465"/>
          <p:cNvSpPr txBox="1">
            <a:spLocks noGrp="1"/>
          </p:cNvSpPr>
          <p:nvPr>
            <p:ph type="body" idx="2"/>
          </p:nvPr>
        </p:nvSpPr>
        <p:spPr>
          <a:xfrm>
            <a:off x="1585592" y="3206050"/>
            <a:ext cx="3978900" cy="962100"/>
          </a:xfrm>
          <a:prstGeom prst="rect">
            <a:avLst/>
          </a:prstGeom>
        </p:spPr>
        <p:txBody>
          <a:bodyPr spcFirstLastPara="1" vert="horz" wrap="square" lIns="0" tIns="0" rIns="0" bIns="0" rtlCol="0" anchor="t" anchorCtr="0">
            <a:noAutofit/>
          </a:bodyPr>
          <a:lstStyle/>
          <a:p>
            <a:pPr marL="0" indent="0">
              <a:buNone/>
            </a:pPr>
            <a:r>
              <a:rPr lang="en" sz="2500"/>
              <a:t>High performance BI on your data lake</a:t>
            </a:r>
            <a:endParaRPr sz="2500"/>
          </a:p>
        </p:txBody>
      </p:sp>
      <p:sp>
        <p:nvSpPr>
          <p:cNvPr id="3193" name="Google Shape;3193;p465"/>
          <p:cNvSpPr/>
          <p:nvPr/>
        </p:nvSpPr>
        <p:spPr>
          <a:xfrm>
            <a:off x="6283391" y="4322675"/>
            <a:ext cx="5453700" cy="1140900"/>
          </a:xfrm>
          <a:prstGeom prst="rect">
            <a:avLst/>
          </a:prstGeom>
          <a:solidFill>
            <a:srgbClr val="1B3139"/>
          </a:solidFill>
          <a:ln>
            <a:noFill/>
          </a:ln>
        </p:spPr>
        <p:txBody>
          <a:bodyPr spcFirstLastPara="1" wrap="square" lIns="91425" tIns="45700" rIns="91425" bIns="45700" anchor="ctr" anchorCtr="0">
            <a:noAutofit/>
          </a:bodyPr>
          <a:lstStyle/>
          <a:p>
            <a:pPr algn="ctr"/>
            <a:endParaRPr sz="1900">
              <a:solidFill>
                <a:srgbClr val="F9F7F4"/>
              </a:solidFill>
              <a:latin typeface="Arial"/>
              <a:ea typeface="Arial"/>
              <a:cs typeface="Arial"/>
              <a:sym typeface="Arial"/>
            </a:endParaRPr>
          </a:p>
        </p:txBody>
      </p:sp>
      <p:sp>
        <p:nvSpPr>
          <p:cNvPr id="3194" name="Google Shape;3194;p465"/>
          <p:cNvSpPr txBox="1"/>
          <p:nvPr/>
        </p:nvSpPr>
        <p:spPr>
          <a:xfrm>
            <a:off x="6371044" y="4384625"/>
            <a:ext cx="5259300" cy="554100"/>
          </a:xfrm>
          <a:prstGeom prst="rect">
            <a:avLst/>
          </a:prstGeom>
          <a:noFill/>
          <a:ln>
            <a:noFill/>
          </a:ln>
        </p:spPr>
        <p:txBody>
          <a:bodyPr spcFirstLastPara="1" wrap="square" lIns="91425" tIns="45700" rIns="91425" bIns="45700" anchor="t" anchorCtr="0">
            <a:spAutoFit/>
          </a:bodyPr>
          <a:lstStyle/>
          <a:p>
            <a:pPr algn="ctr"/>
            <a:r>
              <a:rPr lang="en" sz="1500">
                <a:solidFill>
                  <a:srgbClr val="F9F7F4"/>
                </a:solidFill>
                <a:latin typeface="DM Sans"/>
                <a:ea typeface="DM Sans"/>
                <a:cs typeface="DM Sans"/>
                <a:sym typeface="DM Sans"/>
              </a:rPr>
              <a:t>Data processing and management built on open source and open standards</a:t>
            </a:r>
            <a:endParaRPr sz="1500">
              <a:solidFill>
                <a:srgbClr val="000000"/>
              </a:solidFill>
              <a:latin typeface="DM Sans"/>
              <a:ea typeface="DM Sans"/>
              <a:cs typeface="DM Sans"/>
              <a:sym typeface="DM Sans"/>
            </a:endParaRPr>
          </a:p>
        </p:txBody>
      </p:sp>
      <p:sp>
        <p:nvSpPr>
          <p:cNvPr id="3195" name="Google Shape;3195;p465"/>
          <p:cNvSpPr/>
          <p:nvPr/>
        </p:nvSpPr>
        <p:spPr>
          <a:xfrm>
            <a:off x="6283391" y="3127925"/>
            <a:ext cx="5453700" cy="1140900"/>
          </a:xfrm>
          <a:prstGeom prst="rect">
            <a:avLst/>
          </a:prstGeom>
          <a:solidFill>
            <a:srgbClr val="1B5162"/>
          </a:solidFill>
          <a:ln>
            <a:noFill/>
          </a:ln>
        </p:spPr>
        <p:txBody>
          <a:bodyPr spcFirstLastPara="1" wrap="square" lIns="91425" tIns="45700" rIns="91425" bIns="45700" anchor="ctr" anchorCtr="0">
            <a:noAutofit/>
          </a:bodyPr>
          <a:lstStyle/>
          <a:p>
            <a:pPr algn="ctr"/>
            <a:endParaRPr sz="1900">
              <a:solidFill>
                <a:srgbClr val="F9F7F4"/>
              </a:solidFill>
              <a:latin typeface="Arial"/>
              <a:ea typeface="Arial"/>
              <a:cs typeface="Arial"/>
              <a:sym typeface="Arial"/>
            </a:endParaRPr>
          </a:p>
        </p:txBody>
      </p:sp>
      <p:sp>
        <p:nvSpPr>
          <p:cNvPr id="3196" name="Google Shape;3196;p465"/>
          <p:cNvSpPr/>
          <p:nvPr/>
        </p:nvSpPr>
        <p:spPr>
          <a:xfrm>
            <a:off x="6283390" y="1729125"/>
            <a:ext cx="5453700" cy="1327500"/>
          </a:xfrm>
          <a:prstGeom prst="rect">
            <a:avLst/>
          </a:prstGeom>
          <a:solidFill>
            <a:srgbClr val="618794"/>
          </a:solidFill>
          <a:ln>
            <a:noFill/>
          </a:ln>
        </p:spPr>
        <p:txBody>
          <a:bodyPr spcFirstLastPara="1" wrap="square" lIns="91425" tIns="45700" rIns="91425" bIns="45700" anchor="ctr" anchorCtr="0">
            <a:noAutofit/>
          </a:bodyPr>
          <a:lstStyle/>
          <a:p>
            <a:pPr algn="ctr"/>
            <a:endParaRPr sz="1900">
              <a:solidFill>
                <a:srgbClr val="F9F7F4"/>
              </a:solidFill>
              <a:latin typeface="Arial"/>
              <a:ea typeface="Arial"/>
              <a:cs typeface="Arial"/>
              <a:sym typeface="Arial"/>
            </a:endParaRPr>
          </a:p>
        </p:txBody>
      </p:sp>
      <p:sp>
        <p:nvSpPr>
          <p:cNvPr id="3197" name="Google Shape;3197;p465"/>
          <p:cNvSpPr txBox="1"/>
          <p:nvPr/>
        </p:nvSpPr>
        <p:spPr>
          <a:xfrm>
            <a:off x="6433654" y="3324450"/>
            <a:ext cx="5171400" cy="554100"/>
          </a:xfrm>
          <a:prstGeom prst="rect">
            <a:avLst/>
          </a:prstGeom>
          <a:noFill/>
          <a:ln>
            <a:noFill/>
          </a:ln>
        </p:spPr>
        <p:txBody>
          <a:bodyPr spcFirstLastPara="1" wrap="square" lIns="91425" tIns="45700" rIns="91425" bIns="45700" anchor="t" anchorCtr="0">
            <a:spAutoFit/>
          </a:bodyPr>
          <a:lstStyle/>
          <a:p>
            <a:pPr algn="ctr"/>
            <a:r>
              <a:rPr lang="en" sz="1500">
                <a:solidFill>
                  <a:srgbClr val="F9F7F4"/>
                </a:solidFill>
                <a:latin typeface="DM Sans"/>
                <a:ea typeface="DM Sans"/>
                <a:cs typeface="DM Sans"/>
                <a:sym typeface="DM Sans"/>
              </a:rPr>
              <a:t>Common security, governance, </a:t>
            </a:r>
            <a:br>
              <a:rPr lang="en" sz="1500">
                <a:solidFill>
                  <a:srgbClr val="F9F7F4"/>
                </a:solidFill>
                <a:latin typeface="DM Sans"/>
                <a:ea typeface="DM Sans"/>
                <a:cs typeface="DM Sans"/>
                <a:sym typeface="DM Sans"/>
              </a:rPr>
            </a:br>
            <a:r>
              <a:rPr lang="en" sz="1500">
                <a:solidFill>
                  <a:srgbClr val="F9F7F4"/>
                </a:solidFill>
                <a:latin typeface="DM Sans"/>
                <a:ea typeface="DM Sans"/>
                <a:cs typeface="DM Sans"/>
                <a:sym typeface="DM Sans"/>
              </a:rPr>
              <a:t>and administration</a:t>
            </a:r>
            <a:endParaRPr sz="1500">
              <a:solidFill>
                <a:srgbClr val="000000"/>
              </a:solidFill>
              <a:latin typeface="DM Sans"/>
              <a:ea typeface="DM Sans"/>
              <a:cs typeface="DM Sans"/>
              <a:sym typeface="DM Sans"/>
            </a:endParaRPr>
          </a:p>
        </p:txBody>
      </p:sp>
      <p:sp>
        <p:nvSpPr>
          <p:cNvPr id="3198" name="Google Shape;3198;p465"/>
          <p:cNvSpPr txBox="1"/>
          <p:nvPr/>
        </p:nvSpPr>
        <p:spPr>
          <a:xfrm>
            <a:off x="6410009" y="1812600"/>
            <a:ext cx="5171400" cy="554100"/>
          </a:xfrm>
          <a:prstGeom prst="rect">
            <a:avLst/>
          </a:prstGeom>
          <a:noFill/>
          <a:ln>
            <a:noFill/>
          </a:ln>
        </p:spPr>
        <p:txBody>
          <a:bodyPr spcFirstLastPara="1" wrap="square" lIns="91425" tIns="45700" rIns="91425" bIns="45700" anchor="t" anchorCtr="0">
            <a:spAutoFit/>
          </a:bodyPr>
          <a:lstStyle/>
          <a:p>
            <a:pPr algn="ctr"/>
            <a:r>
              <a:rPr lang="en" sz="1500">
                <a:solidFill>
                  <a:srgbClr val="F9F7F4"/>
                </a:solidFill>
                <a:latin typeface="DM Sans"/>
                <a:ea typeface="DM Sans"/>
                <a:cs typeface="DM Sans"/>
                <a:sym typeface="DM Sans"/>
              </a:rPr>
              <a:t>Integrated and collaborative </a:t>
            </a:r>
            <a:br>
              <a:rPr lang="en" sz="1500">
                <a:solidFill>
                  <a:srgbClr val="F9F7F4"/>
                </a:solidFill>
                <a:latin typeface="DM Sans"/>
                <a:ea typeface="DM Sans"/>
                <a:cs typeface="DM Sans"/>
                <a:sym typeface="DM Sans"/>
              </a:rPr>
            </a:br>
            <a:r>
              <a:rPr lang="en" sz="1500">
                <a:solidFill>
                  <a:srgbClr val="F9F7F4"/>
                </a:solidFill>
                <a:latin typeface="DM Sans"/>
                <a:ea typeface="DM Sans"/>
                <a:cs typeface="DM Sans"/>
                <a:sym typeface="DM Sans"/>
              </a:rPr>
              <a:t>role-based experiences with open APIs</a:t>
            </a:r>
            <a:endParaRPr sz="1500">
              <a:solidFill>
                <a:srgbClr val="000000"/>
              </a:solidFill>
              <a:latin typeface="DM Sans"/>
              <a:ea typeface="DM Sans"/>
              <a:cs typeface="DM Sans"/>
              <a:sym typeface="DM Sans"/>
            </a:endParaRPr>
          </a:p>
        </p:txBody>
      </p:sp>
      <p:sp>
        <p:nvSpPr>
          <p:cNvPr id="3199" name="Google Shape;3199;p465"/>
          <p:cNvSpPr/>
          <p:nvPr/>
        </p:nvSpPr>
        <p:spPr>
          <a:xfrm>
            <a:off x="6410011" y="2449350"/>
            <a:ext cx="1665300" cy="471300"/>
          </a:xfrm>
          <a:prstGeom prst="rect">
            <a:avLst/>
          </a:prstGeom>
          <a:solidFill>
            <a:schemeClr val="accent4"/>
          </a:solidFill>
          <a:ln>
            <a:noFill/>
          </a:ln>
        </p:spPr>
        <p:txBody>
          <a:bodyPr spcFirstLastPara="1" wrap="square" lIns="91425" tIns="45700" rIns="91425" bIns="45700" anchor="ctr" anchorCtr="0">
            <a:noAutofit/>
          </a:bodyPr>
          <a:lstStyle/>
          <a:p>
            <a:pPr algn="ctr"/>
            <a:r>
              <a:rPr lang="en" sz="1200" b="1">
                <a:solidFill>
                  <a:srgbClr val="F9F7F4"/>
                </a:solidFill>
                <a:latin typeface="DM Sans"/>
                <a:ea typeface="DM Sans"/>
                <a:cs typeface="DM Sans"/>
                <a:sym typeface="DM Sans"/>
              </a:rPr>
              <a:t>BI &amp; SQL</a:t>
            </a:r>
            <a:endParaRPr sz="1200" b="1">
              <a:solidFill>
                <a:srgbClr val="F9F7F4"/>
              </a:solidFill>
              <a:latin typeface="DM Sans"/>
              <a:ea typeface="DM Sans"/>
              <a:cs typeface="DM Sans"/>
              <a:sym typeface="DM Sans"/>
            </a:endParaRPr>
          </a:p>
        </p:txBody>
      </p:sp>
      <p:sp>
        <p:nvSpPr>
          <p:cNvPr id="3200" name="Google Shape;3200;p465"/>
          <p:cNvSpPr/>
          <p:nvPr/>
        </p:nvSpPr>
        <p:spPr>
          <a:xfrm>
            <a:off x="8230652" y="2458575"/>
            <a:ext cx="1665300" cy="471300"/>
          </a:xfrm>
          <a:prstGeom prst="rect">
            <a:avLst/>
          </a:prstGeom>
          <a:solidFill>
            <a:schemeClr val="accent4"/>
          </a:solidFill>
          <a:ln>
            <a:noFill/>
          </a:ln>
        </p:spPr>
        <p:txBody>
          <a:bodyPr spcFirstLastPara="1" wrap="square" lIns="91425" tIns="45700" rIns="91425" bIns="45700" anchor="ctr" anchorCtr="0">
            <a:noAutofit/>
          </a:bodyPr>
          <a:lstStyle/>
          <a:p>
            <a:pPr algn="ctr"/>
            <a:r>
              <a:rPr lang="en" sz="1200" b="1">
                <a:solidFill>
                  <a:srgbClr val="F9F7F4"/>
                </a:solidFill>
                <a:latin typeface="DM Sans"/>
                <a:ea typeface="DM Sans"/>
                <a:cs typeface="DM Sans"/>
                <a:sym typeface="DM Sans"/>
              </a:rPr>
              <a:t>Data engineering / </a:t>
            </a:r>
            <a:br>
              <a:rPr lang="en" sz="1200" b="1">
                <a:solidFill>
                  <a:srgbClr val="F9F7F4"/>
                </a:solidFill>
                <a:latin typeface="DM Sans"/>
                <a:ea typeface="DM Sans"/>
                <a:cs typeface="DM Sans"/>
                <a:sym typeface="DM Sans"/>
              </a:rPr>
            </a:br>
            <a:r>
              <a:rPr lang="en" sz="1200" b="1">
                <a:solidFill>
                  <a:srgbClr val="F9F7F4"/>
                </a:solidFill>
                <a:latin typeface="DM Sans"/>
                <a:ea typeface="DM Sans"/>
                <a:cs typeface="DM Sans"/>
                <a:sym typeface="DM Sans"/>
              </a:rPr>
              <a:t>Streaming</a:t>
            </a:r>
            <a:endParaRPr sz="1200" b="1">
              <a:solidFill>
                <a:srgbClr val="F9F7F4"/>
              </a:solidFill>
              <a:latin typeface="DM Sans"/>
              <a:ea typeface="DM Sans"/>
              <a:cs typeface="DM Sans"/>
              <a:sym typeface="DM Sans"/>
            </a:endParaRPr>
          </a:p>
        </p:txBody>
      </p:sp>
      <p:sp>
        <p:nvSpPr>
          <p:cNvPr id="3201" name="Google Shape;3201;p465"/>
          <p:cNvSpPr/>
          <p:nvPr/>
        </p:nvSpPr>
        <p:spPr>
          <a:xfrm>
            <a:off x="10009684" y="2454525"/>
            <a:ext cx="1620600" cy="471300"/>
          </a:xfrm>
          <a:prstGeom prst="rect">
            <a:avLst/>
          </a:prstGeom>
          <a:solidFill>
            <a:schemeClr val="accent4"/>
          </a:solidFill>
          <a:ln>
            <a:noFill/>
          </a:ln>
        </p:spPr>
        <p:txBody>
          <a:bodyPr spcFirstLastPara="1" wrap="square" lIns="91425" tIns="45700" rIns="91425" bIns="45700" anchor="ctr" anchorCtr="0">
            <a:noAutofit/>
          </a:bodyPr>
          <a:lstStyle/>
          <a:p>
            <a:pPr algn="ctr"/>
            <a:r>
              <a:rPr lang="en" sz="1200" b="1">
                <a:solidFill>
                  <a:srgbClr val="F9F7F4"/>
                </a:solidFill>
                <a:latin typeface="DM Sans"/>
                <a:ea typeface="DM Sans"/>
                <a:cs typeface="DM Sans"/>
                <a:sym typeface="DM Sans"/>
              </a:rPr>
              <a:t>Data science &amp; ML</a:t>
            </a:r>
            <a:endParaRPr sz="1200" b="1">
              <a:solidFill>
                <a:srgbClr val="F9F7F4"/>
              </a:solidFill>
              <a:latin typeface="DM Sans"/>
              <a:ea typeface="DM Sans"/>
              <a:cs typeface="DM Sans"/>
              <a:sym typeface="DM Sans"/>
            </a:endParaRPr>
          </a:p>
        </p:txBody>
      </p:sp>
      <p:pic>
        <p:nvPicPr>
          <p:cNvPr id="3202" name="Google Shape;3202;p465"/>
          <p:cNvPicPr preferRelativeResize="0"/>
          <p:nvPr/>
        </p:nvPicPr>
        <p:blipFill>
          <a:blip r:embed="rId3">
            <a:alphaModFix/>
          </a:blip>
          <a:stretch>
            <a:fillRect/>
          </a:stretch>
        </p:blipFill>
        <p:spPr>
          <a:xfrm>
            <a:off x="8017908" y="4959764"/>
            <a:ext cx="1744147" cy="471082"/>
          </a:xfrm>
          <a:prstGeom prst="rect">
            <a:avLst/>
          </a:prstGeom>
          <a:noFill/>
          <a:ln>
            <a:noFill/>
          </a:ln>
        </p:spPr>
      </p:pic>
      <p:sp>
        <p:nvSpPr>
          <p:cNvPr id="3203" name="Google Shape;3203;p465"/>
          <p:cNvSpPr/>
          <p:nvPr/>
        </p:nvSpPr>
        <p:spPr>
          <a:xfrm rot="10800000" flipH="1">
            <a:off x="6293139" y="5529000"/>
            <a:ext cx="5444100" cy="1557600"/>
          </a:xfrm>
          <a:prstGeom prst="rect">
            <a:avLst/>
          </a:prstGeom>
          <a:gradFill>
            <a:gsLst>
              <a:gs pos="0">
                <a:srgbClr val="FFFFFF">
                  <a:alpha val="0"/>
                </a:srgbClr>
              </a:gs>
              <a:gs pos="100000">
                <a:srgbClr val="FFFFFF"/>
              </a:gs>
            </a:gsLst>
            <a:lin ang="5400012" scaled="0"/>
          </a:gradFill>
          <a:ln>
            <a:noFill/>
          </a:ln>
        </p:spPr>
        <p:txBody>
          <a:bodyPr spcFirstLastPara="1" wrap="square" lIns="91425" tIns="45700" rIns="91425" bIns="45700" anchor="ctr" anchorCtr="0">
            <a:noAutofit/>
          </a:bodyPr>
          <a:lstStyle/>
          <a:p>
            <a:pPr algn="ctr"/>
            <a:endParaRPr sz="1900">
              <a:solidFill>
                <a:srgbClr val="FFFFFF"/>
              </a:solidFill>
              <a:latin typeface="DM Sans"/>
              <a:ea typeface="DM Sans"/>
              <a:cs typeface="DM Sans"/>
              <a:sym typeface="DM Sans"/>
            </a:endParaRPr>
          </a:p>
        </p:txBody>
      </p:sp>
      <p:sp>
        <p:nvSpPr>
          <p:cNvPr id="3204" name="Google Shape;3204;p465"/>
          <p:cNvSpPr/>
          <p:nvPr/>
        </p:nvSpPr>
        <p:spPr>
          <a:xfrm>
            <a:off x="10343475" y="6379100"/>
            <a:ext cx="928800" cy="440700"/>
          </a:xfrm>
          <a:prstGeom prst="rect">
            <a:avLst/>
          </a:prstGeom>
          <a:solidFill>
            <a:srgbClr val="F9F7F4"/>
          </a:solidFill>
          <a:ln>
            <a:noFill/>
          </a:ln>
        </p:spPr>
        <p:txBody>
          <a:bodyPr spcFirstLastPara="1" wrap="square" lIns="91425" tIns="91425" rIns="91425" bIns="91425" anchor="ctr" anchorCtr="0">
            <a:noAutofit/>
          </a:bodyPr>
          <a:lstStyle/>
          <a:p>
            <a:endParaRPr/>
          </a:p>
        </p:txBody>
      </p:sp>
      <p:pic>
        <p:nvPicPr>
          <p:cNvPr id="3205" name="Google Shape;3205;p465" descr="A picture containing flower&#10;&#10;Description automatically generated"/>
          <p:cNvPicPr preferRelativeResize="0"/>
          <p:nvPr/>
        </p:nvPicPr>
        <p:blipFill rotWithShape="1">
          <a:blip r:embed="rId4">
            <a:alphaModFix/>
          </a:blip>
          <a:srcRect/>
          <a:stretch/>
        </p:blipFill>
        <p:spPr>
          <a:xfrm>
            <a:off x="8780377" y="6234147"/>
            <a:ext cx="565739" cy="338315"/>
          </a:xfrm>
          <a:prstGeom prst="rect">
            <a:avLst/>
          </a:prstGeom>
          <a:noFill/>
          <a:ln>
            <a:noFill/>
          </a:ln>
        </p:spPr>
      </p:pic>
      <p:pic>
        <p:nvPicPr>
          <p:cNvPr id="3206" name="Google Shape;3206;p465" descr="A picture containing drawing, food&#10;&#10;Description automatically generated"/>
          <p:cNvPicPr preferRelativeResize="0"/>
          <p:nvPr/>
        </p:nvPicPr>
        <p:blipFill rotWithShape="1">
          <a:blip r:embed="rId5">
            <a:alphaModFix/>
          </a:blip>
          <a:srcRect/>
          <a:stretch/>
        </p:blipFill>
        <p:spPr>
          <a:xfrm>
            <a:off x="6433646" y="6259752"/>
            <a:ext cx="2007594" cy="287094"/>
          </a:xfrm>
          <a:prstGeom prst="rect">
            <a:avLst/>
          </a:prstGeom>
          <a:noFill/>
          <a:ln>
            <a:noFill/>
          </a:ln>
        </p:spPr>
      </p:pic>
      <p:pic>
        <p:nvPicPr>
          <p:cNvPr id="3207" name="Google Shape;3207;p465"/>
          <p:cNvPicPr preferRelativeResize="0"/>
          <p:nvPr/>
        </p:nvPicPr>
        <p:blipFill rotWithShape="1">
          <a:blip r:embed="rId6">
            <a:alphaModFix/>
          </a:blip>
          <a:srcRect l="11458" t="40837" r="11434" b="40870"/>
          <a:stretch/>
        </p:blipFill>
        <p:spPr>
          <a:xfrm>
            <a:off x="9776030" y="6256694"/>
            <a:ext cx="1854188" cy="293280"/>
          </a:xfrm>
          <a:prstGeom prst="rect">
            <a:avLst/>
          </a:prstGeom>
          <a:noFill/>
          <a:ln>
            <a:noFill/>
          </a:ln>
        </p:spPr>
      </p:pic>
      <p:sp>
        <p:nvSpPr>
          <p:cNvPr id="3208" name="Google Shape;3208;p465"/>
          <p:cNvSpPr txBox="1"/>
          <p:nvPr/>
        </p:nvSpPr>
        <p:spPr>
          <a:xfrm>
            <a:off x="6292389" y="5573525"/>
            <a:ext cx="5453700" cy="480300"/>
          </a:xfrm>
          <a:prstGeom prst="rect">
            <a:avLst/>
          </a:prstGeom>
          <a:noFill/>
          <a:ln>
            <a:noFill/>
          </a:ln>
        </p:spPr>
        <p:txBody>
          <a:bodyPr spcFirstLastPara="1" wrap="square" lIns="91425" tIns="45700" rIns="91425" bIns="45700" anchor="t" anchorCtr="0">
            <a:spAutoFit/>
          </a:bodyPr>
          <a:lstStyle/>
          <a:p>
            <a:pPr algn="ctr">
              <a:lnSpc>
                <a:spcPct val="90000"/>
              </a:lnSpc>
            </a:pPr>
            <a:r>
              <a:rPr lang="en" sz="1500">
                <a:solidFill>
                  <a:srgbClr val="000000"/>
                </a:solidFill>
                <a:latin typeface="DM Sans Medium"/>
                <a:ea typeface="DM Sans Medium"/>
                <a:cs typeface="DM Sans Medium"/>
                <a:sym typeface="DM Sans Medium"/>
              </a:rPr>
              <a:t>Cloud Data Lake</a:t>
            </a:r>
            <a:r>
              <a:rPr lang="en" sz="1500">
                <a:solidFill>
                  <a:srgbClr val="000000"/>
                </a:solidFill>
                <a:latin typeface="DM Sans"/>
                <a:ea typeface="DM Sans"/>
                <a:cs typeface="DM Sans"/>
                <a:sym typeface="DM Sans"/>
              </a:rPr>
              <a:t> </a:t>
            </a:r>
            <a:br>
              <a:rPr lang="en" sz="1500">
                <a:solidFill>
                  <a:srgbClr val="000000"/>
                </a:solidFill>
                <a:latin typeface="DM Sans"/>
                <a:ea typeface="DM Sans"/>
                <a:cs typeface="DM Sans"/>
                <a:sym typeface="DM Sans"/>
              </a:rPr>
            </a:br>
            <a:r>
              <a:rPr lang="en" sz="1300">
                <a:solidFill>
                  <a:srgbClr val="1B5162"/>
                </a:solidFill>
                <a:latin typeface="DM Sans"/>
                <a:ea typeface="DM Sans"/>
                <a:cs typeface="DM Sans"/>
                <a:sym typeface="DM Sans"/>
              </a:rPr>
              <a:t>structured, semi-structured, and unstructured data</a:t>
            </a:r>
            <a:endParaRPr sz="1300">
              <a:solidFill>
                <a:srgbClr val="1B5162"/>
              </a:solidFill>
              <a:latin typeface="DM Sans"/>
              <a:ea typeface="DM Sans"/>
              <a:cs typeface="DM Sans"/>
              <a:sym typeface="DM Sans"/>
            </a:endParaRPr>
          </a:p>
        </p:txBody>
      </p:sp>
      <p:sp>
        <p:nvSpPr>
          <p:cNvPr id="3209" name="Google Shape;3209;p465"/>
          <p:cNvSpPr/>
          <p:nvPr/>
        </p:nvSpPr>
        <p:spPr>
          <a:xfrm>
            <a:off x="734792" y="4281838"/>
            <a:ext cx="454200" cy="393600"/>
          </a:xfrm>
          <a:prstGeom prst="hexagon">
            <a:avLst>
              <a:gd name="adj" fmla="val 25000"/>
              <a:gd name="vf" fmla="val 115470"/>
            </a:avLst>
          </a:prstGeom>
          <a:solidFill>
            <a:srgbClr val="1B5162"/>
          </a:solidFill>
          <a:ln>
            <a:noFill/>
          </a:ln>
        </p:spPr>
        <p:txBody>
          <a:bodyPr spcFirstLastPara="1" wrap="square" lIns="0" tIns="0" rIns="0" bIns="0" anchor="ctr" anchorCtr="0">
            <a:noAutofit/>
          </a:bodyPr>
          <a:lstStyle/>
          <a:p>
            <a:pPr algn="ctr"/>
            <a:r>
              <a:rPr lang="en" b="1">
                <a:solidFill>
                  <a:srgbClr val="42BA91"/>
                </a:solidFill>
                <a:latin typeface="Inter"/>
                <a:ea typeface="Inter"/>
                <a:cs typeface="Inter"/>
                <a:sym typeface="Inter"/>
              </a:rPr>
              <a:t>✓</a:t>
            </a:r>
            <a:endParaRPr b="1">
              <a:solidFill>
                <a:srgbClr val="42BA91"/>
              </a:solidFill>
              <a:latin typeface="Inter"/>
              <a:ea typeface="Inter"/>
              <a:cs typeface="Inter"/>
              <a:sym typeface="Inter"/>
            </a:endParaRPr>
          </a:p>
        </p:txBody>
      </p:sp>
      <p:sp>
        <p:nvSpPr>
          <p:cNvPr id="3210" name="Google Shape;3210;p465"/>
          <p:cNvSpPr txBox="1">
            <a:spLocks noGrp="1"/>
          </p:cNvSpPr>
          <p:nvPr>
            <p:ph type="body" idx="2"/>
          </p:nvPr>
        </p:nvSpPr>
        <p:spPr>
          <a:xfrm>
            <a:off x="1585592" y="4197200"/>
            <a:ext cx="3978900" cy="962100"/>
          </a:xfrm>
          <a:prstGeom prst="rect">
            <a:avLst/>
          </a:prstGeom>
        </p:spPr>
        <p:txBody>
          <a:bodyPr spcFirstLastPara="1" vert="horz" wrap="square" lIns="0" tIns="0" rIns="0" bIns="0" rtlCol="0" anchor="t" anchorCtr="0">
            <a:noAutofit/>
          </a:bodyPr>
          <a:lstStyle/>
          <a:p>
            <a:pPr marL="0" indent="0">
              <a:buNone/>
            </a:pPr>
            <a:r>
              <a:rPr lang="en" sz="2500"/>
              <a:t>First-class AI/ML capabilities and support</a:t>
            </a:r>
            <a:endParaRPr sz="2500"/>
          </a:p>
        </p:txBody>
      </p:sp>
      <p:sp>
        <p:nvSpPr>
          <p:cNvPr id="3211" name="Google Shape;3211;p465"/>
          <p:cNvSpPr/>
          <p:nvPr/>
        </p:nvSpPr>
        <p:spPr>
          <a:xfrm>
            <a:off x="750642" y="5357638"/>
            <a:ext cx="454200" cy="393600"/>
          </a:xfrm>
          <a:prstGeom prst="hexagon">
            <a:avLst>
              <a:gd name="adj" fmla="val 25000"/>
              <a:gd name="vf" fmla="val 115470"/>
            </a:avLst>
          </a:prstGeom>
          <a:solidFill>
            <a:srgbClr val="1B5162"/>
          </a:solidFill>
          <a:ln>
            <a:noFill/>
          </a:ln>
        </p:spPr>
        <p:txBody>
          <a:bodyPr spcFirstLastPara="1" wrap="square" lIns="0" tIns="0" rIns="0" bIns="0" anchor="ctr" anchorCtr="0">
            <a:noAutofit/>
          </a:bodyPr>
          <a:lstStyle/>
          <a:p>
            <a:pPr algn="ctr"/>
            <a:r>
              <a:rPr lang="en" b="1">
                <a:solidFill>
                  <a:srgbClr val="42BA91"/>
                </a:solidFill>
                <a:latin typeface="Inter"/>
                <a:ea typeface="Inter"/>
                <a:cs typeface="Inter"/>
                <a:sym typeface="Inter"/>
              </a:rPr>
              <a:t>✓</a:t>
            </a:r>
            <a:endParaRPr b="1">
              <a:solidFill>
                <a:srgbClr val="42BA91"/>
              </a:solidFill>
              <a:latin typeface="Inter"/>
              <a:ea typeface="Inter"/>
              <a:cs typeface="Inter"/>
              <a:sym typeface="Inter"/>
            </a:endParaRPr>
          </a:p>
        </p:txBody>
      </p:sp>
      <p:sp>
        <p:nvSpPr>
          <p:cNvPr id="3212" name="Google Shape;3212;p465"/>
          <p:cNvSpPr txBox="1">
            <a:spLocks noGrp="1"/>
          </p:cNvSpPr>
          <p:nvPr>
            <p:ph type="body" idx="2"/>
          </p:nvPr>
        </p:nvSpPr>
        <p:spPr>
          <a:xfrm>
            <a:off x="1601442" y="5273000"/>
            <a:ext cx="3978900" cy="962100"/>
          </a:xfrm>
          <a:prstGeom prst="rect">
            <a:avLst/>
          </a:prstGeom>
        </p:spPr>
        <p:txBody>
          <a:bodyPr spcFirstLastPara="1" vert="horz" wrap="square" lIns="0" tIns="0" rIns="0" bIns="0" rtlCol="0" anchor="t" anchorCtr="0">
            <a:noAutofit/>
          </a:bodyPr>
          <a:lstStyle/>
          <a:p>
            <a:pPr marL="0" indent="0">
              <a:buNone/>
            </a:pPr>
            <a:r>
              <a:rPr lang="en" sz="2500"/>
              <a:t>Open, unified governance and security</a:t>
            </a:r>
            <a:endParaRPr sz="25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217"/>
        <p:cNvGrpSpPr/>
        <p:nvPr/>
      </p:nvGrpSpPr>
      <p:grpSpPr>
        <a:xfrm>
          <a:off x="0" y="0"/>
          <a:ext cx="0" cy="0"/>
          <a:chOff x="0" y="0"/>
          <a:chExt cx="0" cy="0"/>
        </a:xfrm>
      </p:grpSpPr>
      <p:sp>
        <p:nvSpPr>
          <p:cNvPr id="3218" name="Google Shape;3218;p466"/>
          <p:cNvSpPr txBox="1"/>
          <p:nvPr/>
        </p:nvSpPr>
        <p:spPr>
          <a:xfrm>
            <a:off x="681562" y="2440995"/>
            <a:ext cx="4875600" cy="820800"/>
          </a:xfrm>
          <a:prstGeom prst="rect">
            <a:avLst/>
          </a:prstGeom>
          <a:noFill/>
          <a:ln>
            <a:noFill/>
          </a:ln>
        </p:spPr>
        <p:txBody>
          <a:bodyPr spcFirstLastPara="1" wrap="square" lIns="121900" tIns="121900" rIns="121900" bIns="121900" anchor="t" anchorCtr="0">
            <a:noAutofit/>
          </a:bodyPr>
          <a:lstStyle/>
          <a:p>
            <a:pPr algn="r">
              <a:buClr>
                <a:srgbClr val="000000"/>
              </a:buClr>
              <a:buSzPts val="1900"/>
            </a:pPr>
            <a:r>
              <a:rPr lang="en" sz="2100">
                <a:solidFill>
                  <a:schemeClr val="dk2"/>
                </a:solidFill>
                <a:latin typeface="DM Sans"/>
                <a:ea typeface="DM Sans"/>
                <a:cs typeface="DM Sans"/>
                <a:sym typeface="DM Sans"/>
              </a:rPr>
              <a:t>Inefficient DE, ETL, Data Sharing</a:t>
            </a:r>
            <a:br>
              <a:rPr lang="en" sz="2100">
                <a:solidFill>
                  <a:schemeClr val="dk2"/>
                </a:solidFill>
                <a:latin typeface="DM Sans"/>
                <a:ea typeface="DM Sans"/>
                <a:cs typeface="DM Sans"/>
                <a:sym typeface="DM Sans"/>
              </a:rPr>
            </a:br>
            <a:r>
              <a:rPr lang="en" sz="1300">
                <a:solidFill>
                  <a:schemeClr val="accent5"/>
                </a:solidFill>
                <a:latin typeface="DM Sans"/>
                <a:ea typeface="DM Sans"/>
                <a:cs typeface="DM Sans"/>
                <a:sym typeface="DM Sans"/>
              </a:rPr>
              <a:t>(Snowpipe / Snowpark, Partner Integrations)</a:t>
            </a:r>
            <a:endParaRPr sz="2000">
              <a:solidFill>
                <a:schemeClr val="accent5"/>
              </a:solidFill>
              <a:latin typeface="DM Sans"/>
              <a:ea typeface="DM Sans"/>
              <a:cs typeface="DM Sans"/>
              <a:sym typeface="DM Sans"/>
            </a:endParaRPr>
          </a:p>
        </p:txBody>
      </p:sp>
      <p:sp>
        <p:nvSpPr>
          <p:cNvPr id="3219" name="Google Shape;3219;p466"/>
          <p:cNvSpPr txBox="1"/>
          <p:nvPr/>
        </p:nvSpPr>
        <p:spPr>
          <a:xfrm>
            <a:off x="681562" y="5266295"/>
            <a:ext cx="4875600" cy="820800"/>
          </a:xfrm>
          <a:prstGeom prst="rect">
            <a:avLst/>
          </a:prstGeom>
          <a:noFill/>
          <a:ln>
            <a:noFill/>
          </a:ln>
        </p:spPr>
        <p:txBody>
          <a:bodyPr spcFirstLastPara="1" wrap="square" lIns="121900" tIns="121900" rIns="121900" bIns="121900" anchor="t" anchorCtr="0">
            <a:noAutofit/>
          </a:bodyPr>
          <a:lstStyle/>
          <a:p>
            <a:pPr algn="r">
              <a:buClr>
                <a:srgbClr val="000000"/>
              </a:buClr>
              <a:buSzPts val="1900"/>
            </a:pPr>
            <a:r>
              <a:rPr lang="en" sz="2100">
                <a:solidFill>
                  <a:schemeClr val="dk2"/>
                </a:solidFill>
                <a:latin typeface="DM Sans"/>
                <a:ea typeface="DM Sans"/>
                <a:cs typeface="DM Sans"/>
                <a:sym typeface="DM Sans"/>
              </a:rPr>
              <a:t>Required Partner Tools</a:t>
            </a:r>
            <a:br>
              <a:rPr lang="en" sz="2100">
                <a:solidFill>
                  <a:schemeClr val="dk2"/>
                </a:solidFill>
                <a:latin typeface="DM Sans"/>
                <a:ea typeface="DM Sans"/>
                <a:cs typeface="DM Sans"/>
                <a:sym typeface="DM Sans"/>
              </a:rPr>
            </a:br>
            <a:r>
              <a:rPr lang="en" sz="1300">
                <a:solidFill>
                  <a:schemeClr val="accent5"/>
                </a:solidFill>
                <a:latin typeface="DM Sans"/>
                <a:ea typeface="DM Sans"/>
                <a:cs typeface="DM Sans"/>
                <a:sym typeface="DM Sans"/>
              </a:rPr>
              <a:t>(Filling in the Gaps)</a:t>
            </a:r>
            <a:endParaRPr sz="2000">
              <a:solidFill>
                <a:schemeClr val="accent5"/>
              </a:solidFill>
              <a:latin typeface="DM Sans"/>
              <a:ea typeface="DM Sans"/>
              <a:cs typeface="DM Sans"/>
              <a:sym typeface="DM Sans"/>
            </a:endParaRPr>
          </a:p>
        </p:txBody>
      </p:sp>
      <p:sp>
        <p:nvSpPr>
          <p:cNvPr id="3220" name="Google Shape;3220;p466"/>
          <p:cNvSpPr txBox="1"/>
          <p:nvPr/>
        </p:nvSpPr>
        <p:spPr>
          <a:xfrm>
            <a:off x="681562" y="3142771"/>
            <a:ext cx="4875600" cy="820800"/>
          </a:xfrm>
          <a:prstGeom prst="rect">
            <a:avLst/>
          </a:prstGeom>
          <a:noFill/>
          <a:ln>
            <a:noFill/>
          </a:ln>
        </p:spPr>
        <p:txBody>
          <a:bodyPr spcFirstLastPara="1" wrap="square" lIns="121900" tIns="121900" rIns="121900" bIns="121900" anchor="t" anchorCtr="0">
            <a:noAutofit/>
          </a:bodyPr>
          <a:lstStyle/>
          <a:p>
            <a:pPr algn="r">
              <a:buClr>
                <a:srgbClr val="000000"/>
              </a:buClr>
              <a:buSzPts val="1900"/>
            </a:pPr>
            <a:r>
              <a:rPr lang="en" sz="2100">
                <a:solidFill>
                  <a:schemeClr val="dk2"/>
                </a:solidFill>
                <a:latin typeface="DM Sans"/>
                <a:ea typeface="DM Sans"/>
                <a:cs typeface="DM Sans"/>
                <a:sym typeface="DM Sans"/>
              </a:rPr>
              <a:t>Limited Real-Time Event Processing</a:t>
            </a:r>
            <a:br>
              <a:rPr lang="en" sz="2100">
                <a:solidFill>
                  <a:schemeClr val="dk2"/>
                </a:solidFill>
                <a:latin typeface="DM Sans"/>
                <a:ea typeface="DM Sans"/>
                <a:cs typeface="DM Sans"/>
                <a:sym typeface="DM Sans"/>
              </a:rPr>
            </a:br>
            <a:r>
              <a:rPr lang="en" sz="1300">
                <a:solidFill>
                  <a:schemeClr val="accent5"/>
                </a:solidFill>
                <a:latin typeface="DM Sans"/>
                <a:ea typeface="DM Sans"/>
                <a:cs typeface="DM Sans"/>
                <a:sym typeface="DM Sans"/>
              </a:rPr>
              <a:t>(Batch Processing in Snowpipe)</a:t>
            </a:r>
            <a:endParaRPr sz="2000">
              <a:solidFill>
                <a:schemeClr val="accent5"/>
              </a:solidFill>
              <a:latin typeface="DM Sans"/>
              <a:ea typeface="DM Sans"/>
              <a:cs typeface="DM Sans"/>
              <a:sym typeface="DM Sans"/>
            </a:endParaRPr>
          </a:p>
        </p:txBody>
      </p:sp>
      <p:sp>
        <p:nvSpPr>
          <p:cNvPr id="3221" name="Google Shape;3221;p466"/>
          <p:cNvSpPr txBox="1"/>
          <p:nvPr/>
        </p:nvSpPr>
        <p:spPr>
          <a:xfrm>
            <a:off x="6370044" y="3465157"/>
            <a:ext cx="5636400" cy="574500"/>
          </a:xfrm>
          <a:prstGeom prst="rect">
            <a:avLst/>
          </a:prstGeom>
          <a:noFill/>
          <a:ln>
            <a:noFill/>
          </a:ln>
        </p:spPr>
        <p:txBody>
          <a:bodyPr spcFirstLastPara="1" wrap="square" lIns="121900" tIns="121900" rIns="121900" bIns="121900" anchor="ctr" anchorCtr="0">
            <a:noAutofit/>
          </a:bodyPr>
          <a:lstStyle/>
          <a:p>
            <a:pPr>
              <a:buClr>
                <a:srgbClr val="000000"/>
              </a:buClr>
              <a:buSzPts val="1900"/>
            </a:pPr>
            <a:r>
              <a:rPr lang="en" sz="2100">
                <a:solidFill>
                  <a:schemeClr val="dk2"/>
                </a:solidFill>
                <a:latin typeface="DM Sans"/>
                <a:ea typeface="DM Sans"/>
                <a:cs typeface="DM Sans"/>
                <a:sym typeface="DM Sans"/>
              </a:rPr>
              <a:t>Databricks Jobs / Delta Lake / Structured Streaming</a:t>
            </a:r>
            <a:endParaRPr sz="2100">
              <a:solidFill>
                <a:schemeClr val="dk2"/>
              </a:solidFill>
              <a:latin typeface="DM Sans"/>
              <a:ea typeface="DM Sans"/>
              <a:cs typeface="DM Sans"/>
              <a:sym typeface="DM Sans"/>
            </a:endParaRPr>
          </a:p>
          <a:p>
            <a:pPr>
              <a:buClr>
                <a:srgbClr val="000000"/>
              </a:buClr>
              <a:buSzPts val="1900"/>
            </a:pPr>
            <a:r>
              <a:rPr lang="en" sz="1300">
                <a:solidFill>
                  <a:schemeClr val="accent2"/>
                </a:solidFill>
                <a:latin typeface="DM Sans"/>
                <a:ea typeface="DM Sans"/>
                <a:cs typeface="DM Sans"/>
                <a:sym typeface="DM Sans"/>
              </a:rPr>
              <a:t>(Spark Structured Streaming + Delta Lake: Streaming + Batch ingest)</a:t>
            </a:r>
            <a:endParaRPr sz="1300">
              <a:solidFill>
                <a:schemeClr val="accent2"/>
              </a:solidFill>
              <a:latin typeface="DM Sans"/>
              <a:ea typeface="DM Sans"/>
              <a:cs typeface="DM Sans"/>
              <a:sym typeface="DM Sans"/>
            </a:endParaRPr>
          </a:p>
          <a:p>
            <a:pPr>
              <a:buClr>
                <a:srgbClr val="000000"/>
              </a:buClr>
              <a:buSzPts val="1900"/>
            </a:pPr>
            <a:endParaRPr sz="2100">
              <a:solidFill>
                <a:srgbClr val="FFFFFF"/>
              </a:solidFill>
              <a:latin typeface="DM Sans"/>
              <a:ea typeface="DM Sans"/>
              <a:cs typeface="DM Sans"/>
              <a:sym typeface="DM Sans"/>
            </a:endParaRPr>
          </a:p>
        </p:txBody>
      </p:sp>
      <p:sp>
        <p:nvSpPr>
          <p:cNvPr id="3222" name="Google Shape;3222;p466"/>
          <p:cNvSpPr txBox="1"/>
          <p:nvPr/>
        </p:nvSpPr>
        <p:spPr>
          <a:xfrm>
            <a:off x="681562" y="4555421"/>
            <a:ext cx="4875600" cy="820800"/>
          </a:xfrm>
          <a:prstGeom prst="rect">
            <a:avLst/>
          </a:prstGeom>
          <a:noFill/>
          <a:ln>
            <a:noFill/>
          </a:ln>
        </p:spPr>
        <p:txBody>
          <a:bodyPr spcFirstLastPara="1" wrap="square" lIns="121900" tIns="121900" rIns="121900" bIns="121900" anchor="t" anchorCtr="0">
            <a:noAutofit/>
          </a:bodyPr>
          <a:lstStyle/>
          <a:p>
            <a:pPr algn="r">
              <a:buClr>
                <a:srgbClr val="000000"/>
              </a:buClr>
              <a:buSzPts val="1900"/>
            </a:pPr>
            <a:r>
              <a:rPr lang="en" sz="2100">
                <a:solidFill>
                  <a:schemeClr val="dk2"/>
                </a:solidFill>
                <a:latin typeface="DM Sans"/>
                <a:ea typeface="DM Sans"/>
                <a:cs typeface="DM Sans"/>
                <a:sym typeface="DM Sans"/>
              </a:rPr>
              <a:t>Non-Native DS / ML</a:t>
            </a:r>
            <a:br>
              <a:rPr lang="en" sz="2100">
                <a:solidFill>
                  <a:schemeClr val="dk2"/>
                </a:solidFill>
                <a:latin typeface="DM Sans"/>
                <a:ea typeface="DM Sans"/>
                <a:cs typeface="DM Sans"/>
                <a:sym typeface="DM Sans"/>
              </a:rPr>
            </a:br>
            <a:r>
              <a:rPr lang="en" sz="1300">
                <a:solidFill>
                  <a:schemeClr val="accent5"/>
                </a:solidFill>
                <a:latin typeface="DM Sans"/>
                <a:ea typeface="DM Sans"/>
                <a:cs typeface="DM Sans"/>
                <a:sym typeface="DM Sans"/>
              </a:rPr>
              <a:t>(Dataiku, DataRobot, External Snowpark Scripts)</a:t>
            </a:r>
            <a:endParaRPr sz="2000">
              <a:solidFill>
                <a:schemeClr val="accent5"/>
              </a:solidFill>
              <a:latin typeface="DM Sans"/>
              <a:ea typeface="DM Sans"/>
              <a:cs typeface="DM Sans"/>
              <a:sym typeface="DM Sans"/>
            </a:endParaRPr>
          </a:p>
        </p:txBody>
      </p:sp>
      <p:sp>
        <p:nvSpPr>
          <p:cNvPr id="3223" name="Google Shape;3223;p466"/>
          <p:cNvSpPr txBox="1"/>
          <p:nvPr/>
        </p:nvSpPr>
        <p:spPr>
          <a:xfrm>
            <a:off x="681562" y="3844547"/>
            <a:ext cx="4875600" cy="820800"/>
          </a:xfrm>
          <a:prstGeom prst="rect">
            <a:avLst/>
          </a:prstGeom>
          <a:noFill/>
          <a:ln>
            <a:noFill/>
          </a:ln>
        </p:spPr>
        <p:txBody>
          <a:bodyPr spcFirstLastPara="1" wrap="square" lIns="121900" tIns="121900" rIns="121900" bIns="121900" anchor="t" anchorCtr="0">
            <a:noAutofit/>
          </a:bodyPr>
          <a:lstStyle/>
          <a:p>
            <a:pPr algn="r">
              <a:buClr>
                <a:srgbClr val="000000"/>
              </a:buClr>
              <a:buSzPts val="1900"/>
            </a:pPr>
            <a:r>
              <a:rPr lang="en" sz="2100">
                <a:solidFill>
                  <a:schemeClr val="dk2"/>
                </a:solidFill>
                <a:latin typeface="DM Sans"/>
                <a:ea typeface="DM Sans"/>
                <a:cs typeface="DM Sans"/>
                <a:sym typeface="DM Sans"/>
              </a:rPr>
              <a:t>Slower, More Expensive SQL / BI</a:t>
            </a:r>
            <a:br>
              <a:rPr lang="en" sz="2100">
                <a:solidFill>
                  <a:schemeClr val="dk2"/>
                </a:solidFill>
                <a:latin typeface="DM Sans"/>
                <a:ea typeface="DM Sans"/>
                <a:cs typeface="DM Sans"/>
                <a:sym typeface="DM Sans"/>
              </a:rPr>
            </a:br>
            <a:r>
              <a:rPr lang="en" sz="1300">
                <a:solidFill>
                  <a:schemeClr val="accent5"/>
                </a:solidFill>
                <a:latin typeface="DM Sans"/>
                <a:ea typeface="DM Sans"/>
                <a:cs typeface="DM Sans"/>
                <a:sym typeface="DM Sans"/>
              </a:rPr>
              <a:t>(SQL UI, BI Connectors)</a:t>
            </a:r>
            <a:endParaRPr sz="2000">
              <a:solidFill>
                <a:schemeClr val="accent5"/>
              </a:solidFill>
              <a:latin typeface="DM Sans"/>
              <a:ea typeface="DM Sans"/>
              <a:cs typeface="DM Sans"/>
              <a:sym typeface="DM Sans"/>
            </a:endParaRPr>
          </a:p>
        </p:txBody>
      </p:sp>
      <p:sp>
        <p:nvSpPr>
          <p:cNvPr id="3224" name="Google Shape;3224;p466"/>
          <p:cNvSpPr txBox="1"/>
          <p:nvPr/>
        </p:nvSpPr>
        <p:spPr>
          <a:xfrm>
            <a:off x="6370044" y="4560038"/>
            <a:ext cx="5636400" cy="574500"/>
          </a:xfrm>
          <a:prstGeom prst="rect">
            <a:avLst/>
          </a:prstGeom>
          <a:noFill/>
          <a:ln>
            <a:noFill/>
          </a:ln>
        </p:spPr>
        <p:txBody>
          <a:bodyPr spcFirstLastPara="1" wrap="square" lIns="121900" tIns="121900" rIns="121900" bIns="121900" anchor="t" anchorCtr="0">
            <a:noAutofit/>
          </a:bodyPr>
          <a:lstStyle/>
          <a:p>
            <a:pPr>
              <a:buClr>
                <a:srgbClr val="000000"/>
              </a:buClr>
              <a:buSzPts val="1900"/>
            </a:pPr>
            <a:r>
              <a:rPr lang="en" sz="2100">
                <a:solidFill>
                  <a:schemeClr val="dk2"/>
                </a:solidFill>
                <a:latin typeface="DM Sans"/>
                <a:ea typeface="DM Sans"/>
                <a:cs typeface="DM Sans"/>
                <a:sym typeface="DM Sans"/>
              </a:rPr>
              <a:t>Databricks Machine Learning / MLFlow</a:t>
            </a:r>
            <a:endParaRPr sz="2100">
              <a:solidFill>
                <a:schemeClr val="dk2"/>
              </a:solidFill>
              <a:latin typeface="DM Sans"/>
              <a:ea typeface="DM Sans"/>
              <a:cs typeface="DM Sans"/>
              <a:sym typeface="DM Sans"/>
            </a:endParaRPr>
          </a:p>
          <a:p>
            <a:pPr>
              <a:buClr>
                <a:srgbClr val="000000"/>
              </a:buClr>
              <a:buSzPts val="1900"/>
            </a:pPr>
            <a:r>
              <a:rPr lang="en" sz="1300">
                <a:solidFill>
                  <a:schemeClr val="accent2"/>
                </a:solidFill>
                <a:latin typeface="DM Sans"/>
                <a:ea typeface="DM Sans"/>
                <a:cs typeface="DM Sans"/>
                <a:sym typeface="DM Sans"/>
              </a:rPr>
              <a:t>(Data native, first-class DS / ML platform, multiple language support)</a:t>
            </a:r>
            <a:endParaRPr sz="1300">
              <a:solidFill>
                <a:schemeClr val="accent2"/>
              </a:solidFill>
              <a:latin typeface="DM Sans"/>
              <a:ea typeface="DM Sans"/>
              <a:cs typeface="DM Sans"/>
              <a:sym typeface="DM Sans"/>
            </a:endParaRPr>
          </a:p>
          <a:p>
            <a:pPr>
              <a:buClr>
                <a:srgbClr val="000000"/>
              </a:buClr>
              <a:buSzPts val="1900"/>
            </a:pPr>
            <a:endParaRPr sz="2100">
              <a:solidFill>
                <a:srgbClr val="FFFFFF"/>
              </a:solidFill>
              <a:latin typeface="DM Sans"/>
              <a:ea typeface="DM Sans"/>
              <a:cs typeface="DM Sans"/>
              <a:sym typeface="DM Sans"/>
            </a:endParaRPr>
          </a:p>
        </p:txBody>
      </p:sp>
      <p:sp>
        <p:nvSpPr>
          <p:cNvPr id="3225" name="Google Shape;3225;p466"/>
          <p:cNvSpPr txBox="1"/>
          <p:nvPr/>
        </p:nvSpPr>
        <p:spPr>
          <a:xfrm>
            <a:off x="6370028" y="3897564"/>
            <a:ext cx="5636400" cy="767700"/>
          </a:xfrm>
          <a:prstGeom prst="rect">
            <a:avLst/>
          </a:prstGeom>
          <a:noFill/>
          <a:ln>
            <a:noFill/>
          </a:ln>
        </p:spPr>
        <p:txBody>
          <a:bodyPr spcFirstLastPara="1" wrap="square" lIns="121900" tIns="121900" rIns="121900" bIns="121900" anchor="t" anchorCtr="0">
            <a:noAutofit/>
          </a:bodyPr>
          <a:lstStyle/>
          <a:p>
            <a:pPr>
              <a:buClr>
                <a:srgbClr val="000000"/>
              </a:buClr>
              <a:buSzPts val="1900"/>
            </a:pPr>
            <a:r>
              <a:rPr lang="en" sz="2100">
                <a:solidFill>
                  <a:schemeClr val="dk2"/>
                </a:solidFill>
                <a:latin typeface="DM Sans"/>
                <a:ea typeface="DM Sans"/>
                <a:cs typeface="DM Sans"/>
                <a:sym typeface="DM Sans"/>
              </a:rPr>
              <a:t>Databricks SQL</a:t>
            </a:r>
            <a:br>
              <a:rPr lang="en" sz="2100">
                <a:solidFill>
                  <a:schemeClr val="dk2"/>
                </a:solidFill>
                <a:latin typeface="DM Sans"/>
                <a:ea typeface="DM Sans"/>
                <a:cs typeface="DM Sans"/>
                <a:sym typeface="DM Sans"/>
              </a:rPr>
            </a:br>
            <a:r>
              <a:rPr lang="en" sz="1300">
                <a:solidFill>
                  <a:schemeClr val="accent2"/>
                </a:solidFill>
                <a:latin typeface="DM Sans"/>
                <a:ea typeface="DM Sans"/>
                <a:cs typeface="DM Sans"/>
                <a:sym typeface="DM Sans"/>
              </a:rPr>
              <a:t>(Native SQL support, SQL Endpoints, Optimized BI Integrations)</a:t>
            </a:r>
            <a:endParaRPr sz="2000">
              <a:solidFill>
                <a:schemeClr val="accent2"/>
              </a:solidFill>
              <a:latin typeface="DM Sans"/>
              <a:ea typeface="DM Sans"/>
              <a:cs typeface="DM Sans"/>
              <a:sym typeface="DM Sans"/>
            </a:endParaRPr>
          </a:p>
          <a:p>
            <a:pPr>
              <a:buClr>
                <a:srgbClr val="000000"/>
              </a:buClr>
              <a:buSzPts val="1900"/>
            </a:pPr>
            <a:endParaRPr sz="2100">
              <a:solidFill>
                <a:srgbClr val="FFFFFF"/>
              </a:solidFill>
              <a:latin typeface="DM Sans"/>
              <a:ea typeface="DM Sans"/>
              <a:cs typeface="DM Sans"/>
              <a:sym typeface="DM Sans"/>
            </a:endParaRPr>
          </a:p>
        </p:txBody>
      </p:sp>
      <p:sp>
        <p:nvSpPr>
          <p:cNvPr id="3226" name="Google Shape;3226;p466"/>
          <p:cNvSpPr txBox="1"/>
          <p:nvPr/>
        </p:nvSpPr>
        <p:spPr>
          <a:xfrm>
            <a:off x="6370026" y="2452213"/>
            <a:ext cx="5460000" cy="574500"/>
          </a:xfrm>
          <a:prstGeom prst="rect">
            <a:avLst/>
          </a:prstGeom>
          <a:noFill/>
          <a:ln>
            <a:noFill/>
          </a:ln>
        </p:spPr>
        <p:txBody>
          <a:bodyPr spcFirstLastPara="1" wrap="square" lIns="121900" tIns="121900" rIns="121900" bIns="121900" anchor="t" anchorCtr="0">
            <a:noAutofit/>
          </a:bodyPr>
          <a:lstStyle/>
          <a:p>
            <a:pPr>
              <a:buClr>
                <a:srgbClr val="000000"/>
              </a:buClr>
              <a:buSzPts val="1900"/>
            </a:pPr>
            <a:r>
              <a:rPr lang="en" sz="2100">
                <a:solidFill>
                  <a:schemeClr val="dk2"/>
                </a:solidFill>
                <a:latin typeface="DM Sans"/>
                <a:ea typeface="DM Sans"/>
                <a:cs typeface="DM Sans"/>
                <a:sym typeface="DM Sans"/>
              </a:rPr>
              <a:t>Delta Lake / Live Tables / Sharing</a:t>
            </a:r>
            <a:endParaRPr sz="2100">
              <a:solidFill>
                <a:schemeClr val="dk2"/>
              </a:solidFill>
              <a:latin typeface="DM Sans"/>
              <a:ea typeface="DM Sans"/>
              <a:cs typeface="DM Sans"/>
              <a:sym typeface="DM Sans"/>
            </a:endParaRPr>
          </a:p>
          <a:p>
            <a:pPr>
              <a:buClr>
                <a:srgbClr val="000000"/>
              </a:buClr>
              <a:buSzPts val="1900"/>
            </a:pPr>
            <a:r>
              <a:rPr lang="en" sz="1300">
                <a:solidFill>
                  <a:schemeClr val="accent2"/>
                </a:solidFill>
                <a:latin typeface="DM Sans"/>
                <a:ea typeface="DM Sans"/>
                <a:cs typeface="DM Sans"/>
                <a:sym typeface="DM Sans"/>
              </a:rPr>
              <a:t>(Industry-leading data engine, multiple language support)</a:t>
            </a:r>
            <a:endParaRPr sz="1300">
              <a:solidFill>
                <a:schemeClr val="accent2"/>
              </a:solidFill>
              <a:latin typeface="DM Sans"/>
              <a:ea typeface="DM Sans"/>
              <a:cs typeface="DM Sans"/>
              <a:sym typeface="DM Sans"/>
            </a:endParaRPr>
          </a:p>
        </p:txBody>
      </p:sp>
      <p:sp>
        <p:nvSpPr>
          <p:cNvPr id="3227" name="Google Shape;3227;p466"/>
          <p:cNvSpPr txBox="1"/>
          <p:nvPr/>
        </p:nvSpPr>
        <p:spPr>
          <a:xfrm>
            <a:off x="6370028" y="5262633"/>
            <a:ext cx="5784000" cy="1148700"/>
          </a:xfrm>
          <a:prstGeom prst="rect">
            <a:avLst/>
          </a:prstGeom>
          <a:noFill/>
          <a:ln>
            <a:noFill/>
          </a:ln>
        </p:spPr>
        <p:txBody>
          <a:bodyPr spcFirstLastPara="1" wrap="square" lIns="121900" tIns="121900" rIns="121900" bIns="121900" anchor="t" anchorCtr="0">
            <a:noAutofit/>
          </a:bodyPr>
          <a:lstStyle/>
          <a:p>
            <a:pPr>
              <a:buClr>
                <a:srgbClr val="000000"/>
              </a:buClr>
              <a:buSzPts val="1900"/>
            </a:pPr>
            <a:r>
              <a:rPr lang="en" sz="2100">
                <a:solidFill>
                  <a:schemeClr val="dk2"/>
                </a:solidFill>
                <a:latin typeface="DM Sans"/>
                <a:ea typeface="DM Sans"/>
                <a:cs typeface="DM Sans"/>
                <a:sym typeface="DM Sans"/>
              </a:rPr>
              <a:t>Open Architecture</a:t>
            </a:r>
            <a:br>
              <a:rPr lang="en" sz="2100">
                <a:solidFill>
                  <a:srgbClr val="FFFFFF"/>
                </a:solidFill>
                <a:latin typeface="DM Sans"/>
                <a:ea typeface="DM Sans"/>
                <a:cs typeface="DM Sans"/>
                <a:sym typeface="DM Sans"/>
              </a:rPr>
            </a:br>
            <a:r>
              <a:rPr lang="en" sz="1300">
                <a:solidFill>
                  <a:schemeClr val="accent2"/>
                </a:solidFill>
                <a:latin typeface="DM Sans"/>
                <a:ea typeface="DM Sans"/>
                <a:cs typeface="DM Sans"/>
                <a:sym typeface="DM Sans"/>
              </a:rPr>
              <a:t>(Easy integration with all required tools, access to open-source community)</a:t>
            </a:r>
            <a:endParaRPr sz="2000">
              <a:solidFill>
                <a:schemeClr val="accent2"/>
              </a:solidFill>
              <a:latin typeface="DM Sans"/>
              <a:ea typeface="DM Sans"/>
              <a:cs typeface="DM Sans"/>
              <a:sym typeface="DM Sans"/>
            </a:endParaRPr>
          </a:p>
        </p:txBody>
      </p:sp>
      <p:pic>
        <p:nvPicPr>
          <p:cNvPr id="3228" name="Google Shape;3228;p466"/>
          <p:cNvPicPr preferRelativeResize="0"/>
          <p:nvPr/>
        </p:nvPicPr>
        <p:blipFill rotWithShape="1">
          <a:blip r:embed="rId3">
            <a:alphaModFix/>
          </a:blip>
          <a:srcRect t="1512" b="1503"/>
          <a:stretch/>
        </p:blipFill>
        <p:spPr>
          <a:xfrm>
            <a:off x="3317244" y="1669204"/>
            <a:ext cx="2128518" cy="493603"/>
          </a:xfrm>
          <a:prstGeom prst="rect">
            <a:avLst/>
          </a:prstGeom>
          <a:noFill/>
          <a:ln>
            <a:noFill/>
          </a:ln>
        </p:spPr>
      </p:pic>
      <p:grpSp>
        <p:nvGrpSpPr>
          <p:cNvPr id="3229" name="Google Shape;3229;p466"/>
          <p:cNvGrpSpPr/>
          <p:nvPr/>
        </p:nvGrpSpPr>
        <p:grpSpPr>
          <a:xfrm>
            <a:off x="5787160" y="2615223"/>
            <a:ext cx="451813" cy="306900"/>
            <a:chOff x="5787307" y="2615223"/>
            <a:chExt cx="451949" cy="306900"/>
          </a:xfrm>
        </p:grpSpPr>
        <p:sp>
          <p:nvSpPr>
            <p:cNvPr id="3230" name="Google Shape;3230;p466"/>
            <p:cNvSpPr/>
            <p:nvPr/>
          </p:nvSpPr>
          <p:spPr>
            <a:xfrm>
              <a:off x="6028056" y="2615223"/>
              <a:ext cx="211200" cy="306900"/>
            </a:xfrm>
            <a:prstGeom prst="chevron">
              <a:avLst>
                <a:gd name="adj" fmla="val 50000"/>
              </a:avLst>
            </a:prstGeom>
            <a:solidFill>
              <a:schemeClr val="accent4"/>
            </a:solidFill>
            <a:ln>
              <a:noFill/>
            </a:ln>
          </p:spPr>
          <p:txBody>
            <a:bodyPr spcFirstLastPara="1" wrap="square" lIns="121900" tIns="60925" rIns="121900" bIns="60925" anchor="ctr" anchorCtr="0">
              <a:noAutofit/>
            </a:bodyPr>
            <a:lstStyle/>
            <a:p>
              <a:pPr algn="ctr">
                <a:buClr>
                  <a:schemeClr val="dk1"/>
                </a:buClr>
                <a:buSzPts val="1900"/>
              </a:pPr>
              <a:endParaRPr sz="1900">
                <a:solidFill>
                  <a:schemeClr val="dk1"/>
                </a:solidFill>
                <a:latin typeface="Arial"/>
                <a:ea typeface="Arial"/>
                <a:cs typeface="Arial"/>
                <a:sym typeface="Arial"/>
              </a:endParaRPr>
            </a:p>
          </p:txBody>
        </p:sp>
        <p:sp>
          <p:nvSpPr>
            <p:cNvPr id="3231" name="Google Shape;3231;p466"/>
            <p:cNvSpPr/>
            <p:nvPr/>
          </p:nvSpPr>
          <p:spPr>
            <a:xfrm>
              <a:off x="5888905" y="2653348"/>
              <a:ext cx="158700" cy="230400"/>
            </a:xfrm>
            <a:prstGeom prst="chevron">
              <a:avLst>
                <a:gd name="adj" fmla="val 50000"/>
              </a:avLst>
            </a:prstGeom>
            <a:solidFill>
              <a:schemeClr val="accent1"/>
            </a:solidFill>
            <a:ln>
              <a:noFill/>
            </a:ln>
          </p:spPr>
          <p:txBody>
            <a:bodyPr spcFirstLastPara="1" wrap="square" lIns="121900" tIns="60925" rIns="121900" bIns="60925" anchor="ctr" anchorCtr="0">
              <a:noAutofit/>
            </a:bodyPr>
            <a:lstStyle/>
            <a:p>
              <a:pPr algn="ctr">
                <a:buClr>
                  <a:schemeClr val="dk1"/>
                </a:buClr>
                <a:buSzPts val="1900"/>
              </a:pPr>
              <a:endParaRPr sz="1900">
                <a:solidFill>
                  <a:schemeClr val="dk1"/>
                </a:solidFill>
                <a:latin typeface="Arial"/>
                <a:ea typeface="Arial"/>
                <a:cs typeface="Arial"/>
                <a:sym typeface="Arial"/>
              </a:endParaRPr>
            </a:p>
          </p:txBody>
        </p:sp>
        <p:sp>
          <p:nvSpPr>
            <p:cNvPr id="3232" name="Google Shape;3232;p466"/>
            <p:cNvSpPr/>
            <p:nvPr/>
          </p:nvSpPr>
          <p:spPr>
            <a:xfrm>
              <a:off x="5787307" y="2653348"/>
              <a:ext cx="158700" cy="230400"/>
            </a:xfrm>
            <a:prstGeom prst="chevron">
              <a:avLst>
                <a:gd name="adj" fmla="val 50000"/>
              </a:avLst>
            </a:prstGeom>
            <a:solidFill>
              <a:schemeClr val="accent1"/>
            </a:solidFill>
            <a:ln>
              <a:noFill/>
            </a:ln>
          </p:spPr>
          <p:txBody>
            <a:bodyPr spcFirstLastPara="1" wrap="square" lIns="121900" tIns="60925" rIns="121900" bIns="60925" anchor="ctr" anchorCtr="0">
              <a:noAutofit/>
            </a:bodyPr>
            <a:lstStyle/>
            <a:p>
              <a:pPr algn="ctr">
                <a:buClr>
                  <a:schemeClr val="dk1"/>
                </a:buClr>
                <a:buSzPts val="1900"/>
              </a:pPr>
              <a:endParaRPr sz="1900">
                <a:solidFill>
                  <a:schemeClr val="dk1"/>
                </a:solidFill>
                <a:latin typeface="Arial"/>
                <a:ea typeface="Arial"/>
                <a:cs typeface="Arial"/>
                <a:sym typeface="Arial"/>
              </a:endParaRPr>
            </a:p>
          </p:txBody>
        </p:sp>
      </p:grpSp>
      <p:pic>
        <p:nvPicPr>
          <p:cNvPr id="3233" name="Google Shape;3233;p466"/>
          <p:cNvPicPr preferRelativeResize="0"/>
          <p:nvPr/>
        </p:nvPicPr>
        <p:blipFill>
          <a:blip r:embed="rId4">
            <a:alphaModFix/>
          </a:blip>
          <a:stretch>
            <a:fillRect/>
          </a:stretch>
        </p:blipFill>
        <p:spPr>
          <a:xfrm>
            <a:off x="6498627" y="1720135"/>
            <a:ext cx="2305172" cy="372963"/>
          </a:xfrm>
          <a:prstGeom prst="rect">
            <a:avLst/>
          </a:prstGeom>
          <a:noFill/>
          <a:ln>
            <a:noFill/>
          </a:ln>
        </p:spPr>
      </p:pic>
      <p:grpSp>
        <p:nvGrpSpPr>
          <p:cNvPr id="3234" name="Google Shape;3234;p466"/>
          <p:cNvGrpSpPr/>
          <p:nvPr/>
        </p:nvGrpSpPr>
        <p:grpSpPr>
          <a:xfrm>
            <a:off x="5787160" y="3399723"/>
            <a:ext cx="451813" cy="306900"/>
            <a:chOff x="5787307" y="2615223"/>
            <a:chExt cx="451949" cy="306900"/>
          </a:xfrm>
        </p:grpSpPr>
        <p:sp>
          <p:nvSpPr>
            <p:cNvPr id="3235" name="Google Shape;3235;p466"/>
            <p:cNvSpPr/>
            <p:nvPr/>
          </p:nvSpPr>
          <p:spPr>
            <a:xfrm>
              <a:off x="6028056" y="2615223"/>
              <a:ext cx="211200" cy="306900"/>
            </a:xfrm>
            <a:prstGeom prst="chevron">
              <a:avLst>
                <a:gd name="adj" fmla="val 50000"/>
              </a:avLst>
            </a:prstGeom>
            <a:solidFill>
              <a:schemeClr val="accent4"/>
            </a:solidFill>
            <a:ln>
              <a:noFill/>
            </a:ln>
          </p:spPr>
          <p:txBody>
            <a:bodyPr spcFirstLastPara="1" wrap="square" lIns="121900" tIns="60925" rIns="121900" bIns="60925" anchor="ctr" anchorCtr="0">
              <a:noAutofit/>
            </a:bodyPr>
            <a:lstStyle/>
            <a:p>
              <a:pPr algn="ctr">
                <a:buClr>
                  <a:schemeClr val="dk1"/>
                </a:buClr>
                <a:buSzPts val="1900"/>
              </a:pPr>
              <a:endParaRPr sz="1900">
                <a:solidFill>
                  <a:schemeClr val="dk1"/>
                </a:solidFill>
                <a:latin typeface="Arial"/>
                <a:ea typeface="Arial"/>
                <a:cs typeface="Arial"/>
                <a:sym typeface="Arial"/>
              </a:endParaRPr>
            </a:p>
          </p:txBody>
        </p:sp>
        <p:sp>
          <p:nvSpPr>
            <p:cNvPr id="3236" name="Google Shape;3236;p466"/>
            <p:cNvSpPr/>
            <p:nvPr/>
          </p:nvSpPr>
          <p:spPr>
            <a:xfrm>
              <a:off x="5888905" y="2653348"/>
              <a:ext cx="158700" cy="230400"/>
            </a:xfrm>
            <a:prstGeom prst="chevron">
              <a:avLst>
                <a:gd name="adj" fmla="val 50000"/>
              </a:avLst>
            </a:prstGeom>
            <a:solidFill>
              <a:schemeClr val="accent1"/>
            </a:solidFill>
            <a:ln>
              <a:noFill/>
            </a:ln>
          </p:spPr>
          <p:txBody>
            <a:bodyPr spcFirstLastPara="1" wrap="square" lIns="121900" tIns="60925" rIns="121900" bIns="60925" anchor="ctr" anchorCtr="0">
              <a:noAutofit/>
            </a:bodyPr>
            <a:lstStyle/>
            <a:p>
              <a:pPr algn="ctr">
                <a:buClr>
                  <a:schemeClr val="dk1"/>
                </a:buClr>
                <a:buSzPts val="1900"/>
              </a:pPr>
              <a:endParaRPr sz="1900">
                <a:solidFill>
                  <a:schemeClr val="dk1"/>
                </a:solidFill>
                <a:latin typeface="Arial"/>
                <a:ea typeface="Arial"/>
                <a:cs typeface="Arial"/>
                <a:sym typeface="Arial"/>
              </a:endParaRPr>
            </a:p>
          </p:txBody>
        </p:sp>
        <p:sp>
          <p:nvSpPr>
            <p:cNvPr id="3237" name="Google Shape;3237;p466"/>
            <p:cNvSpPr/>
            <p:nvPr/>
          </p:nvSpPr>
          <p:spPr>
            <a:xfrm>
              <a:off x="5787307" y="2653348"/>
              <a:ext cx="158700" cy="230400"/>
            </a:xfrm>
            <a:prstGeom prst="chevron">
              <a:avLst>
                <a:gd name="adj" fmla="val 50000"/>
              </a:avLst>
            </a:prstGeom>
            <a:solidFill>
              <a:schemeClr val="accent1"/>
            </a:solidFill>
            <a:ln>
              <a:noFill/>
            </a:ln>
          </p:spPr>
          <p:txBody>
            <a:bodyPr spcFirstLastPara="1" wrap="square" lIns="121900" tIns="60925" rIns="121900" bIns="60925" anchor="ctr" anchorCtr="0">
              <a:noAutofit/>
            </a:bodyPr>
            <a:lstStyle/>
            <a:p>
              <a:pPr algn="ctr">
                <a:buClr>
                  <a:schemeClr val="dk1"/>
                </a:buClr>
                <a:buSzPts val="1900"/>
              </a:pPr>
              <a:endParaRPr sz="1900">
                <a:solidFill>
                  <a:schemeClr val="dk1"/>
                </a:solidFill>
                <a:latin typeface="Arial"/>
                <a:ea typeface="Arial"/>
                <a:cs typeface="Arial"/>
                <a:sym typeface="Arial"/>
              </a:endParaRPr>
            </a:p>
          </p:txBody>
        </p:sp>
      </p:grpSp>
      <p:grpSp>
        <p:nvGrpSpPr>
          <p:cNvPr id="3238" name="Google Shape;3238;p466"/>
          <p:cNvGrpSpPr/>
          <p:nvPr/>
        </p:nvGrpSpPr>
        <p:grpSpPr>
          <a:xfrm>
            <a:off x="5787160" y="4101498"/>
            <a:ext cx="451813" cy="306900"/>
            <a:chOff x="5787307" y="2615223"/>
            <a:chExt cx="451949" cy="306900"/>
          </a:xfrm>
        </p:grpSpPr>
        <p:sp>
          <p:nvSpPr>
            <p:cNvPr id="3239" name="Google Shape;3239;p466"/>
            <p:cNvSpPr/>
            <p:nvPr/>
          </p:nvSpPr>
          <p:spPr>
            <a:xfrm>
              <a:off x="6028056" y="2615223"/>
              <a:ext cx="211200" cy="306900"/>
            </a:xfrm>
            <a:prstGeom prst="chevron">
              <a:avLst>
                <a:gd name="adj" fmla="val 50000"/>
              </a:avLst>
            </a:prstGeom>
            <a:solidFill>
              <a:schemeClr val="accent4"/>
            </a:solidFill>
            <a:ln>
              <a:noFill/>
            </a:ln>
          </p:spPr>
          <p:txBody>
            <a:bodyPr spcFirstLastPara="1" wrap="square" lIns="121900" tIns="60925" rIns="121900" bIns="60925" anchor="ctr" anchorCtr="0">
              <a:noAutofit/>
            </a:bodyPr>
            <a:lstStyle/>
            <a:p>
              <a:pPr algn="ctr">
                <a:buClr>
                  <a:schemeClr val="dk1"/>
                </a:buClr>
                <a:buSzPts val="1900"/>
              </a:pPr>
              <a:endParaRPr sz="1900">
                <a:solidFill>
                  <a:schemeClr val="dk1"/>
                </a:solidFill>
                <a:latin typeface="Arial"/>
                <a:ea typeface="Arial"/>
                <a:cs typeface="Arial"/>
                <a:sym typeface="Arial"/>
              </a:endParaRPr>
            </a:p>
          </p:txBody>
        </p:sp>
        <p:sp>
          <p:nvSpPr>
            <p:cNvPr id="3240" name="Google Shape;3240;p466"/>
            <p:cNvSpPr/>
            <p:nvPr/>
          </p:nvSpPr>
          <p:spPr>
            <a:xfrm>
              <a:off x="5888905" y="2653348"/>
              <a:ext cx="158700" cy="230400"/>
            </a:xfrm>
            <a:prstGeom prst="chevron">
              <a:avLst>
                <a:gd name="adj" fmla="val 50000"/>
              </a:avLst>
            </a:prstGeom>
            <a:solidFill>
              <a:schemeClr val="accent1"/>
            </a:solidFill>
            <a:ln>
              <a:noFill/>
            </a:ln>
          </p:spPr>
          <p:txBody>
            <a:bodyPr spcFirstLastPara="1" wrap="square" lIns="121900" tIns="60925" rIns="121900" bIns="60925" anchor="ctr" anchorCtr="0">
              <a:noAutofit/>
            </a:bodyPr>
            <a:lstStyle/>
            <a:p>
              <a:pPr algn="ctr">
                <a:buClr>
                  <a:schemeClr val="dk1"/>
                </a:buClr>
                <a:buSzPts val="1900"/>
              </a:pPr>
              <a:endParaRPr sz="1900">
                <a:solidFill>
                  <a:schemeClr val="dk1"/>
                </a:solidFill>
                <a:latin typeface="Arial"/>
                <a:ea typeface="Arial"/>
                <a:cs typeface="Arial"/>
                <a:sym typeface="Arial"/>
              </a:endParaRPr>
            </a:p>
          </p:txBody>
        </p:sp>
        <p:sp>
          <p:nvSpPr>
            <p:cNvPr id="3241" name="Google Shape;3241;p466"/>
            <p:cNvSpPr/>
            <p:nvPr/>
          </p:nvSpPr>
          <p:spPr>
            <a:xfrm>
              <a:off x="5787307" y="2653348"/>
              <a:ext cx="158700" cy="230400"/>
            </a:xfrm>
            <a:prstGeom prst="chevron">
              <a:avLst>
                <a:gd name="adj" fmla="val 50000"/>
              </a:avLst>
            </a:prstGeom>
            <a:solidFill>
              <a:schemeClr val="accent1"/>
            </a:solidFill>
            <a:ln>
              <a:noFill/>
            </a:ln>
          </p:spPr>
          <p:txBody>
            <a:bodyPr spcFirstLastPara="1" wrap="square" lIns="121900" tIns="60925" rIns="121900" bIns="60925" anchor="ctr" anchorCtr="0">
              <a:noAutofit/>
            </a:bodyPr>
            <a:lstStyle/>
            <a:p>
              <a:pPr algn="ctr">
                <a:buClr>
                  <a:schemeClr val="dk1"/>
                </a:buClr>
                <a:buSzPts val="1900"/>
              </a:pPr>
              <a:endParaRPr sz="1900">
                <a:solidFill>
                  <a:schemeClr val="dk1"/>
                </a:solidFill>
                <a:latin typeface="Arial"/>
                <a:ea typeface="Arial"/>
                <a:cs typeface="Arial"/>
                <a:sym typeface="Arial"/>
              </a:endParaRPr>
            </a:p>
          </p:txBody>
        </p:sp>
      </p:grpSp>
      <p:grpSp>
        <p:nvGrpSpPr>
          <p:cNvPr id="3242" name="Google Shape;3242;p466"/>
          <p:cNvGrpSpPr/>
          <p:nvPr/>
        </p:nvGrpSpPr>
        <p:grpSpPr>
          <a:xfrm>
            <a:off x="5787160" y="4803273"/>
            <a:ext cx="451813" cy="306900"/>
            <a:chOff x="5787307" y="2615223"/>
            <a:chExt cx="451949" cy="306900"/>
          </a:xfrm>
        </p:grpSpPr>
        <p:sp>
          <p:nvSpPr>
            <p:cNvPr id="3243" name="Google Shape;3243;p466"/>
            <p:cNvSpPr/>
            <p:nvPr/>
          </p:nvSpPr>
          <p:spPr>
            <a:xfrm>
              <a:off x="6028056" y="2615223"/>
              <a:ext cx="211200" cy="306900"/>
            </a:xfrm>
            <a:prstGeom prst="chevron">
              <a:avLst>
                <a:gd name="adj" fmla="val 50000"/>
              </a:avLst>
            </a:prstGeom>
            <a:solidFill>
              <a:schemeClr val="accent4"/>
            </a:solidFill>
            <a:ln>
              <a:noFill/>
            </a:ln>
          </p:spPr>
          <p:txBody>
            <a:bodyPr spcFirstLastPara="1" wrap="square" lIns="121900" tIns="60925" rIns="121900" bIns="60925" anchor="ctr" anchorCtr="0">
              <a:noAutofit/>
            </a:bodyPr>
            <a:lstStyle/>
            <a:p>
              <a:pPr algn="ctr">
                <a:buClr>
                  <a:schemeClr val="dk1"/>
                </a:buClr>
                <a:buSzPts val="1900"/>
              </a:pPr>
              <a:endParaRPr sz="1900">
                <a:solidFill>
                  <a:schemeClr val="dk1"/>
                </a:solidFill>
                <a:latin typeface="Arial"/>
                <a:ea typeface="Arial"/>
                <a:cs typeface="Arial"/>
                <a:sym typeface="Arial"/>
              </a:endParaRPr>
            </a:p>
          </p:txBody>
        </p:sp>
        <p:sp>
          <p:nvSpPr>
            <p:cNvPr id="3244" name="Google Shape;3244;p466"/>
            <p:cNvSpPr/>
            <p:nvPr/>
          </p:nvSpPr>
          <p:spPr>
            <a:xfrm>
              <a:off x="5888905" y="2653348"/>
              <a:ext cx="158700" cy="230400"/>
            </a:xfrm>
            <a:prstGeom prst="chevron">
              <a:avLst>
                <a:gd name="adj" fmla="val 50000"/>
              </a:avLst>
            </a:prstGeom>
            <a:solidFill>
              <a:schemeClr val="accent1"/>
            </a:solidFill>
            <a:ln>
              <a:noFill/>
            </a:ln>
          </p:spPr>
          <p:txBody>
            <a:bodyPr spcFirstLastPara="1" wrap="square" lIns="121900" tIns="60925" rIns="121900" bIns="60925" anchor="ctr" anchorCtr="0">
              <a:noAutofit/>
            </a:bodyPr>
            <a:lstStyle/>
            <a:p>
              <a:pPr algn="ctr">
                <a:buClr>
                  <a:schemeClr val="dk1"/>
                </a:buClr>
                <a:buSzPts val="1900"/>
              </a:pPr>
              <a:endParaRPr sz="1900">
                <a:solidFill>
                  <a:schemeClr val="dk1"/>
                </a:solidFill>
                <a:latin typeface="Arial"/>
                <a:ea typeface="Arial"/>
                <a:cs typeface="Arial"/>
                <a:sym typeface="Arial"/>
              </a:endParaRPr>
            </a:p>
          </p:txBody>
        </p:sp>
        <p:sp>
          <p:nvSpPr>
            <p:cNvPr id="3245" name="Google Shape;3245;p466"/>
            <p:cNvSpPr/>
            <p:nvPr/>
          </p:nvSpPr>
          <p:spPr>
            <a:xfrm>
              <a:off x="5787307" y="2653348"/>
              <a:ext cx="158700" cy="230400"/>
            </a:xfrm>
            <a:prstGeom prst="chevron">
              <a:avLst>
                <a:gd name="adj" fmla="val 50000"/>
              </a:avLst>
            </a:prstGeom>
            <a:solidFill>
              <a:schemeClr val="accent1"/>
            </a:solidFill>
            <a:ln>
              <a:noFill/>
            </a:ln>
          </p:spPr>
          <p:txBody>
            <a:bodyPr spcFirstLastPara="1" wrap="square" lIns="121900" tIns="60925" rIns="121900" bIns="60925" anchor="ctr" anchorCtr="0">
              <a:noAutofit/>
            </a:bodyPr>
            <a:lstStyle/>
            <a:p>
              <a:pPr algn="ctr">
                <a:buClr>
                  <a:schemeClr val="dk1"/>
                </a:buClr>
                <a:buSzPts val="1900"/>
              </a:pPr>
              <a:endParaRPr sz="1900">
                <a:solidFill>
                  <a:schemeClr val="dk1"/>
                </a:solidFill>
                <a:latin typeface="Arial"/>
                <a:ea typeface="Arial"/>
                <a:cs typeface="Arial"/>
                <a:sym typeface="Arial"/>
              </a:endParaRPr>
            </a:p>
          </p:txBody>
        </p:sp>
      </p:grpSp>
      <p:grpSp>
        <p:nvGrpSpPr>
          <p:cNvPr id="3246" name="Google Shape;3246;p466"/>
          <p:cNvGrpSpPr/>
          <p:nvPr/>
        </p:nvGrpSpPr>
        <p:grpSpPr>
          <a:xfrm>
            <a:off x="5787160" y="5505048"/>
            <a:ext cx="451813" cy="306900"/>
            <a:chOff x="5787307" y="2615223"/>
            <a:chExt cx="451949" cy="306900"/>
          </a:xfrm>
        </p:grpSpPr>
        <p:sp>
          <p:nvSpPr>
            <p:cNvPr id="3247" name="Google Shape;3247;p466"/>
            <p:cNvSpPr/>
            <p:nvPr/>
          </p:nvSpPr>
          <p:spPr>
            <a:xfrm>
              <a:off x="6028056" y="2615223"/>
              <a:ext cx="211200" cy="306900"/>
            </a:xfrm>
            <a:prstGeom prst="chevron">
              <a:avLst>
                <a:gd name="adj" fmla="val 50000"/>
              </a:avLst>
            </a:prstGeom>
            <a:solidFill>
              <a:schemeClr val="accent4"/>
            </a:solidFill>
            <a:ln>
              <a:noFill/>
            </a:ln>
          </p:spPr>
          <p:txBody>
            <a:bodyPr spcFirstLastPara="1" wrap="square" lIns="121900" tIns="60925" rIns="121900" bIns="60925" anchor="ctr" anchorCtr="0">
              <a:noAutofit/>
            </a:bodyPr>
            <a:lstStyle/>
            <a:p>
              <a:pPr algn="ctr">
                <a:buClr>
                  <a:schemeClr val="dk1"/>
                </a:buClr>
                <a:buSzPts val="1900"/>
              </a:pPr>
              <a:endParaRPr sz="1900">
                <a:solidFill>
                  <a:schemeClr val="dk1"/>
                </a:solidFill>
                <a:latin typeface="Arial"/>
                <a:ea typeface="Arial"/>
                <a:cs typeface="Arial"/>
                <a:sym typeface="Arial"/>
              </a:endParaRPr>
            </a:p>
          </p:txBody>
        </p:sp>
        <p:sp>
          <p:nvSpPr>
            <p:cNvPr id="3248" name="Google Shape;3248;p466"/>
            <p:cNvSpPr/>
            <p:nvPr/>
          </p:nvSpPr>
          <p:spPr>
            <a:xfrm>
              <a:off x="5888905" y="2653348"/>
              <a:ext cx="158700" cy="230400"/>
            </a:xfrm>
            <a:prstGeom prst="chevron">
              <a:avLst>
                <a:gd name="adj" fmla="val 50000"/>
              </a:avLst>
            </a:prstGeom>
            <a:solidFill>
              <a:schemeClr val="accent1"/>
            </a:solidFill>
            <a:ln>
              <a:noFill/>
            </a:ln>
          </p:spPr>
          <p:txBody>
            <a:bodyPr spcFirstLastPara="1" wrap="square" lIns="121900" tIns="60925" rIns="121900" bIns="60925" anchor="ctr" anchorCtr="0">
              <a:noAutofit/>
            </a:bodyPr>
            <a:lstStyle/>
            <a:p>
              <a:pPr algn="ctr">
                <a:buClr>
                  <a:schemeClr val="dk1"/>
                </a:buClr>
                <a:buSzPts val="1900"/>
              </a:pPr>
              <a:endParaRPr sz="1900">
                <a:solidFill>
                  <a:schemeClr val="dk1"/>
                </a:solidFill>
                <a:latin typeface="Arial"/>
                <a:ea typeface="Arial"/>
                <a:cs typeface="Arial"/>
                <a:sym typeface="Arial"/>
              </a:endParaRPr>
            </a:p>
          </p:txBody>
        </p:sp>
        <p:sp>
          <p:nvSpPr>
            <p:cNvPr id="3249" name="Google Shape;3249;p466"/>
            <p:cNvSpPr/>
            <p:nvPr/>
          </p:nvSpPr>
          <p:spPr>
            <a:xfrm>
              <a:off x="5787307" y="2653348"/>
              <a:ext cx="158700" cy="230400"/>
            </a:xfrm>
            <a:prstGeom prst="chevron">
              <a:avLst>
                <a:gd name="adj" fmla="val 50000"/>
              </a:avLst>
            </a:prstGeom>
            <a:solidFill>
              <a:schemeClr val="accent1"/>
            </a:solidFill>
            <a:ln>
              <a:noFill/>
            </a:ln>
          </p:spPr>
          <p:txBody>
            <a:bodyPr spcFirstLastPara="1" wrap="square" lIns="121900" tIns="60925" rIns="121900" bIns="60925" anchor="ctr" anchorCtr="0">
              <a:noAutofit/>
            </a:bodyPr>
            <a:lstStyle/>
            <a:p>
              <a:pPr algn="ctr">
                <a:buClr>
                  <a:schemeClr val="dk1"/>
                </a:buClr>
                <a:buSzPts val="1900"/>
              </a:pPr>
              <a:endParaRPr sz="1900">
                <a:solidFill>
                  <a:schemeClr val="dk1"/>
                </a:solidFill>
                <a:latin typeface="Arial"/>
                <a:ea typeface="Arial"/>
                <a:cs typeface="Arial"/>
                <a:sym typeface="Arial"/>
              </a:endParaRPr>
            </a:p>
          </p:txBody>
        </p:sp>
      </p:grpSp>
      <p:sp>
        <p:nvSpPr>
          <p:cNvPr id="3250" name="Google Shape;3250;p466"/>
          <p:cNvSpPr txBox="1">
            <a:spLocks noGrp="1"/>
          </p:cNvSpPr>
          <p:nvPr>
            <p:ph type="title"/>
          </p:nvPr>
        </p:nvSpPr>
        <p:spPr>
          <a:xfrm>
            <a:off x="462452" y="365126"/>
            <a:ext cx="11257200" cy="992100"/>
          </a:xfrm>
          <a:prstGeom prst="rect">
            <a:avLst/>
          </a:prstGeom>
        </p:spPr>
        <p:txBody>
          <a:bodyPr spcFirstLastPara="1" vert="horz" wrap="square" lIns="0" tIns="45700" rIns="0" bIns="45700" rtlCol="0" anchor="ctr" anchorCtr="0">
            <a:noAutofit/>
          </a:bodyPr>
          <a:lstStyle/>
          <a:p>
            <a:r>
              <a:rPr lang="en"/>
              <a:t>Simple Migration Process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54"/>
        <p:cNvGrpSpPr/>
        <p:nvPr/>
      </p:nvGrpSpPr>
      <p:grpSpPr>
        <a:xfrm>
          <a:off x="0" y="0"/>
          <a:ext cx="0" cy="0"/>
          <a:chOff x="0" y="0"/>
          <a:chExt cx="0" cy="0"/>
        </a:xfrm>
      </p:grpSpPr>
      <p:sp>
        <p:nvSpPr>
          <p:cNvPr id="3255" name="Google Shape;3255;p467"/>
          <p:cNvSpPr txBox="1">
            <a:spLocks noGrp="1"/>
          </p:cNvSpPr>
          <p:nvPr>
            <p:ph type="title"/>
          </p:nvPr>
        </p:nvSpPr>
        <p:spPr>
          <a:xfrm>
            <a:off x="750833" y="535597"/>
            <a:ext cx="10659300" cy="583500"/>
          </a:xfrm>
          <a:prstGeom prst="rect">
            <a:avLst/>
          </a:prstGeom>
        </p:spPr>
        <p:txBody>
          <a:bodyPr spcFirstLastPara="1" vert="horz" wrap="square" lIns="0" tIns="0" rIns="0" bIns="0" rtlCol="0" anchor="ctr" anchorCtr="0">
            <a:noAutofit/>
          </a:bodyPr>
          <a:lstStyle/>
          <a:p>
            <a:r>
              <a:rPr lang="en" sz="3600"/>
              <a:t>Migration Methodology</a:t>
            </a:r>
            <a:endParaRPr sz="3600"/>
          </a:p>
        </p:txBody>
      </p:sp>
      <p:sp>
        <p:nvSpPr>
          <p:cNvPr id="3256" name="Google Shape;3256;p467"/>
          <p:cNvSpPr txBox="1">
            <a:spLocks noGrp="1"/>
          </p:cNvSpPr>
          <p:nvPr>
            <p:ph type="sldNum" idx="12"/>
          </p:nvPr>
        </p:nvSpPr>
        <p:spPr>
          <a:xfrm>
            <a:off x="11099257" y="6473300"/>
            <a:ext cx="324300" cy="186600"/>
          </a:xfrm>
          <a:prstGeom prst="rect">
            <a:avLst/>
          </a:prstGeom>
        </p:spPr>
        <p:txBody>
          <a:bodyPr spcFirstLastPara="1" vert="horz" wrap="square" lIns="0" tIns="0" rIns="0" bIns="0" rtlCol="0" anchor="t" anchorCtr="0">
            <a:noAutofit/>
          </a:bodyPr>
          <a:lstStyle/>
          <a:p>
            <a:fld id="{00000000-1234-1234-1234-123412341234}" type="slidenum">
              <a:rPr lang="en"/>
              <a:pPr/>
              <a:t>9</a:t>
            </a:fld>
            <a:endParaRPr/>
          </a:p>
        </p:txBody>
      </p:sp>
      <p:sp>
        <p:nvSpPr>
          <p:cNvPr id="3257" name="Google Shape;3257;p467"/>
          <p:cNvSpPr/>
          <p:nvPr/>
        </p:nvSpPr>
        <p:spPr>
          <a:xfrm>
            <a:off x="1450913" y="2201450"/>
            <a:ext cx="1536300" cy="645300"/>
          </a:xfrm>
          <a:prstGeom prst="rect">
            <a:avLst/>
          </a:prstGeom>
          <a:solidFill>
            <a:schemeClr val="accent1"/>
          </a:solidFill>
          <a:ln>
            <a:noFill/>
          </a:ln>
        </p:spPr>
        <p:txBody>
          <a:bodyPr spcFirstLastPara="1" wrap="square" lIns="91425" tIns="91425" rIns="91425" bIns="91425" anchor="ctr" anchorCtr="0">
            <a:noAutofit/>
          </a:bodyPr>
          <a:lstStyle/>
          <a:p>
            <a:pPr algn="ctr"/>
            <a:r>
              <a:rPr lang="en" sz="1300" b="1">
                <a:solidFill>
                  <a:schemeClr val="lt1"/>
                </a:solidFill>
                <a:latin typeface="DM Sans"/>
                <a:ea typeface="DM Sans"/>
                <a:cs typeface="DM Sans"/>
                <a:sym typeface="DM Sans"/>
              </a:rPr>
              <a:t>Phase 1 Discovery</a:t>
            </a:r>
            <a:endParaRPr sz="1300" b="1">
              <a:solidFill>
                <a:schemeClr val="lt1"/>
              </a:solidFill>
              <a:latin typeface="DM Sans"/>
              <a:ea typeface="DM Sans"/>
              <a:cs typeface="DM Sans"/>
              <a:sym typeface="DM Sans"/>
            </a:endParaRPr>
          </a:p>
        </p:txBody>
      </p:sp>
      <p:sp>
        <p:nvSpPr>
          <p:cNvPr id="3258" name="Google Shape;3258;p467"/>
          <p:cNvSpPr/>
          <p:nvPr/>
        </p:nvSpPr>
        <p:spPr>
          <a:xfrm>
            <a:off x="1446713" y="3068450"/>
            <a:ext cx="1536300" cy="1795800"/>
          </a:xfrm>
          <a:prstGeom prst="rect">
            <a:avLst/>
          </a:prstGeom>
          <a:solidFill>
            <a:schemeClr val="accent5"/>
          </a:solidFill>
          <a:ln>
            <a:noFill/>
          </a:ln>
        </p:spPr>
        <p:txBody>
          <a:bodyPr spcFirstLastPara="1" wrap="square" lIns="91425" tIns="91425" rIns="91425" bIns="91425" anchor="ctr" anchorCtr="0">
            <a:noAutofit/>
          </a:bodyPr>
          <a:lstStyle/>
          <a:p>
            <a:pPr algn="ctr"/>
            <a:r>
              <a:rPr lang="en" sz="1300">
                <a:solidFill>
                  <a:schemeClr val="lt1"/>
                </a:solidFill>
                <a:latin typeface="DM Sans"/>
                <a:ea typeface="DM Sans"/>
                <a:cs typeface="DM Sans"/>
                <a:sym typeface="DM Sans"/>
              </a:rPr>
              <a:t>Migration specific discovery and consultation</a:t>
            </a:r>
            <a:endParaRPr sz="1300">
              <a:solidFill>
                <a:schemeClr val="lt1"/>
              </a:solidFill>
              <a:latin typeface="DM Sans"/>
              <a:ea typeface="DM Sans"/>
              <a:cs typeface="DM Sans"/>
              <a:sym typeface="DM Sans"/>
            </a:endParaRPr>
          </a:p>
        </p:txBody>
      </p:sp>
      <p:sp>
        <p:nvSpPr>
          <p:cNvPr id="3259" name="Google Shape;3259;p467"/>
          <p:cNvSpPr/>
          <p:nvPr/>
        </p:nvSpPr>
        <p:spPr>
          <a:xfrm>
            <a:off x="3290088" y="2201450"/>
            <a:ext cx="1536300" cy="645300"/>
          </a:xfrm>
          <a:prstGeom prst="rect">
            <a:avLst/>
          </a:prstGeom>
          <a:solidFill>
            <a:schemeClr val="accent1"/>
          </a:solidFill>
          <a:ln>
            <a:noFill/>
          </a:ln>
        </p:spPr>
        <p:txBody>
          <a:bodyPr spcFirstLastPara="1" wrap="square" lIns="91425" tIns="91425" rIns="91425" bIns="91425" anchor="ctr" anchorCtr="0">
            <a:noAutofit/>
          </a:bodyPr>
          <a:lstStyle/>
          <a:p>
            <a:pPr algn="ctr">
              <a:buClr>
                <a:srgbClr val="000000"/>
              </a:buClr>
            </a:pPr>
            <a:r>
              <a:rPr lang="en" sz="1300" b="1">
                <a:solidFill>
                  <a:schemeClr val="lt1"/>
                </a:solidFill>
                <a:latin typeface="DM Sans"/>
                <a:ea typeface="DM Sans"/>
                <a:cs typeface="DM Sans"/>
                <a:sym typeface="DM Sans"/>
              </a:rPr>
              <a:t>Phase 2</a:t>
            </a:r>
            <a:endParaRPr sz="1300" b="1">
              <a:solidFill>
                <a:schemeClr val="lt1"/>
              </a:solidFill>
              <a:latin typeface="DM Sans"/>
              <a:ea typeface="DM Sans"/>
              <a:cs typeface="DM Sans"/>
              <a:sym typeface="DM Sans"/>
            </a:endParaRPr>
          </a:p>
          <a:p>
            <a:pPr algn="ctr"/>
            <a:r>
              <a:rPr lang="en" sz="1300" b="1">
                <a:solidFill>
                  <a:schemeClr val="lt1"/>
                </a:solidFill>
                <a:latin typeface="DM Sans"/>
                <a:ea typeface="DM Sans"/>
                <a:cs typeface="DM Sans"/>
                <a:sym typeface="DM Sans"/>
              </a:rPr>
              <a:t>Assessment</a:t>
            </a:r>
            <a:endParaRPr sz="1300" b="1">
              <a:solidFill>
                <a:schemeClr val="lt1"/>
              </a:solidFill>
              <a:latin typeface="DM Sans"/>
              <a:ea typeface="DM Sans"/>
              <a:cs typeface="DM Sans"/>
              <a:sym typeface="DM Sans"/>
            </a:endParaRPr>
          </a:p>
        </p:txBody>
      </p:sp>
      <p:sp>
        <p:nvSpPr>
          <p:cNvPr id="3260" name="Google Shape;3260;p467"/>
          <p:cNvSpPr/>
          <p:nvPr/>
        </p:nvSpPr>
        <p:spPr>
          <a:xfrm>
            <a:off x="3285888" y="3068450"/>
            <a:ext cx="1536300" cy="1795800"/>
          </a:xfrm>
          <a:prstGeom prst="rect">
            <a:avLst/>
          </a:prstGeom>
          <a:solidFill>
            <a:schemeClr val="accent5"/>
          </a:solidFill>
          <a:ln>
            <a:noFill/>
          </a:ln>
        </p:spPr>
        <p:txBody>
          <a:bodyPr spcFirstLastPara="1" wrap="square" lIns="91425" tIns="91425" rIns="91425" bIns="91425" anchor="ctr" anchorCtr="0">
            <a:noAutofit/>
          </a:bodyPr>
          <a:lstStyle/>
          <a:p>
            <a:pPr algn="ctr"/>
            <a:r>
              <a:rPr lang="en" sz="1300">
                <a:solidFill>
                  <a:schemeClr val="lt1"/>
                </a:solidFill>
                <a:latin typeface="DM Sans"/>
                <a:ea typeface="DM Sans"/>
                <a:cs typeface="DM Sans"/>
                <a:sym typeface="DM Sans"/>
              </a:rPr>
              <a:t>Assessment, Design, Tooling, Accelerators, Sizing, Partners</a:t>
            </a:r>
            <a:endParaRPr sz="1300">
              <a:solidFill>
                <a:schemeClr val="lt1"/>
              </a:solidFill>
              <a:latin typeface="DM Sans"/>
              <a:ea typeface="DM Sans"/>
              <a:cs typeface="DM Sans"/>
              <a:sym typeface="DM Sans"/>
            </a:endParaRPr>
          </a:p>
        </p:txBody>
      </p:sp>
      <p:sp>
        <p:nvSpPr>
          <p:cNvPr id="3261" name="Google Shape;3261;p467"/>
          <p:cNvSpPr/>
          <p:nvPr/>
        </p:nvSpPr>
        <p:spPr>
          <a:xfrm>
            <a:off x="5129263" y="2201450"/>
            <a:ext cx="1536300" cy="645300"/>
          </a:xfrm>
          <a:prstGeom prst="rect">
            <a:avLst/>
          </a:prstGeom>
          <a:solidFill>
            <a:schemeClr val="accent1"/>
          </a:solidFill>
          <a:ln>
            <a:noFill/>
          </a:ln>
        </p:spPr>
        <p:txBody>
          <a:bodyPr spcFirstLastPara="1" wrap="square" lIns="91425" tIns="91425" rIns="91425" bIns="91425" anchor="ctr" anchorCtr="0">
            <a:noAutofit/>
          </a:bodyPr>
          <a:lstStyle/>
          <a:p>
            <a:pPr algn="ctr">
              <a:buClr>
                <a:srgbClr val="000000"/>
              </a:buClr>
            </a:pPr>
            <a:r>
              <a:rPr lang="en" sz="1300" b="1">
                <a:solidFill>
                  <a:schemeClr val="lt1"/>
                </a:solidFill>
                <a:latin typeface="DM Sans"/>
                <a:ea typeface="DM Sans"/>
                <a:cs typeface="DM Sans"/>
                <a:sym typeface="DM Sans"/>
              </a:rPr>
              <a:t>Phase 3</a:t>
            </a:r>
            <a:endParaRPr sz="1300" b="1">
              <a:solidFill>
                <a:schemeClr val="lt1"/>
              </a:solidFill>
              <a:latin typeface="DM Sans"/>
              <a:ea typeface="DM Sans"/>
              <a:cs typeface="DM Sans"/>
              <a:sym typeface="DM Sans"/>
            </a:endParaRPr>
          </a:p>
          <a:p>
            <a:pPr algn="ctr"/>
            <a:r>
              <a:rPr lang="en" sz="1300" b="1">
                <a:solidFill>
                  <a:schemeClr val="lt1"/>
                </a:solidFill>
                <a:latin typeface="DM Sans"/>
                <a:ea typeface="DM Sans"/>
                <a:cs typeface="DM Sans"/>
                <a:sym typeface="DM Sans"/>
              </a:rPr>
              <a:t>Strategy</a:t>
            </a:r>
            <a:endParaRPr sz="1300" b="1">
              <a:solidFill>
                <a:schemeClr val="lt1"/>
              </a:solidFill>
              <a:latin typeface="DM Sans"/>
              <a:ea typeface="DM Sans"/>
              <a:cs typeface="DM Sans"/>
              <a:sym typeface="DM Sans"/>
            </a:endParaRPr>
          </a:p>
        </p:txBody>
      </p:sp>
      <p:sp>
        <p:nvSpPr>
          <p:cNvPr id="3262" name="Google Shape;3262;p467"/>
          <p:cNvSpPr/>
          <p:nvPr/>
        </p:nvSpPr>
        <p:spPr>
          <a:xfrm>
            <a:off x="5125063" y="3068450"/>
            <a:ext cx="1536300" cy="1795800"/>
          </a:xfrm>
          <a:prstGeom prst="rect">
            <a:avLst/>
          </a:prstGeom>
          <a:solidFill>
            <a:schemeClr val="accent5"/>
          </a:solidFill>
          <a:ln>
            <a:noFill/>
          </a:ln>
        </p:spPr>
        <p:txBody>
          <a:bodyPr spcFirstLastPara="1" wrap="square" lIns="91425" tIns="91425" rIns="91425" bIns="91425" anchor="ctr" anchorCtr="0">
            <a:noAutofit/>
          </a:bodyPr>
          <a:lstStyle/>
          <a:p>
            <a:pPr algn="ctr"/>
            <a:r>
              <a:rPr lang="en" sz="1300">
                <a:solidFill>
                  <a:schemeClr val="lt1"/>
                </a:solidFill>
                <a:latin typeface="DM Sans"/>
                <a:ea typeface="DM Sans"/>
                <a:cs typeface="DM Sans"/>
                <a:sym typeface="DM Sans"/>
              </a:rPr>
              <a:t>Technology mapping, migration workshop, migration planning</a:t>
            </a:r>
            <a:endParaRPr sz="1300">
              <a:solidFill>
                <a:schemeClr val="lt1"/>
              </a:solidFill>
              <a:latin typeface="DM Sans"/>
              <a:ea typeface="DM Sans"/>
              <a:cs typeface="DM Sans"/>
              <a:sym typeface="DM Sans"/>
            </a:endParaRPr>
          </a:p>
        </p:txBody>
      </p:sp>
      <p:sp>
        <p:nvSpPr>
          <p:cNvPr id="3263" name="Google Shape;3263;p467"/>
          <p:cNvSpPr/>
          <p:nvPr/>
        </p:nvSpPr>
        <p:spPr>
          <a:xfrm>
            <a:off x="1446738" y="5127725"/>
            <a:ext cx="5214600" cy="645300"/>
          </a:xfrm>
          <a:prstGeom prst="rect">
            <a:avLst/>
          </a:prstGeom>
          <a:solidFill>
            <a:schemeClr val="accent5"/>
          </a:solidFill>
          <a:ln>
            <a:noFill/>
          </a:ln>
        </p:spPr>
        <p:txBody>
          <a:bodyPr spcFirstLastPara="1" wrap="square" lIns="91425" tIns="91425" rIns="91425" bIns="91425" anchor="ctr" anchorCtr="0">
            <a:noAutofit/>
          </a:bodyPr>
          <a:lstStyle/>
          <a:p>
            <a:pPr algn="ctr"/>
            <a:r>
              <a:rPr lang="en" sz="1300">
                <a:solidFill>
                  <a:schemeClr val="lt1"/>
                </a:solidFill>
                <a:latin typeface="DM Sans"/>
                <a:ea typeface="DM Sans"/>
                <a:cs typeface="DM Sans"/>
                <a:sym typeface="DM Sans"/>
              </a:rPr>
              <a:t>Databricks Migration Team with/without Partner</a:t>
            </a:r>
            <a:endParaRPr sz="1300">
              <a:solidFill>
                <a:schemeClr val="lt1"/>
              </a:solidFill>
              <a:latin typeface="DM Sans"/>
              <a:ea typeface="DM Sans"/>
              <a:cs typeface="DM Sans"/>
              <a:sym typeface="DM Sans"/>
            </a:endParaRPr>
          </a:p>
        </p:txBody>
      </p:sp>
      <p:sp>
        <p:nvSpPr>
          <p:cNvPr id="3264" name="Google Shape;3264;p467"/>
          <p:cNvSpPr/>
          <p:nvPr/>
        </p:nvSpPr>
        <p:spPr>
          <a:xfrm>
            <a:off x="6968438" y="2214225"/>
            <a:ext cx="1654500" cy="645300"/>
          </a:xfrm>
          <a:prstGeom prst="rect">
            <a:avLst/>
          </a:prstGeom>
          <a:solidFill>
            <a:schemeClr val="accent1"/>
          </a:solidFill>
          <a:ln>
            <a:noFill/>
          </a:ln>
        </p:spPr>
        <p:txBody>
          <a:bodyPr spcFirstLastPara="1" wrap="square" lIns="91425" tIns="91425" rIns="91425" bIns="91425" anchor="ctr" anchorCtr="0">
            <a:noAutofit/>
          </a:bodyPr>
          <a:lstStyle/>
          <a:p>
            <a:pPr algn="ctr">
              <a:buClr>
                <a:srgbClr val="000000"/>
              </a:buClr>
            </a:pPr>
            <a:r>
              <a:rPr lang="en" sz="1300" b="1">
                <a:solidFill>
                  <a:schemeClr val="lt1"/>
                </a:solidFill>
                <a:latin typeface="DM Sans"/>
                <a:ea typeface="DM Sans"/>
                <a:cs typeface="DM Sans"/>
                <a:sym typeface="DM Sans"/>
              </a:rPr>
              <a:t>Phase 4</a:t>
            </a:r>
            <a:endParaRPr sz="1300" b="1">
              <a:solidFill>
                <a:schemeClr val="lt1"/>
              </a:solidFill>
              <a:latin typeface="DM Sans"/>
              <a:ea typeface="DM Sans"/>
              <a:cs typeface="DM Sans"/>
              <a:sym typeface="DM Sans"/>
            </a:endParaRPr>
          </a:p>
          <a:p>
            <a:pPr algn="ctr"/>
            <a:r>
              <a:rPr lang="en" sz="1300" b="1">
                <a:solidFill>
                  <a:schemeClr val="lt1"/>
                </a:solidFill>
                <a:latin typeface="DM Sans"/>
                <a:ea typeface="DM Sans"/>
                <a:cs typeface="DM Sans"/>
                <a:sym typeface="DM Sans"/>
              </a:rPr>
              <a:t>TurnKey  Delivery Proposal </a:t>
            </a:r>
            <a:endParaRPr sz="1300" b="1">
              <a:solidFill>
                <a:schemeClr val="lt1"/>
              </a:solidFill>
              <a:latin typeface="DM Sans"/>
              <a:ea typeface="DM Sans"/>
              <a:cs typeface="DM Sans"/>
              <a:sym typeface="DM Sans"/>
            </a:endParaRPr>
          </a:p>
        </p:txBody>
      </p:sp>
      <p:sp>
        <p:nvSpPr>
          <p:cNvPr id="3265" name="Google Shape;3265;p467"/>
          <p:cNvSpPr/>
          <p:nvPr/>
        </p:nvSpPr>
        <p:spPr>
          <a:xfrm>
            <a:off x="6964238" y="3068450"/>
            <a:ext cx="1532100" cy="1795800"/>
          </a:xfrm>
          <a:prstGeom prst="rect">
            <a:avLst/>
          </a:prstGeom>
          <a:solidFill>
            <a:schemeClr val="accent5"/>
          </a:solidFill>
          <a:ln>
            <a:noFill/>
          </a:ln>
        </p:spPr>
        <p:txBody>
          <a:bodyPr spcFirstLastPara="1" wrap="square" lIns="91425" tIns="91425" rIns="91425" bIns="91425" anchor="ctr" anchorCtr="0">
            <a:noAutofit/>
          </a:bodyPr>
          <a:lstStyle/>
          <a:p>
            <a:pPr algn="ctr"/>
            <a:r>
              <a:rPr lang="en" sz="1300">
                <a:solidFill>
                  <a:schemeClr val="lt1"/>
                </a:solidFill>
                <a:latin typeface="DM Sans"/>
                <a:ea typeface="DM Sans"/>
                <a:cs typeface="DM Sans"/>
                <a:sym typeface="DM Sans"/>
              </a:rPr>
              <a:t>Reference implementation of a production use case, Overall migration implementation plan</a:t>
            </a:r>
            <a:endParaRPr sz="1300">
              <a:solidFill>
                <a:schemeClr val="lt1"/>
              </a:solidFill>
              <a:latin typeface="DM Sans"/>
              <a:ea typeface="DM Sans"/>
              <a:cs typeface="DM Sans"/>
              <a:sym typeface="DM Sans"/>
            </a:endParaRPr>
          </a:p>
        </p:txBody>
      </p:sp>
      <p:sp>
        <p:nvSpPr>
          <p:cNvPr id="3266" name="Google Shape;3266;p467"/>
          <p:cNvSpPr/>
          <p:nvPr/>
        </p:nvSpPr>
        <p:spPr>
          <a:xfrm>
            <a:off x="8803413" y="2201450"/>
            <a:ext cx="1532100" cy="645300"/>
          </a:xfrm>
          <a:prstGeom prst="rect">
            <a:avLst/>
          </a:prstGeom>
          <a:solidFill>
            <a:schemeClr val="accent1"/>
          </a:solidFill>
          <a:ln>
            <a:noFill/>
          </a:ln>
        </p:spPr>
        <p:txBody>
          <a:bodyPr spcFirstLastPara="1" wrap="square" lIns="91425" tIns="91425" rIns="91425" bIns="91425" anchor="ctr" anchorCtr="0">
            <a:noAutofit/>
          </a:bodyPr>
          <a:lstStyle/>
          <a:p>
            <a:pPr algn="ctr">
              <a:buClr>
                <a:srgbClr val="000000"/>
              </a:buClr>
            </a:pPr>
            <a:r>
              <a:rPr lang="en" sz="1300" b="1">
                <a:solidFill>
                  <a:schemeClr val="lt1"/>
                </a:solidFill>
                <a:latin typeface="DM Sans"/>
                <a:ea typeface="DM Sans"/>
                <a:cs typeface="DM Sans"/>
                <a:sym typeface="DM Sans"/>
              </a:rPr>
              <a:t>Phase 5</a:t>
            </a:r>
            <a:endParaRPr sz="1300" b="1">
              <a:solidFill>
                <a:schemeClr val="lt1"/>
              </a:solidFill>
              <a:latin typeface="DM Sans"/>
              <a:ea typeface="DM Sans"/>
              <a:cs typeface="DM Sans"/>
              <a:sym typeface="DM Sans"/>
            </a:endParaRPr>
          </a:p>
          <a:p>
            <a:pPr algn="ctr"/>
            <a:r>
              <a:rPr lang="en" sz="1300" b="1">
                <a:solidFill>
                  <a:schemeClr val="lt1"/>
                </a:solidFill>
                <a:latin typeface="DM Sans"/>
                <a:ea typeface="DM Sans"/>
                <a:cs typeface="DM Sans"/>
                <a:sym typeface="DM Sans"/>
              </a:rPr>
              <a:t>Execution</a:t>
            </a:r>
            <a:endParaRPr sz="1300" b="1">
              <a:solidFill>
                <a:schemeClr val="lt1"/>
              </a:solidFill>
              <a:latin typeface="DM Sans"/>
              <a:ea typeface="DM Sans"/>
              <a:cs typeface="DM Sans"/>
              <a:sym typeface="DM Sans"/>
            </a:endParaRPr>
          </a:p>
        </p:txBody>
      </p:sp>
      <p:sp>
        <p:nvSpPr>
          <p:cNvPr id="3267" name="Google Shape;3267;p467"/>
          <p:cNvSpPr/>
          <p:nvPr/>
        </p:nvSpPr>
        <p:spPr>
          <a:xfrm>
            <a:off x="8799213" y="3068450"/>
            <a:ext cx="1532100" cy="1795800"/>
          </a:xfrm>
          <a:prstGeom prst="rect">
            <a:avLst/>
          </a:prstGeom>
          <a:solidFill>
            <a:schemeClr val="accent5"/>
          </a:solidFill>
          <a:ln>
            <a:noFill/>
          </a:ln>
        </p:spPr>
        <p:txBody>
          <a:bodyPr spcFirstLastPara="1" wrap="square" lIns="91425" tIns="91425" rIns="91425" bIns="91425" anchor="ctr" anchorCtr="0">
            <a:noAutofit/>
          </a:bodyPr>
          <a:lstStyle/>
          <a:p>
            <a:pPr algn="ctr"/>
            <a:r>
              <a:rPr lang="en" sz="1300">
                <a:solidFill>
                  <a:schemeClr val="lt1"/>
                </a:solidFill>
                <a:latin typeface="DM Sans"/>
                <a:ea typeface="DM Sans"/>
                <a:cs typeface="DM Sans"/>
                <a:sym typeface="DM Sans"/>
              </a:rPr>
              <a:t>Migration execution and support</a:t>
            </a:r>
            <a:endParaRPr sz="1300">
              <a:solidFill>
                <a:schemeClr val="lt1"/>
              </a:solidFill>
              <a:latin typeface="DM Sans"/>
              <a:ea typeface="DM Sans"/>
              <a:cs typeface="DM Sans"/>
              <a:sym typeface="DM Sans"/>
            </a:endParaRPr>
          </a:p>
        </p:txBody>
      </p:sp>
      <p:sp>
        <p:nvSpPr>
          <p:cNvPr id="3268" name="Google Shape;3268;p467"/>
          <p:cNvSpPr/>
          <p:nvPr/>
        </p:nvSpPr>
        <p:spPr>
          <a:xfrm>
            <a:off x="6964163" y="5127725"/>
            <a:ext cx="3367200" cy="645300"/>
          </a:xfrm>
          <a:prstGeom prst="rect">
            <a:avLst/>
          </a:prstGeom>
          <a:solidFill>
            <a:schemeClr val="accent5"/>
          </a:solidFill>
          <a:ln>
            <a:noFill/>
          </a:ln>
        </p:spPr>
        <p:txBody>
          <a:bodyPr spcFirstLastPara="1" wrap="square" lIns="91425" tIns="91425" rIns="91425" bIns="91425" anchor="ctr" anchorCtr="0">
            <a:noAutofit/>
          </a:bodyPr>
          <a:lstStyle/>
          <a:p>
            <a:pPr algn="ctr"/>
            <a:r>
              <a:rPr lang="en" sz="1300">
                <a:solidFill>
                  <a:schemeClr val="lt1"/>
                </a:solidFill>
                <a:latin typeface="DM Sans"/>
                <a:ea typeface="DM Sans"/>
                <a:cs typeface="DM Sans"/>
                <a:sym typeface="DM Sans"/>
              </a:rPr>
              <a:t>Databricks Partner Driven</a:t>
            </a:r>
            <a:endParaRPr sz="1300">
              <a:solidFill>
                <a:schemeClr val="lt1"/>
              </a:solidFill>
              <a:latin typeface="DM Sans"/>
              <a:ea typeface="DM Sans"/>
              <a:cs typeface="DM Sans"/>
              <a:sym typeface="DM Sans"/>
            </a:endParaRPr>
          </a:p>
        </p:txBody>
      </p:sp>
      <p:sp>
        <p:nvSpPr>
          <p:cNvPr id="3269" name="Google Shape;3269;p467"/>
          <p:cNvSpPr/>
          <p:nvPr/>
        </p:nvSpPr>
        <p:spPr>
          <a:xfrm>
            <a:off x="6964163" y="5925750"/>
            <a:ext cx="3367200" cy="645300"/>
          </a:xfrm>
          <a:prstGeom prst="rect">
            <a:avLst/>
          </a:prstGeom>
          <a:solidFill>
            <a:schemeClr val="accent5"/>
          </a:solidFill>
          <a:ln>
            <a:noFill/>
          </a:ln>
        </p:spPr>
        <p:txBody>
          <a:bodyPr spcFirstLastPara="1" wrap="square" lIns="91425" tIns="91425" rIns="91425" bIns="91425" anchor="ctr" anchorCtr="0">
            <a:noAutofit/>
          </a:bodyPr>
          <a:lstStyle/>
          <a:p>
            <a:pPr algn="ctr"/>
            <a:r>
              <a:rPr lang="en" sz="1300">
                <a:solidFill>
                  <a:schemeClr val="lt1"/>
                </a:solidFill>
                <a:latin typeface="DM Sans"/>
                <a:ea typeface="DM Sans"/>
                <a:cs typeface="DM Sans"/>
                <a:sym typeface="DM Sans"/>
              </a:rPr>
              <a:t>Databricks PS Driven ( Assurance Package to assist SIs) </a:t>
            </a:r>
            <a:endParaRPr sz="1300">
              <a:solidFill>
                <a:schemeClr val="lt1"/>
              </a:solidFill>
              <a:latin typeface="DM Sans"/>
              <a:ea typeface="DM Sans"/>
              <a:cs typeface="DM Sans"/>
              <a:sym typeface="DM Sans"/>
            </a:endParaRPr>
          </a:p>
        </p:txBody>
      </p:sp>
      <p:cxnSp>
        <p:nvCxnSpPr>
          <p:cNvPr id="3270" name="Google Shape;3270;p467"/>
          <p:cNvCxnSpPr/>
          <p:nvPr/>
        </p:nvCxnSpPr>
        <p:spPr>
          <a:xfrm>
            <a:off x="2690209" y="1678763"/>
            <a:ext cx="896100" cy="0"/>
          </a:xfrm>
          <a:prstGeom prst="straightConnector1">
            <a:avLst/>
          </a:prstGeom>
          <a:noFill/>
          <a:ln w="9525" cap="flat" cmpd="sng">
            <a:solidFill>
              <a:srgbClr val="FFAB00"/>
            </a:solidFill>
            <a:prstDash val="solid"/>
            <a:round/>
            <a:headEnd type="none" w="sm" len="sm"/>
            <a:tailEnd type="triangle" w="med" len="med"/>
          </a:ln>
        </p:spPr>
      </p:cxnSp>
      <p:cxnSp>
        <p:nvCxnSpPr>
          <p:cNvPr id="3271" name="Google Shape;3271;p467"/>
          <p:cNvCxnSpPr/>
          <p:nvPr/>
        </p:nvCxnSpPr>
        <p:spPr>
          <a:xfrm>
            <a:off x="4528603" y="1678763"/>
            <a:ext cx="896100" cy="0"/>
          </a:xfrm>
          <a:prstGeom prst="straightConnector1">
            <a:avLst/>
          </a:prstGeom>
          <a:noFill/>
          <a:ln w="9525" cap="flat" cmpd="sng">
            <a:solidFill>
              <a:srgbClr val="FFAB00"/>
            </a:solidFill>
            <a:prstDash val="solid"/>
            <a:round/>
            <a:headEnd type="none" w="sm" len="sm"/>
            <a:tailEnd type="triangle" w="med" len="med"/>
          </a:ln>
        </p:spPr>
      </p:cxnSp>
      <p:cxnSp>
        <p:nvCxnSpPr>
          <p:cNvPr id="3272" name="Google Shape;3272;p467"/>
          <p:cNvCxnSpPr/>
          <p:nvPr/>
        </p:nvCxnSpPr>
        <p:spPr>
          <a:xfrm>
            <a:off x="6366997" y="1678763"/>
            <a:ext cx="896100" cy="0"/>
          </a:xfrm>
          <a:prstGeom prst="straightConnector1">
            <a:avLst/>
          </a:prstGeom>
          <a:noFill/>
          <a:ln w="9525" cap="flat" cmpd="sng">
            <a:solidFill>
              <a:srgbClr val="FFAB00"/>
            </a:solidFill>
            <a:prstDash val="solid"/>
            <a:round/>
            <a:headEnd type="none" w="sm" len="sm"/>
            <a:tailEnd type="triangle" w="med" len="med"/>
          </a:ln>
        </p:spPr>
      </p:cxnSp>
      <p:cxnSp>
        <p:nvCxnSpPr>
          <p:cNvPr id="3273" name="Google Shape;3273;p467"/>
          <p:cNvCxnSpPr/>
          <p:nvPr/>
        </p:nvCxnSpPr>
        <p:spPr>
          <a:xfrm>
            <a:off x="8205391" y="1678763"/>
            <a:ext cx="896100" cy="0"/>
          </a:xfrm>
          <a:prstGeom prst="straightConnector1">
            <a:avLst/>
          </a:prstGeom>
          <a:noFill/>
          <a:ln w="9525" cap="flat" cmpd="sng">
            <a:solidFill>
              <a:srgbClr val="FFAB00"/>
            </a:solidFill>
            <a:prstDash val="solid"/>
            <a:round/>
            <a:headEnd type="none" w="sm" len="sm"/>
            <a:tailEnd type="triangle" w="med" len="med"/>
          </a:ln>
        </p:spPr>
      </p:cxnSp>
      <p:pic>
        <p:nvPicPr>
          <p:cNvPr id="3274" name="Google Shape;3274;p467"/>
          <p:cNvPicPr preferRelativeResize="0"/>
          <p:nvPr/>
        </p:nvPicPr>
        <p:blipFill rotWithShape="1">
          <a:blip r:embed="rId3">
            <a:alphaModFix/>
          </a:blip>
          <a:srcRect/>
          <a:stretch/>
        </p:blipFill>
        <p:spPr>
          <a:xfrm>
            <a:off x="9195448" y="1301573"/>
            <a:ext cx="754380" cy="754380"/>
          </a:xfrm>
          <a:prstGeom prst="rect">
            <a:avLst/>
          </a:prstGeom>
          <a:noFill/>
          <a:ln>
            <a:noFill/>
          </a:ln>
        </p:spPr>
      </p:pic>
      <p:pic>
        <p:nvPicPr>
          <p:cNvPr id="3275" name="Google Shape;3275;p467"/>
          <p:cNvPicPr preferRelativeResize="0"/>
          <p:nvPr/>
        </p:nvPicPr>
        <p:blipFill rotWithShape="1">
          <a:blip r:embed="rId4">
            <a:alphaModFix/>
          </a:blip>
          <a:srcRect/>
          <a:stretch/>
        </p:blipFill>
        <p:spPr>
          <a:xfrm>
            <a:off x="1841872" y="1301573"/>
            <a:ext cx="754380" cy="754380"/>
          </a:xfrm>
          <a:prstGeom prst="rect">
            <a:avLst/>
          </a:prstGeom>
          <a:noFill/>
          <a:ln>
            <a:noFill/>
          </a:ln>
        </p:spPr>
      </p:pic>
      <p:pic>
        <p:nvPicPr>
          <p:cNvPr id="3276" name="Google Shape;3276;p467"/>
          <p:cNvPicPr preferRelativeResize="0"/>
          <p:nvPr/>
        </p:nvPicPr>
        <p:blipFill rotWithShape="1">
          <a:blip r:embed="rId5">
            <a:alphaModFix/>
          </a:blip>
          <a:srcRect/>
          <a:stretch/>
        </p:blipFill>
        <p:spPr>
          <a:xfrm>
            <a:off x="5518660" y="1301573"/>
            <a:ext cx="754380" cy="754380"/>
          </a:xfrm>
          <a:prstGeom prst="rect">
            <a:avLst/>
          </a:prstGeom>
          <a:noFill/>
          <a:ln>
            <a:noFill/>
          </a:ln>
        </p:spPr>
      </p:pic>
      <p:pic>
        <p:nvPicPr>
          <p:cNvPr id="3277" name="Google Shape;3277;p467"/>
          <p:cNvPicPr preferRelativeResize="0"/>
          <p:nvPr/>
        </p:nvPicPr>
        <p:blipFill rotWithShape="1">
          <a:blip r:embed="rId6">
            <a:alphaModFix/>
          </a:blip>
          <a:srcRect/>
          <a:stretch/>
        </p:blipFill>
        <p:spPr>
          <a:xfrm>
            <a:off x="7357054" y="1301573"/>
            <a:ext cx="754380" cy="754380"/>
          </a:xfrm>
          <a:prstGeom prst="rect">
            <a:avLst/>
          </a:prstGeom>
          <a:noFill/>
          <a:ln>
            <a:noFill/>
          </a:ln>
        </p:spPr>
      </p:pic>
      <p:pic>
        <p:nvPicPr>
          <p:cNvPr id="3278" name="Google Shape;3278;p467"/>
          <p:cNvPicPr preferRelativeResize="0"/>
          <p:nvPr/>
        </p:nvPicPr>
        <p:blipFill rotWithShape="1">
          <a:blip r:embed="rId7">
            <a:alphaModFix/>
          </a:blip>
          <a:srcRect/>
          <a:stretch/>
        </p:blipFill>
        <p:spPr>
          <a:xfrm>
            <a:off x="3680266" y="1301573"/>
            <a:ext cx="754380" cy="75438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82"/>
        <p:cNvGrpSpPr/>
        <p:nvPr/>
      </p:nvGrpSpPr>
      <p:grpSpPr>
        <a:xfrm>
          <a:off x="0" y="0"/>
          <a:ext cx="0" cy="0"/>
          <a:chOff x="0" y="0"/>
          <a:chExt cx="0" cy="0"/>
        </a:xfrm>
      </p:grpSpPr>
      <p:sp>
        <p:nvSpPr>
          <p:cNvPr id="3283" name="Google Shape;3283;p468"/>
          <p:cNvSpPr txBox="1">
            <a:spLocks noGrp="1"/>
          </p:cNvSpPr>
          <p:nvPr>
            <p:ph type="title"/>
          </p:nvPr>
        </p:nvSpPr>
        <p:spPr>
          <a:xfrm>
            <a:off x="750834" y="535633"/>
            <a:ext cx="8878200" cy="5712900"/>
          </a:xfrm>
          <a:prstGeom prst="rect">
            <a:avLst/>
          </a:prstGeom>
        </p:spPr>
        <p:txBody>
          <a:bodyPr spcFirstLastPara="1" vert="horz" wrap="square" lIns="0" tIns="0" rIns="0" bIns="0" rtlCol="0" anchor="ctr" anchorCtr="0">
            <a:noAutofit/>
          </a:bodyPr>
          <a:lstStyle/>
          <a:p>
            <a:r>
              <a:rPr lang="en"/>
              <a:t>Discovery &amp; Assessment</a:t>
            </a:r>
            <a:endParaRPr/>
          </a:p>
        </p:txBody>
      </p:sp>
      <p:sp>
        <p:nvSpPr>
          <p:cNvPr id="3284" name="Google Shape;3284;p468"/>
          <p:cNvSpPr txBox="1">
            <a:spLocks noGrp="1"/>
          </p:cNvSpPr>
          <p:nvPr>
            <p:ph type="sldNum" idx="12"/>
          </p:nvPr>
        </p:nvSpPr>
        <p:spPr>
          <a:xfrm>
            <a:off x="11099257" y="6473300"/>
            <a:ext cx="324300" cy="186600"/>
          </a:xfrm>
          <a:prstGeom prst="rect">
            <a:avLst/>
          </a:prstGeom>
        </p:spPr>
        <p:txBody>
          <a:bodyPr spcFirstLastPara="1" vert="horz" wrap="square" lIns="0" tIns="0" rIns="0" bIns="0" rtlCol="0" anchor="t" anchorCtr="0">
            <a:noAutofit/>
          </a:bodyPr>
          <a:lstStyle/>
          <a:p>
            <a:fld id="{00000000-1234-1234-1234-123412341234}" type="slidenum">
              <a:rPr lang="en"/>
              <a:pPr/>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289"/>
        <p:cNvGrpSpPr/>
        <p:nvPr/>
      </p:nvGrpSpPr>
      <p:grpSpPr>
        <a:xfrm>
          <a:off x="0" y="0"/>
          <a:ext cx="0" cy="0"/>
          <a:chOff x="0" y="0"/>
          <a:chExt cx="0" cy="0"/>
        </a:xfrm>
      </p:grpSpPr>
      <p:sp>
        <p:nvSpPr>
          <p:cNvPr id="3290" name="Google Shape;3290;p469"/>
          <p:cNvSpPr txBox="1">
            <a:spLocks noGrp="1"/>
          </p:cNvSpPr>
          <p:nvPr>
            <p:ph type="title"/>
          </p:nvPr>
        </p:nvSpPr>
        <p:spPr>
          <a:xfrm>
            <a:off x="750833" y="535597"/>
            <a:ext cx="10659300" cy="583500"/>
          </a:xfrm>
          <a:prstGeom prst="rect">
            <a:avLst/>
          </a:prstGeom>
        </p:spPr>
        <p:txBody>
          <a:bodyPr spcFirstLastPara="1" vert="horz" wrap="square" lIns="0" tIns="0" rIns="0" bIns="0" rtlCol="0" anchor="ctr" anchorCtr="0">
            <a:noAutofit/>
          </a:bodyPr>
          <a:lstStyle/>
          <a:p>
            <a:r>
              <a:rPr lang="en" sz="3600"/>
              <a:t>Architectural Discovery - Snowflake</a:t>
            </a:r>
            <a:endParaRPr sz="3600"/>
          </a:p>
        </p:txBody>
      </p:sp>
      <p:sp>
        <p:nvSpPr>
          <p:cNvPr id="3291" name="Google Shape;3291;p469"/>
          <p:cNvSpPr txBox="1">
            <a:spLocks noGrp="1"/>
          </p:cNvSpPr>
          <p:nvPr>
            <p:ph type="subTitle" idx="1"/>
          </p:nvPr>
        </p:nvSpPr>
        <p:spPr>
          <a:xfrm>
            <a:off x="766397" y="1174702"/>
            <a:ext cx="10659300" cy="583500"/>
          </a:xfrm>
          <a:prstGeom prst="rect">
            <a:avLst/>
          </a:prstGeom>
        </p:spPr>
        <p:txBody>
          <a:bodyPr spcFirstLastPara="1" vert="horz" wrap="square" lIns="0" tIns="0" rIns="0" bIns="0" rtlCol="0" anchor="t" anchorCtr="0">
            <a:noAutofit/>
          </a:bodyPr>
          <a:lstStyle/>
          <a:p>
            <a:pPr marL="0" indent="0"/>
            <a:r>
              <a:rPr lang="en"/>
              <a:t> </a:t>
            </a:r>
            <a:endParaRPr/>
          </a:p>
        </p:txBody>
      </p:sp>
      <p:sp>
        <p:nvSpPr>
          <p:cNvPr id="3292" name="Google Shape;3292;p469"/>
          <p:cNvSpPr txBox="1">
            <a:spLocks noGrp="1"/>
          </p:cNvSpPr>
          <p:nvPr>
            <p:ph type="body" idx="2"/>
          </p:nvPr>
        </p:nvSpPr>
        <p:spPr>
          <a:xfrm>
            <a:off x="763397" y="1988833"/>
            <a:ext cx="10659300" cy="4149900"/>
          </a:xfrm>
          <a:prstGeom prst="rect">
            <a:avLst/>
          </a:prstGeom>
        </p:spPr>
        <p:txBody>
          <a:bodyPr spcFirstLastPara="1" vert="horz" wrap="square" lIns="0" tIns="0" rIns="0" bIns="0" rtlCol="0" anchor="t" anchorCtr="0">
            <a:noAutofit/>
          </a:bodyPr>
          <a:lstStyle/>
          <a:p>
            <a:pPr indent="-336550">
              <a:spcBef>
                <a:spcPts val="0"/>
              </a:spcBef>
              <a:buSzPts val="1900"/>
              <a:buChar char="❏"/>
            </a:pPr>
            <a:r>
              <a:rPr lang="en" sz="1900"/>
              <a:t>ETL Environment</a:t>
            </a:r>
            <a:endParaRPr sz="1900"/>
          </a:p>
          <a:p>
            <a:pPr lvl="1" indent="-336550">
              <a:spcBef>
                <a:spcPts val="0"/>
              </a:spcBef>
              <a:buSzPts val="1900"/>
              <a:buChar char="❏"/>
            </a:pPr>
            <a:r>
              <a:rPr lang="en" sz="1900"/>
              <a:t>Third-party Tools? (Fivetran, Talend, dbt, etc.)</a:t>
            </a:r>
            <a:endParaRPr sz="1900"/>
          </a:p>
          <a:p>
            <a:pPr lvl="1" indent="-336550">
              <a:spcBef>
                <a:spcPts val="0"/>
              </a:spcBef>
              <a:buSzPts val="1900"/>
              <a:buChar char="❏"/>
            </a:pPr>
            <a:r>
              <a:rPr lang="en" sz="1900"/>
              <a:t>Data velocity</a:t>
            </a:r>
            <a:endParaRPr sz="1900"/>
          </a:p>
          <a:p>
            <a:pPr lvl="1" indent="-336550">
              <a:spcBef>
                <a:spcPts val="0"/>
              </a:spcBef>
              <a:buSzPts val="1900"/>
              <a:buChar char="❏"/>
            </a:pPr>
            <a:r>
              <a:rPr lang="en" sz="1900"/>
              <a:t>Data Types</a:t>
            </a:r>
            <a:endParaRPr sz="1900"/>
          </a:p>
          <a:p>
            <a:pPr indent="-336550">
              <a:spcBef>
                <a:spcPts val="0"/>
              </a:spcBef>
              <a:buSzPts val="1900"/>
              <a:buChar char="❏"/>
            </a:pPr>
            <a:r>
              <a:rPr lang="en" sz="1900"/>
              <a:t>BI Processes</a:t>
            </a:r>
            <a:endParaRPr sz="1900"/>
          </a:p>
          <a:p>
            <a:pPr lvl="1" indent="-336550">
              <a:spcBef>
                <a:spcPts val="0"/>
              </a:spcBef>
              <a:buSzPts val="1900"/>
              <a:buChar char="❏"/>
            </a:pPr>
            <a:r>
              <a:rPr lang="en" sz="1900"/>
              <a:t>BI Tools</a:t>
            </a:r>
            <a:endParaRPr sz="1900"/>
          </a:p>
          <a:p>
            <a:pPr lvl="1" indent="-336550">
              <a:spcBef>
                <a:spcPts val="0"/>
              </a:spcBef>
              <a:buSzPts val="1900"/>
              <a:buChar char="❏"/>
            </a:pPr>
            <a:r>
              <a:rPr lang="en" sz="1900"/>
              <a:t>Report/Dashboard requirements</a:t>
            </a:r>
            <a:endParaRPr sz="1900"/>
          </a:p>
          <a:p>
            <a:pPr indent="-336550">
              <a:spcBef>
                <a:spcPts val="0"/>
              </a:spcBef>
              <a:buSzPts val="1900"/>
              <a:buChar char="❏"/>
            </a:pPr>
            <a:r>
              <a:rPr lang="en" sz="1900"/>
              <a:t>ML Use Cases</a:t>
            </a:r>
            <a:endParaRPr sz="1900"/>
          </a:p>
          <a:p>
            <a:pPr lvl="1" indent="-336550">
              <a:spcBef>
                <a:spcPts val="0"/>
              </a:spcBef>
              <a:buSzPts val="1900"/>
              <a:buChar char="❏"/>
            </a:pPr>
            <a:r>
              <a:rPr lang="en" sz="1900"/>
              <a:t>Scale of use cases</a:t>
            </a:r>
            <a:endParaRPr sz="1900"/>
          </a:p>
          <a:p>
            <a:pPr lvl="1" indent="-336550">
              <a:spcBef>
                <a:spcPts val="0"/>
              </a:spcBef>
              <a:buSzPts val="1900"/>
              <a:buChar char="❏"/>
            </a:pPr>
            <a:r>
              <a:rPr lang="en" sz="1900"/>
              <a:t>Model requirements (languages, libraries, compute)</a:t>
            </a:r>
            <a:endParaRPr sz="1900"/>
          </a:p>
          <a:p>
            <a:pPr indent="-336550">
              <a:spcBef>
                <a:spcPts val="0"/>
              </a:spcBef>
              <a:buSzPts val="1900"/>
              <a:buChar char="❏"/>
            </a:pPr>
            <a:r>
              <a:rPr lang="en" sz="1900"/>
              <a:t>Use our Snowflake Profiler to understand current workloads; Partner Analyzers for deeper dive</a:t>
            </a:r>
            <a:endParaRPr sz="2300"/>
          </a:p>
        </p:txBody>
      </p:sp>
      <p:sp>
        <p:nvSpPr>
          <p:cNvPr id="3293" name="Google Shape;3293;p469"/>
          <p:cNvSpPr txBox="1">
            <a:spLocks noGrp="1"/>
          </p:cNvSpPr>
          <p:nvPr>
            <p:ph type="sldNum" idx="12"/>
          </p:nvPr>
        </p:nvSpPr>
        <p:spPr>
          <a:xfrm>
            <a:off x="11099257" y="6473300"/>
            <a:ext cx="324300" cy="186300"/>
          </a:xfrm>
          <a:prstGeom prst="rect">
            <a:avLst/>
          </a:prstGeom>
        </p:spPr>
        <p:txBody>
          <a:bodyPr spcFirstLastPara="1" vert="horz" wrap="square" lIns="0" tIns="0" rIns="0" bIns="0" rtlCol="0" anchor="t" anchorCtr="0">
            <a:noAutofit/>
          </a:bodyPr>
          <a:lstStyle/>
          <a:p>
            <a:fld id="{00000000-1234-1234-1234-123412341234}" type="slidenum">
              <a:rPr lang="en"/>
              <a:pPr/>
              <a:t>11</a:t>
            </a:fld>
            <a:endParaRPr/>
          </a:p>
        </p:txBody>
      </p:sp>
      <p:sp>
        <p:nvSpPr>
          <p:cNvPr id="3294" name="Google Shape;3294;p469"/>
          <p:cNvSpPr txBox="1"/>
          <p:nvPr/>
        </p:nvSpPr>
        <p:spPr>
          <a:xfrm>
            <a:off x="766388" y="995000"/>
            <a:ext cx="9667800" cy="431100"/>
          </a:xfrm>
          <a:prstGeom prst="rect">
            <a:avLst/>
          </a:prstGeom>
          <a:noFill/>
          <a:ln>
            <a:noFill/>
          </a:ln>
        </p:spPr>
        <p:txBody>
          <a:bodyPr spcFirstLastPara="1" wrap="square" lIns="91425" tIns="91425" rIns="91425" bIns="91425" anchor="t" anchorCtr="0">
            <a:spAutoFit/>
          </a:bodyPr>
          <a:lstStyle/>
          <a:p>
            <a:r>
              <a:rPr lang="en" sz="1600" i="1">
                <a:solidFill>
                  <a:schemeClr val="accent2"/>
                </a:solidFill>
                <a:latin typeface="DM Sans"/>
                <a:ea typeface="DM Sans"/>
                <a:cs typeface="DM Sans"/>
                <a:sym typeface="DM Sans"/>
              </a:rPr>
              <a:t>Begin with a review of the customer’s current Snowflake architecture</a:t>
            </a:r>
            <a:endParaRPr sz="1600" i="1">
              <a:solidFill>
                <a:schemeClr val="accent2"/>
              </a:solidFill>
              <a:latin typeface="DM Sans"/>
              <a:ea typeface="DM Sans"/>
              <a:cs typeface="DM Sans"/>
              <a:sym typeface="DM Sans"/>
            </a:endParaRPr>
          </a:p>
        </p:txBody>
      </p:sp>
      <p:sp>
        <p:nvSpPr>
          <p:cNvPr id="3295" name="Google Shape;3295;p469"/>
          <p:cNvSpPr txBox="1"/>
          <p:nvPr/>
        </p:nvSpPr>
        <p:spPr>
          <a:xfrm>
            <a:off x="7522438" y="2782500"/>
            <a:ext cx="3887700" cy="1293000"/>
          </a:xfrm>
          <a:prstGeom prst="rect">
            <a:avLst/>
          </a:prstGeom>
          <a:noFill/>
          <a:ln>
            <a:noFill/>
          </a:ln>
        </p:spPr>
        <p:txBody>
          <a:bodyPr spcFirstLastPara="1" wrap="square" lIns="91425" tIns="91425" rIns="91425" bIns="91425" anchor="t" anchorCtr="0">
            <a:spAutoFit/>
          </a:bodyPr>
          <a:lstStyle/>
          <a:p>
            <a:r>
              <a:rPr lang="en" sz="2400" u="sng" dirty="0">
                <a:solidFill>
                  <a:schemeClr val="hlink"/>
                </a:solidFill>
                <a:latin typeface="DM Sans"/>
                <a:ea typeface="DM Sans"/>
                <a:cs typeface="DM Sans"/>
                <a:sym typeface="DM Sans"/>
                <a:hlinkClick r:id="rId3"/>
              </a:rPr>
              <a:t>Snowflake Migration Scoping Questionnaire (leave behind)</a:t>
            </a:r>
            <a:endParaRPr sz="2400" dirty="0">
              <a:latin typeface="DM Sans"/>
              <a:ea typeface="DM Sans"/>
              <a:cs typeface="DM Sans"/>
              <a:sym typeface="DM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299"/>
        <p:cNvGrpSpPr/>
        <p:nvPr/>
      </p:nvGrpSpPr>
      <p:grpSpPr>
        <a:xfrm>
          <a:off x="0" y="0"/>
          <a:ext cx="0" cy="0"/>
          <a:chOff x="0" y="0"/>
          <a:chExt cx="0" cy="0"/>
        </a:xfrm>
      </p:grpSpPr>
      <p:sp>
        <p:nvSpPr>
          <p:cNvPr id="3300" name="Google Shape;3300;p470"/>
          <p:cNvSpPr txBox="1">
            <a:spLocks noGrp="1"/>
          </p:cNvSpPr>
          <p:nvPr>
            <p:ph type="title"/>
          </p:nvPr>
        </p:nvSpPr>
        <p:spPr>
          <a:xfrm>
            <a:off x="750833" y="535597"/>
            <a:ext cx="10659300" cy="583500"/>
          </a:xfrm>
          <a:prstGeom prst="rect">
            <a:avLst/>
          </a:prstGeom>
        </p:spPr>
        <p:txBody>
          <a:bodyPr spcFirstLastPara="1" vert="horz" wrap="square" lIns="0" tIns="0" rIns="0" bIns="0" rtlCol="0" anchor="ctr" anchorCtr="0">
            <a:noAutofit/>
          </a:bodyPr>
          <a:lstStyle/>
          <a:p>
            <a:r>
              <a:rPr lang="en" sz="3300"/>
              <a:t>Pointers for discovery of the current Snowflake architecture</a:t>
            </a:r>
            <a:endParaRPr sz="3300"/>
          </a:p>
        </p:txBody>
      </p:sp>
      <p:sp>
        <p:nvSpPr>
          <p:cNvPr id="3301" name="Google Shape;3301;p470"/>
          <p:cNvSpPr txBox="1">
            <a:spLocks noGrp="1"/>
          </p:cNvSpPr>
          <p:nvPr>
            <p:ph type="subTitle" idx="1"/>
          </p:nvPr>
        </p:nvSpPr>
        <p:spPr>
          <a:xfrm>
            <a:off x="766397" y="1174702"/>
            <a:ext cx="10659300" cy="583500"/>
          </a:xfrm>
          <a:prstGeom prst="rect">
            <a:avLst/>
          </a:prstGeom>
        </p:spPr>
        <p:txBody>
          <a:bodyPr spcFirstLastPara="1" vert="horz" wrap="square" lIns="0" tIns="0" rIns="0" bIns="0" rtlCol="0" anchor="t" anchorCtr="0">
            <a:noAutofit/>
          </a:bodyPr>
          <a:lstStyle/>
          <a:p>
            <a:pPr marL="0" indent="0"/>
            <a:r>
              <a:rPr lang="en"/>
              <a:t> </a:t>
            </a:r>
            <a:endParaRPr/>
          </a:p>
        </p:txBody>
      </p:sp>
      <p:sp>
        <p:nvSpPr>
          <p:cNvPr id="3302" name="Google Shape;3302;p470"/>
          <p:cNvSpPr txBox="1">
            <a:spLocks noGrp="1"/>
          </p:cNvSpPr>
          <p:nvPr>
            <p:ph type="body" idx="2"/>
          </p:nvPr>
        </p:nvSpPr>
        <p:spPr>
          <a:xfrm>
            <a:off x="763397" y="1988833"/>
            <a:ext cx="10659300" cy="4149900"/>
          </a:xfrm>
          <a:prstGeom prst="rect">
            <a:avLst/>
          </a:prstGeom>
        </p:spPr>
        <p:txBody>
          <a:bodyPr spcFirstLastPara="1" vert="horz" wrap="square" lIns="0" tIns="0" rIns="0" bIns="0" rtlCol="0" anchor="t" anchorCtr="0">
            <a:noAutofit/>
          </a:bodyPr>
          <a:lstStyle/>
          <a:p>
            <a:r>
              <a:rPr lang="en"/>
              <a:t>Understand the landscape</a:t>
            </a:r>
            <a:endParaRPr/>
          </a:p>
          <a:p>
            <a:pPr lvl="1">
              <a:spcBef>
                <a:spcPts val="0"/>
              </a:spcBef>
            </a:pPr>
            <a:r>
              <a:rPr lang="en"/>
              <a:t>Existing architecture</a:t>
            </a:r>
            <a:endParaRPr/>
          </a:p>
          <a:p>
            <a:pPr lvl="1">
              <a:spcBef>
                <a:spcPts val="0"/>
              </a:spcBef>
            </a:pPr>
            <a:r>
              <a:rPr lang="en"/>
              <a:t>Pain points? (ETL, DSML, streaming, etc.)</a:t>
            </a:r>
            <a:endParaRPr/>
          </a:p>
          <a:p>
            <a:pPr lvl="1">
              <a:spcBef>
                <a:spcPts val="0"/>
              </a:spcBef>
            </a:pPr>
            <a:r>
              <a:rPr lang="en"/>
              <a:t>Upstream and downstream teams / partners</a:t>
            </a:r>
            <a:endParaRPr/>
          </a:p>
          <a:p>
            <a:pPr lvl="1">
              <a:spcBef>
                <a:spcPts val="0"/>
              </a:spcBef>
            </a:pPr>
            <a:r>
              <a:rPr lang="en"/>
              <a:t>Consider the TCO of their architecture</a:t>
            </a:r>
            <a:endParaRPr/>
          </a:p>
          <a:p>
            <a:pPr lvl="1">
              <a:spcBef>
                <a:spcPts val="0"/>
              </a:spcBef>
            </a:pPr>
            <a:r>
              <a:rPr lang="en"/>
              <a:t>Inefficiencies? Data movement or copying?</a:t>
            </a:r>
            <a:endParaRPr/>
          </a:p>
          <a:p>
            <a:pPr>
              <a:spcBef>
                <a:spcPts val="0"/>
              </a:spcBef>
            </a:pPr>
            <a:r>
              <a:rPr lang="en"/>
              <a:t>Look for unserved use cases or teams</a:t>
            </a:r>
            <a:endParaRPr/>
          </a:p>
          <a:p>
            <a:pPr lvl="1">
              <a:spcBef>
                <a:spcPts val="0"/>
              </a:spcBef>
            </a:pPr>
            <a:r>
              <a:rPr lang="en"/>
              <a:t>Current use cases not possible in Snowflake’s Data Cloud</a:t>
            </a:r>
            <a:endParaRPr/>
          </a:p>
          <a:p>
            <a:pPr lvl="1">
              <a:spcBef>
                <a:spcPts val="0"/>
              </a:spcBef>
            </a:pPr>
            <a:r>
              <a:rPr lang="en"/>
              <a:t>Future use cases you could serve in the Lakehouse</a:t>
            </a:r>
            <a:endParaRPr/>
          </a:p>
        </p:txBody>
      </p:sp>
      <p:sp>
        <p:nvSpPr>
          <p:cNvPr id="3303" name="Google Shape;3303;p470"/>
          <p:cNvSpPr txBox="1">
            <a:spLocks noGrp="1"/>
          </p:cNvSpPr>
          <p:nvPr>
            <p:ph type="sldNum" idx="12"/>
          </p:nvPr>
        </p:nvSpPr>
        <p:spPr>
          <a:xfrm>
            <a:off x="11099257" y="6473300"/>
            <a:ext cx="324300" cy="186300"/>
          </a:xfrm>
          <a:prstGeom prst="rect">
            <a:avLst/>
          </a:prstGeom>
        </p:spPr>
        <p:txBody>
          <a:bodyPr spcFirstLastPara="1" vert="horz" wrap="square" lIns="0" tIns="0" rIns="0" bIns="0" rtlCol="0" anchor="t" anchorCtr="0">
            <a:noAutofit/>
          </a:bodyPr>
          <a:lstStyle/>
          <a:p>
            <a:fld id="{00000000-1234-1234-1234-123412341234}" type="slidenum">
              <a:rPr lang="en"/>
              <a:pPr/>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307"/>
        <p:cNvGrpSpPr/>
        <p:nvPr/>
      </p:nvGrpSpPr>
      <p:grpSpPr>
        <a:xfrm>
          <a:off x="0" y="0"/>
          <a:ext cx="0" cy="0"/>
          <a:chOff x="0" y="0"/>
          <a:chExt cx="0" cy="0"/>
        </a:xfrm>
      </p:grpSpPr>
      <p:sp>
        <p:nvSpPr>
          <p:cNvPr id="3308" name="Google Shape;3308;p471"/>
          <p:cNvSpPr txBox="1">
            <a:spLocks noGrp="1"/>
          </p:cNvSpPr>
          <p:nvPr>
            <p:ph type="title"/>
          </p:nvPr>
        </p:nvSpPr>
        <p:spPr>
          <a:xfrm>
            <a:off x="615919" y="486833"/>
            <a:ext cx="15005700" cy="1322700"/>
          </a:xfrm>
          <a:prstGeom prst="rect">
            <a:avLst/>
          </a:prstGeom>
        </p:spPr>
        <p:txBody>
          <a:bodyPr spcFirstLastPara="1" vert="horz" wrap="square" lIns="0" tIns="34250" rIns="0" bIns="34250" rtlCol="0" anchor="ctr" anchorCtr="0">
            <a:noAutofit/>
          </a:bodyPr>
          <a:lstStyle/>
          <a:p>
            <a:r>
              <a:rPr lang="en"/>
              <a:t>The Snowflake Profiler is an important step</a:t>
            </a:r>
            <a:endParaRPr/>
          </a:p>
        </p:txBody>
      </p:sp>
      <p:sp>
        <p:nvSpPr>
          <p:cNvPr id="3309" name="Google Shape;3309;p471"/>
          <p:cNvSpPr/>
          <p:nvPr/>
        </p:nvSpPr>
        <p:spPr>
          <a:xfrm>
            <a:off x="7664670" y="1585900"/>
            <a:ext cx="4128900" cy="3647700"/>
          </a:xfrm>
          <a:prstGeom prst="rect">
            <a:avLst/>
          </a:prstGeom>
          <a:solidFill>
            <a:schemeClr val="lt1"/>
          </a:solidFill>
          <a:ln>
            <a:noFill/>
          </a:ln>
        </p:spPr>
        <p:txBody>
          <a:bodyPr spcFirstLastPara="1" wrap="square" lIns="121875" tIns="121875" rIns="121875" bIns="121875" anchor="t" anchorCtr="0">
            <a:noAutofit/>
          </a:bodyPr>
          <a:lstStyle/>
          <a:p>
            <a:r>
              <a:rPr lang="en" sz="1700">
                <a:latin typeface="DM Sans"/>
                <a:ea typeface="DM Sans"/>
                <a:cs typeface="DM Sans"/>
                <a:sym typeface="DM Sans"/>
              </a:rPr>
              <a:t>The Snowflake Profiler is a notebook which runs in your environment to answer core questions:</a:t>
            </a:r>
            <a:endParaRPr sz="1700">
              <a:latin typeface="DM Sans"/>
              <a:ea typeface="DM Sans"/>
              <a:cs typeface="DM Sans"/>
              <a:sym typeface="DM Sans"/>
            </a:endParaRPr>
          </a:p>
          <a:p>
            <a:endParaRPr sz="1700">
              <a:latin typeface="DM Sans"/>
              <a:ea typeface="DM Sans"/>
              <a:cs typeface="DM Sans"/>
              <a:sym typeface="DM Sans"/>
            </a:endParaRPr>
          </a:p>
          <a:p>
            <a:pPr marL="609600" indent="-412750">
              <a:buSzPts val="1700"/>
              <a:buFont typeface="DM Sans"/>
              <a:buChar char="●"/>
            </a:pPr>
            <a:r>
              <a:rPr lang="en" sz="1700">
                <a:latin typeface="DM Sans"/>
                <a:ea typeface="DM Sans"/>
                <a:cs typeface="DM Sans"/>
                <a:sym typeface="DM Sans"/>
              </a:rPr>
              <a:t>What is the breakdown of my Snowflake usage by category?</a:t>
            </a:r>
            <a:endParaRPr sz="1700">
              <a:latin typeface="DM Sans"/>
              <a:ea typeface="DM Sans"/>
              <a:cs typeface="DM Sans"/>
              <a:sym typeface="DM Sans"/>
            </a:endParaRPr>
          </a:p>
          <a:p>
            <a:pPr marL="609600" indent="-412750">
              <a:spcBef>
                <a:spcPts val="1300"/>
              </a:spcBef>
              <a:buSzPts val="1700"/>
              <a:buFont typeface="DM Sans"/>
              <a:buChar char="●"/>
            </a:pPr>
            <a:r>
              <a:rPr lang="en" sz="1700">
                <a:latin typeface="DM Sans"/>
                <a:ea typeface="DM Sans"/>
                <a:cs typeface="DM Sans"/>
                <a:sym typeface="DM Sans"/>
              </a:rPr>
              <a:t>Where are these workloads running? (Which warehouse, which users?)</a:t>
            </a:r>
            <a:endParaRPr sz="1700">
              <a:latin typeface="DM Sans"/>
              <a:ea typeface="DM Sans"/>
              <a:cs typeface="DM Sans"/>
              <a:sym typeface="DM Sans"/>
            </a:endParaRPr>
          </a:p>
          <a:p>
            <a:pPr marL="609600" indent="-412750">
              <a:spcBef>
                <a:spcPts val="1300"/>
              </a:spcBef>
              <a:spcAft>
                <a:spcPts val="1300"/>
              </a:spcAft>
              <a:buSzPts val="1700"/>
              <a:buFont typeface="DM Sans"/>
              <a:buChar char="●"/>
            </a:pPr>
            <a:r>
              <a:rPr lang="en" sz="1700">
                <a:latin typeface="DM Sans"/>
                <a:ea typeface="DM Sans"/>
                <a:cs typeface="DM Sans"/>
                <a:sym typeface="DM Sans"/>
              </a:rPr>
              <a:t>How do we expect these costs to grow over time? </a:t>
            </a:r>
            <a:endParaRPr sz="1700">
              <a:latin typeface="DM Sans"/>
              <a:ea typeface="DM Sans"/>
              <a:cs typeface="DM Sans"/>
              <a:sym typeface="DM Sans"/>
            </a:endParaRPr>
          </a:p>
        </p:txBody>
      </p:sp>
      <p:pic>
        <p:nvPicPr>
          <p:cNvPr id="3310" name="Google Shape;3310;p471"/>
          <p:cNvPicPr preferRelativeResize="0"/>
          <p:nvPr/>
        </p:nvPicPr>
        <p:blipFill>
          <a:blip r:embed="rId3">
            <a:alphaModFix/>
          </a:blip>
          <a:stretch>
            <a:fillRect/>
          </a:stretch>
        </p:blipFill>
        <p:spPr>
          <a:xfrm>
            <a:off x="264623" y="1585944"/>
            <a:ext cx="7256789" cy="3646605"/>
          </a:xfrm>
          <a:prstGeom prst="rect">
            <a:avLst/>
          </a:prstGeom>
          <a:noFill/>
          <a:ln>
            <a:noFill/>
          </a:ln>
        </p:spPr>
      </p:pic>
      <p:sp>
        <p:nvSpPr>
          <p:cNvPr id="3311" name="Google Shape;3311;p471"/>
          <p:cNvSpPr/>
          <p:nvPr/>
        </p:nvSpPr>
        <p:spPr>
          <a:xfrm>
            <a:off x="3321388" y="2042100"/>
            <a:ext cx="2774700" cy="1200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3312" name="Google Shape;3312;p471"/>
          <p:cNvSpPr txBox="1"/>
          <p:nvPr/>
        </p:nvSpPr>
        <p:spPr>
          <a:xfrm>
            <a:off x="831538" y="5624000"/>
            <a:ext cx="10024800" cy="738900"/>
          </a:xfrm>
          <a:prstGeom prst="rect">
            <a:avLst/>
          </a:prstGeom>
          <a:noFill/>
          <a:ln>
            <a:noFill/>
          </a:ln>
        </p:spPr>
        <p:txBody>
          <a:bodyPr spcFirstLastPara="1" wrap="square" lIns="91425" tIns="91425" rIns="91425" bIns="91425" anchor="t" anchorCtr="0">
            <a:spAutoFit/>
          </a:bodyPr>
          <a:lstStyle/>
          <a:p>
            <a:pPr algn="ctr"/>
            <a:r>
              <a:rPr lang="en" b="1">
                <a:solidFill>
                  <a:schemeClr val="dk2"/>
                </a:solidFill>
                <a:latin typeface="DM Sans"/>
                <a:ea typeface="DM Sans"/>
                <a:cs typeface="DM Sans"/>
                <a:sym typeface="DM Sans"/>
              </a:rPr>
              <a:t>Reach out to your Partner Account Manager, Sales Leader, or email </a:t>
            </a:r>
            <a:r>
              <a:rPr lang="en" b="1" u="sng">
                <a:solidFill>
                  <a:schemeClr val="hlink"/>
                </a:solidFill>
                <a:latin typeface="DM Sans"/>
                <a:ea typeface="DM Sans"/>
                <a:cs typeface="DM Sans"/>
                <a:sym typeface="DM Sans"/>
                <a:hlinkClick r:id="rId4"/>
              </a:rPr>
              <a:t>partners@databricks.com</a:t>
            </a:r>
            <a:r>
              <a:rPr lang="en" b="1">
                <a:solidFill>
                  <a:schemeClr val="dk2"/>
                </a:solidFill>
                <a:latin typeface="DM Sans"/>
                <a:ea typeface="DM Sans"/>
                <a:cs typeface="DM Sans"/>
                <a:sym typeface="DM Sans"/>
              </a:rPr>
              <a:t> to engage your Databricks counterparts.</a:t>
            </a:r>
            <a:endParaRPr b="1">
              <a:solidFill>
                <a:schemeClr val="dk2"/>
              </a:solidFill>
              <a:latin typeface="DM Sans"/>
              <a:ea typeface="DM Sans"/>
              <a:cs typeface="DM Sans"/>
              <a:sym typeface="DM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316"/>
        <p:cNvGrpSpPr/>
        <p:nvPr/>
      </p:nvGrpSpPr>
      <p:grpSpPr>
        <a:xfrm>
          <a:off x="0" y="0"/>
          <a:ext cx="0" cy="0"/>
          <a:chOff x="0" y="0"/>
          <a:chExt cx="0" cy="0"/>
        </a:xfrm>
      </p:grpSpPr>
      <p:sp>
        <p:nvSpPr>
          <p:cNvPr id="3317" name="Google Shape;3317;p472"/>
          <p:cNvSpPr txBox="1">
            <a:spLocks noGrp="1"/>
          </p:cNvSpPr>
          <p:nvPr>
            <p:ph type="title"/>
          </p:nvPr>
        </p:nvSpPr>
        <p:spPr>
          <a:xfrm>
            <a:off x="495363" y="535625"/>
            <a:ext cx="9133800" cy="5712900"/>
          </a:xfrm>
          <a:prstGeom prst="rect">
            <a:avLst/>
          </a:prstGeom>
        </p:spPr>
        <p:txBody>
          <a:bodyPr spcFirstLastPara="1" vert="horz" wrap="square" lIns="0" tIns="0" rIns="0" bIns="0" rtlCol="0" anchor="ctr" anchorCtr="0">
            <a:noAutofit/>
          </a:bodyPr>
          <a:lstStyle/>
          <a:p>
            <a:r>
              <a:rPr lang="en" sz="4800"/>
              <a:t>Align on Target Architecture</a:t>
            </a:r>
            <a:endParaRPr sz="4800"/>
          </a:p>
          <a:p>
            <a:r>
              <a:rPr lang="en" sz="2400" i="1"/>
              <a:t>Designing a Well Architected Lakehouse</a:t>
            </a:r>
            <a:endParaRPr sz="2400" i="1"/>
          </a:p>
        </p:txBody>
      </p:sp>
      <p:sp>
        <p:nvSpPr>
          <p:cNvPr id="3318" name="Google Shape;3318;p472"/>
          <p:cNvSpPr txBox="1">
            <a:spLocks noGrp="1"/>
          </p:cNvSpPr>
          <p:nvPr>
            <p:ph type="sldNum" idx="12"/>
          </p:nvPr>
        </p:nvSpPr>
        <p:spPr>
          <a:xfrm>
            <a:off x="11099257" y="6473300"/>
            <a:ext cx="324300" cy="186600"/>
          </a:xfrm>
          <a:prstGeom prst="rect">
            <a:avLst/>
          </a:prstGeom>
        </p:spPr>
        <p:txBody>
          <a:bodyPr spcFirstLastPara="1" vert="horz" wrap="square" lIns="0" tIns="0" rIns="0" bIns="0" rtlCol="0" anchor="t" anchorCtr="0">
            <a:noAutofit/>
          </a:bodyPr>
          <a:lstStyle/>
          <a:p>
            <a:fld id="{00000000-1234-1234-1234-123412341234}" type="slidenum">
              <a:rPr lang="en"/>
              <a:pPr/>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322"/>
        <p:cNvGrpSpPr/>
        <p:nvPr/>
      </p:nvGrpSpPr>
      <p:grpSpPr>
        <a:xfrm>
          <a:off x="0" y="0"/>
          <a:ext cx="0" cy="0"/>
          <a:chOff x="0" y="0"/>
          <a:chExt cx="0" cy="0"/>
        </a:xfrm>
      </p:grpSpPr>
      <p:sp>
        <p:nvSpPr>
          <p:cNvPr id="3323" name="Google Shape;3323;p473"/>
          <p:cNvSpPr txBox="1">
            <a:spLocks noGrp="1"/>
          </p:cNvSpPr>
          <p:nvPr>
            <p:ph type="title"/>
          </p:nvPr>
        </p:nvSpPr>
        <p:spPr>
          <a:xfrm>
            <a:off x="750833" y="535597"/>
            <a:ext cx="10659300" cy="583500"/>
          </a:xfrm>
          <a:prstGeom prst="rect">
            <a:avLst/>
          </a:prstGeom>
        </p:spPr>
        <p:txBody>
          <a:bodyPr spcFirstLastPara="1" vert="horz" wrap="square" lIns="0" tIns="0" rIns="0" bIns="0" rtlCol="0" anchor="ctr" anchorCtr="0">
            <a:noAutofit/>
          </a:bodyPr>
          <a:lstStyle/>
          <a:p>
            <a:r>
              <a:rPr lang="en"/>
              <a:t>Guiding Principles for the Lakehouse</a:t>
            </a:r>
            <a:endParaRPr/>
          </a:p>
        </p:txBody>
      </p:sp>
      <p:sp>
        <p:nvSpPr>
          <p:cNvPr id="3324" name="Google Shape;3324;p473"/>
          <p:cNvSpPr txBox="1">
            <a:spLocks noGrp="1"/>
          </p:cNvSpPr>
          <p:nvPr>
            <p:ph type="sldNum" idx="12"/>
          </p:nvPr>
        </p:nvSpPr>
        <p:spPr>
          <a:xfrm>
            <a:off x="11099257" y="6473300"/>
            <a:ext cx="324300" cy="186600"/>
          </a:xfrm>
          <a:prstGeom prst="rect">
            <a:avLst/>
          </a:prstGeom>
        </p:spPr>
        <p:txBody>
          <a:bodyPr spcFirstLastPara="1" vert="horz" wrap="square" lIns="0" tIns="0" rIns="0" bIns="0" rtlCol="0" anchor="t" anchorCtr="0">
            <a:noAutofit/>
          </a:bodyPr>
          <a:lstStyle/>
          <a:p>
            <a:fld id="{00000000-1234-1234-1234-123412341234}" type="slidenum">
              <a:rPr lang="en"/>
              <a:pPr/>
              <a:t>15</a:t>
            </a:fld>
            <a:endParaRPr/>
          </a:p>
        </p:txBody>
      </p:sp>
      <p:grpSp>
        <p:nvGrpSpPr>
          <p:cNvPr id="3325" name="Google Shape;3325;p473"/>
          <p:cNvGrpSpPr/>
          <p:nvPr/>
        </p:nvGrpSpPr>
        <p:grpSpPr>
          <a:xfrm>
            <a:off x="1072636" y="1694511"/>
            <a:ext cx="4734752" cy="900867"/>
            <a:chOff x="1071048" y="1694510"/>
            <a:chExt cx="4734752" cy="900867"/>
          </a:xfrm>
        </p:grpSpPr>
        <p:sp>
          <p:nvSpPr>
            <p:cNvPr id="3326" name="Google Shape;3326;p473"/>
            <p:cNvSpPr txBox="1"/>
            <p:nvPr/>
          </p:nvSpPr>
          <p:spPr>
            <a:xfrm>
              <a:off x="2100500" y="1775493"/>
              <a:ext cx="3705300" cy="789930"/>
            </a:xfrm>
            <a:prstGeom prst="rect">
              <a:avLst/>
            </a:prstGeom>
            <a:noFill/>
            <a:ln>
              <a:noFill/>
            </a:ln>
          </p:spPr>
          <p:txBody>
            <a:bodyPr spcFirstLastPara="1" wrap="square" lIns="91425" tIns="91425" rIns="91425" bIns="91425" anchor="t" anchorCtr="0">
              <a:spAutoFit/>
            </a:bodyPr>
            <a:lstStyle/>
            <a:p>
              <a:pPr algn="ctr">
                <a:spcAft>
                  <a:spcPts val="400"/>
                </a:spcAft>
              </a:pPr>
              <a:r>
                <a:rPr lang="en">
                  <a:solidFill>
                    <a:schemeClr val="accent1"/>
                  </a:solidFill>
                  <a:latin typeface="DM Sans Medium"/>
                  <a:ea typeface="DM Sans Medium"/>
                  <a:cs typeface="DM Sans Medium"/>
                  <a:sym typeface="DM Sans Medium"/>
                </a:rPr>
                <a:t>Curate Data and Offer Trusted Data-as-Products</a:t>
              </a:r>
              <a:endParaRPr>
                <a:solidFill>
                  <a:schemeClr val="accent1"/>
                </a:solidFill>
                <a:latin typeface="DM Sans Medium"/>
                <a:ea typeface="DM Sans Medium"/>
                <a:cs typeface="DM Sans Medium"/>
                <a:sym typeface="DM Sans Medium"/>
              </a:endParaRPr>
            </a:p>
          </p:txBody>
        </p:sp>
        <p:pic>
          <p:nvPicPr>
            <p:cNvPr id="3327" name="Google Shape;3327;p473"/>
            <p:cNvPicPr preferRelativeResize="0"/>
            <p:nvPr/>
          </p:nvPicPr>
          <p:blipFill>
            <a:blip r:embed="rId3">
              <a:alphaModFix/>
            </a:blip>
            <a:stretch>
              <a:fillRect/>
            </a:stretch>
          </p:blipFill>
          <p:spPr>
            <a:xfrm>
              <a:off x="1071048" y="1694510"/>
              <a:ext cx="900864" cy="900867"/>
            </a:xfrm>
            <a:prstGeom prst="rect">
              <a:avLst/>
            </a:prstGeom>
            <a:noFill/>
            <a:ln>
              <a:noFill/>
            </a:ln>
          </p:spPr>
        </p:pic>
      </p:grpSp>
      <p:grpSp>
        <p:nvGrpSpPr>
          <p:cNvPr id="3328" name="Google Shape;3328;p473"/>
          <p:cNvGrpSpPr/>
          <p:nvPr/>
        </p:nvGrpSpPr>
        <p:grpSpPr>
          <a:xfrm>
            <a:off x="6673233" y="1694511"/>
            <a:ext cx="4510693" cy="900867"/>
            <a:chOff x="6671644" y="1694510"/>
            <a:chExt cx="4510693" cy="900867"/>
          </a:xfrm>
        </p:grpSpPr>
        <p:sp>
          <p:nvSpPr>
            <p:cNvPr id="3329" name="Google Shape;3329;p473"/>
            <p:cNvSpPr txBox="1"/>
            <p:nvPr/>
          </p:nvSpPr>
          <p:spPr>
            <a:xfrm>
              <a:off x="7670237" y="1775493"/>
              <a:ext cx="3512100" cy="789930"/>
            </a:xfrm>
            <a:prstGeom prst="rect">
              <a:avLst/>
            </a:prstGeom>
            <a:noFill/>
            <a:ln>
              <a:noFill/>
            </a:ln>
          </p:spPr>
          <p:txBody>
            <a:bodyPr spcFirstLastPara="1" wrap="square" lIns="91425" tIns="91425" rIns="91425" bIns="91425" anchor="t" anchorCtr="0">
              <a:spAutoFit/>
            </a:bodyPr>
            <a:lstStyle/>
            <a:p>
              <a:pPr algn="ctr">
                <a:spcAft>
                  <a:spcPts val="400"/>
                </a:spcAft>
              </a:pPr>
              <a:r>
                <a:rPr lang="en">
                  <a:solidFill>
                    <a:schemeClr val="accent1"/>
                  </a:solidFill>
                  <a:latin typeface="DM Sans Medium"/>
                  <a:ea typeface="DM Sans Medium"/>
                  <a:cs typeface="DM Sans Medium"/>
                  <a:sym typeface="DM Sans Medium"/>
                </a:rPr>
                <a:t>Adopt an Organization-wide Data Governance Strategy</a:t>
              </a:r>
              <a:endParaRPr>
                <a:solidFill>
                  <a:schemeClr val="accent1"/>
                </a:solidFill>
                <a:latin typeface="DM Sans Medium"/>
                <a:ea typeface="DM Sans Medium"/>
                <a:cs typeface="DM Sans Medium"/>
                <a:sym typeface="DM Sans Medium"/>
              </a:endParaRPr>
            </a:p>
          </p:txBody>
        </p:sp>
        <p:pic>
          <p:nvPicPr>
            <p:cNvPr id="3330" name="Google Shape;3330;p473"/>
            <p:cNvPicPr preferRelativeResize="0"/>
            <p:nvPr/>
          </p:nvPicPr>
          <p:blipFill>
            <a:blip r:embed="rId4">
              <a:alphaModFix/>
            </a:blip>
            <a:stretch>
              <a:fillRect/>
            </a:stretch>
          </p:blipFill>
          <p:spPr>
            <a:xfrm>
              <a:off x="6671644" y="1694510"/>
              <a:ext cx="900864" cy="900867"/>
            </a:xfrm>
            <a:prstGeom prst="rect">
              <a:avLst/>
            </a:prstGeom>
            <a:noFill/>
            <a:ln>
              <a:noFill/>
            </a:ln>
          </p:spPr>
        </p:pic>
      </p:grpSp>
      <p:grpSp>
        <p:nvGrpSpPr>
          <p:cNvPr id="3331" name="Google Shape;3331;p473"/>
          <p:cNvGrpSpPr/>
          <p:nvPr/>
        </p:nvGrpSpPr>
        <p:grpSpPr>
          <a:xfrm>
            <a:off x="1072636" y="4955128"/>
            <a:ext cx="4734752" cy="900867"/>
            <a:chOff x="1071048" y="4955127"/>
            <a:chExt cx="4734752" cy="900867"/>
          </a:xfrm>
        </p:grpSpPr>
        <p:sp>
          <p:nvSpPr>
            <p:cNvPr id="3332" name="Google Shape;3332;p473"/>
            <p:cNvSpPr txBox="1"/>
            <p:nvPr/>
          </p:nvSpPr>
          <p:spPr>
            <a:xfrm>
              <a:off x="2100500" y="5036111"/>
              <a:ext cx="3705300" cy="789930"/>
            </a:xfrm>
            <a:prstGeom prst="rect">
              <a:avLst/>
            </a:prstGeom>
            <a:noFill/>
            <a:ln>
              <a:noFill/>
            </a:ln>
          </p:spPr>
          <p:txBody>
            <a:bodyPr spcFirstLastPara="1" wrap="square" lIns="91425" tIns="91425" rIns="91425" bIns="91425" anchor="t" anchorCtr="0">
              <a:spAutoFit/>
            </a:bodyPr>
            <a:lstStyle/>
            <a:p>
              <a:pPr algn="ctr">
                <a:spcAft>
                  <a:spcPts val="400"/>
                </a:spcAft>
              </a:pPr>
              <a:r>
                <a:rPr lang="en">
                  <a:solidFill>
                    <a:schemeClr val="accent1"/>
                  </a:solidFill>
                  <a:latin typeface="DM Sans Medium"/>
                  <a:ea typeface="DM Sans Medium"/>
                  <a:cs typeface="DM Sans Medium"/>
                  <a:sym typeface="DM Sans Medium"/>
                </a:rPr>
                <a:t>Democratize Value Creation through Self-Service Experience</a:t>
              </a:r>
              <a:endParaRPr>
                <a:solidFill>
                  <a:schemeClr val="accent1"/>
                </a:solidFill>
                <a:latin typeface="DM Sans Medium"/>
                <a:ea typeface="DM Sans Medium"/>
                <a:cs typeface="DM Sans Medium"/>
                <a:sym typeface="DM Sans Medium"/>
              </a:endParaRPr>
            </a:p>
          </p:txBody>
        </p:sp>
        <p:pic>
          <p:nvPicPr>
            <p:cNvPr id="3333" name="Google Shape;3333;p473"/>
            <p:cNvPicPr preferRelativeResize="0"/>
            <p:nvPr/>
          </p:nvPicPr>
          <p:blipFill>
            <a:blip r:embed="rId5">
              <a:alphaModFix/>
            </a:blip>
            <a:stretch>
              <a:fillRect/>
            </a:stretch>
          </p:blipFill>
          <p:spPr>
            <a:xfrm>
              <a:off x="1071048" y="4955127"/>
              <a:ext cx="900864" cy="900867"/>
            </a:xfrm>
            <a:prstGeom prst="rect">
              <a:avLst/>
            </a:prstGeom>
            <a:noFill/>
            <a:ln>
              <a:noFill/>
            </a:ln>
          </p:spPr>
        </p:pic>
      </p:grpSp>
      <p:grpSp>
        <p:nvGrpSpPr>
          <p:cNvPr id="3334" name="Google Shape;3334;p473"/>
          <p:cNvGrpSpPr/>
          <p:nvPr/>
        </p:nvGrpSpPr>
        <p:grpSpPr>
          <a:xfrm>
            <a:off x="6673233" y="4955128"/>
            <a:ext cx="4510693" cy="900867"/>
            <a:chOff x="6671644" y="4955127"/>
            <a:chExt cx="4510693" cy="900867"/>
          </a:xfrm>
        </p:grpSpPr>
        <p:sp>
          <p:nvSpPr>
            <p:cNvPr id="3335" name="Google Shape;3335;p473"/>
            <p:cNvSpPr txBox="1"/>
            <p:nvPr/>
          </p:nvSpPr>
          <p:spPr>
            <a:xfrm>
              <a:off x="7670237" y="5036111"/>
              <a:ext cx="3512100" cy="789930"/>
            </a:xfrm>
            <a:prstGeom prst="rect">
              <a:avLst/>
            </a:prstGeom>
            <a:noFill/>
            <a:ln>
              <a:noFill/>
            </a:ln>
          </p:spPr>
          <p:txBody>
            <a:bodyPr spcFirstLastPara="1" wrap="square" lIns="91425" tIns="91425" rIns="91425" bIns="91425" anchor="t" anchorCtr="0">
              <a:spAutoFit/>
            </a:bodyPr>
            <a:lstStyle/>
            <a:p>
              <a:pPr algn="ctr">
                <a:spcAft>
                  <a:spcPts val="400"/>
                </a:spcAft>
              </a:pPr>
              <a:r>
                <a:rPr lang="en">
                  <a:solidFill>
                    <a:schemeClr val="accent1"/>
                  </a:solidFill>
                  <a:latin typeface="DM Sans Medium"/>
                  <a:ea typeface="DM Sans Medium"/>
                  <a:cs typeface="DM Sans Medium"/>
                  <a:sym typeface="DM Sans Medium"/>
                </a:rPr>
                <a:t>Build to Scale and Optimize for Performance &amp; Cost</a:t>
              </a:r>
              <a:endParaRPr>
                <a:solidFill>
                  <a:schemeClr val="accent1"/>
                </a:solidFill>
                <a:latin typeface="DM Sans Medium"/>
                <a:ea typeface="DM Sans Medium"/>
                <a:cs typeface="DM Sans Medium"/>
                <a:sym typeface="DM Sans Medium"/>
              </a:endParaRPr>
            </a:p>
          </p:txBody>
        </p:sp>
        <p:pic>
          <p:nvPicPr>
            <p:cNvPr id="3336" name="Google Shape;3336;p473"/>
            <p:cNvPicPr preferRelativeResize="0"/>
            <p:nvPr/>
          </p:nvPicPr>
          <p:blipFill>
            <a:blip r:embed="rId6">
              <a:alphaModFix/>
            </a:blip>
            <a:stretch>
              <a:fillRect/>
            </a:stretch>
          </p:blipFill>
          <p:spPr>
            <a:xfrm>
              <a:off x="6671644" y="4955127"/>
              <a:ext cx="900864" cy="900867"/>
            </a:xfrm>
            <a:prstGeom prst="rect">
              <a:avLst/>
            </a:prstGeom>
            <a:noFill/>
            <a:ln>
              <a:noFill/>
            </a:ln>
          </p:spPr>
        </p:pic>
      </p:grpSp>
      <p:grpSp>
        <p:nvGrpSpPr>
          <p:cNvPr id="3337" name="Google Shape;3337;p473"/>
          <p:cNvGrpSpPr/>
          <p:nvPr/>
        </p:nvGrpSpPr>
        <p:grpSpPr>
          <a:xfrm>
            <a:off x="6623093" y="3323335"/>
            <a:ext cx="4560832" cy="1001146"/>
            <a:chOff x="6621505" y="3323335"/>
            <a:chExt cx="4560832" cy="1001146"/>
          </a:xfrm>
        </p:grpSpPr>
        <p:sp>
          <p:nvSpPr>
            <p:cNvPr id="3338" name="Google Shape;3338;p473"/>
            <p:cNvSpPr txBox="1"/>
            <p:nvPr/>
          </p:nvSpPr>
          <p:spPr>
            <a:xfrm>
              <a:off x="7670237" y="3454458"/>
              <a:ext cx="3512100" cy="789930"/>
            </a:xfrm>
            <a:prstGeom prst="rect">
              <a:avLst/>
            </a:prstGeom>
            <a:noFill/>
            <a:ln>
              <a:noFill/>
            </a:ln>
          </p:spPr>
          <p:txBody>
            <a:bodyPr spcFirstLastPara="1" wrap="square" lIns="91425" tIns="91425" rIns="91425" bIns="91425" anchor="t" anchorCtr="0">
              <a:spAutoFit/>
            </a:bodyPr>
            <a:lstStyle/>
            <a:p>
              <a:pPr algn="ctr">
                <a:spcAft>
                  <a:spcPts val="400"/>
                </a:spcAft>
              </a:pPr>
              <a:r>
                <a:rPr lang="en">
                  <a:solidFill>
                    <a:schemeClr val="accent1"/>
                  </a:solidFill>
                  <a:latin typeface="DM Sans Medium"/>
                  <a:ea typeface="DM Sans Medium"/>
                  <a:cs typeface="DM Sans Medium"/>
                  <a:sym typeface="DM Sans Medium"/>
                </a:rPr>
                <a:t>Encourage the Use of Open Interfaces and Open Formats</a:t>
              </a:r>
              <a:endParaRPr>
                <a:solidFill>
                  <a:schemeClr val="accent1"/>
                </a:solidFill>
                <a:latin typeface="DM Sans Medium"/>
                <a:ea typeface="DM Sans Medium"/>
                <a:cs typeface="DM Sans Medium"/>
                <a:sym typeface="DM Sans Medium"/>
              </a:endParaRPr>
            </a:p>
          </p:txBody>
        </p:sp>
        <p:pic>
          <p:nvPicPr>
            <p:cNvPr id="3339" name="Google Shape;3339;p473"/>
            <p:cNvPicPr preferRelativeResize="0"/>
            <p:nvPr/>
          </p:nvPicPr>
          <p:blipFill>
            <a:blip r:embed="rId7">
              <a:alphaModFix/>
            </a:blip>
            <a:stretch>
              <a:fillRect/>
            </a:stretch>
          </p:blipFill>
          <p:spPr>
            <a:xfrm>
              <a:off x="6621505" y="3323335"/>
              <a:ext cx="1001143" cy="1001146"/>
            </a:xfrm>
            <a:prstGeom prst="rect">
              <a:avLst/>
            </a:prstGeom>
            <a:noFill/>
            <a:ln>
              <a:noFill/>
            </a:ln>
          </p:spPr>
        </p:pic>
      </p:grpSp>
      <p:grpSp>
        <p:nvGrpSpPr>
          <p:cNvPr id="3340" name="Google Shape;3340;p473"/>
          <p:cNvGrpSpPr/>
          <p:nvPr/>
        </p:nvGrpSpPr>
        <p:grpSpPr>
          <a:xfrm>
            <a:off x="1072638" y="3373475"/>
            <a:ext cx="4734751" cy="900867"/>
            <a:chOff x="1071049" y="3373474"/>
            <a:chExt cx="4734751" cy="900867"/>
          </a:xfrm>
        </p:grpSpPr>
        <p:sp>
          <p:nvSpPr>
            <p:cNvPr id="3341" name="Google Shape;3341;p473"/>
            <p:cNvSpPr txBox="1"/>
            <p:nvPr/>
          </p:nvSpPr>
          <p:spPr>
            <a:xfrm>
              <a:off x="2100500" y="3454458"/>
              <a:ext cx="3705300" cy="789930"/>
            </a:xfrm>
            <a:prstGeom prst="rect">
              <a:avLst/>
            </a:prstGeom>
            <a:noFill/>
            <a:ln>
              <a:noFill/>
            </a:ln>
          </p:spPr>
          <p:txBody>
            <a:bodyPr spcFirstLastPara="1" wrap="square" lIns="91425" tIns="91425" rIns="91425" bIns="91425" anchor="t" anchorCtr="0">
              <a:spAutoFit/>
            </a:bodyPr>
            <a:lstStyle/>
            <a:p>
              <a:pPr algn="ctr">
                <a:spcAft>
                  <a:spcPts val="400"/>
                </a:spcAft>
              </a:pPr>
              <a:r>
                <a:rPr lang="en">
                  <a:solidFill>
                    <a:schemeClr val="accent1"/>
                  </a:solidFill>
                  <a:latin typeface="DM Sans Medium"/>
                  <a:ea typeface="DM Sans Medium"/>
                  <a:cs typeface="DM Sans Medium"/>
                  <a:sym typeface="DM Sans Medium"/>
                </a:rPr>
                <a:t>Remove Data Silos and Minimize Data Movement</a:t>
              </a:r>
              <a:endParaRPr>
                <a:solidFill>
                  <a:schemeClr val="accent1"/>
                </a:solidFill>
                <a:latin typeface="DM Sans Medium"/>
                <a:ea typeface="DM Sans Medium"/>
                <a:cs typeface="DM Sans Medium"/>
                <a:sym typeface="DM Sans Medium"/>
              </a:endParaRPr>
            </a:p>
          </p:txBody>
        </p:sp>
        <p:pic>
          <p:nvPicPr>
            <p:cNvPr id="3342" name="Google Shape;3342;p473"/>
            <p:cNvPicPr preferRelativeResize="0"/>
            <p:nvPr/>
          </p:nvPicPr>
          <p:blipFill>
            <a:blip r:embed="rId8">
              <a:alphaModFix/>
            </a:blip>
            <a:stretch>
              <a:fillRect/>
            </a:stretch>
          </p:blipFill>
          <p:spPr>
            <a:xfrm rot="-5400000" flipH="1">
              <a:off x="1071047" y="3373476"/>
              <a:ext cx="900867" cy="900864"/>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25"/>
                                        </p:tgtEl>
                                        <p:attrNameLst>
                                          <p:attrName>style.visibility</p:attrName>
                                        </p:attrNameLst>
                                      </p:cBhvr>
                                      <p:to>
                                        <p:strVal val="visible"/>
                                      </p:to>
                                    </p:set>
                                    <p:animEffect transition="in" filter="fade">
                                      <p:cBhvr>
                                        <p:cTn id="7" dur="1000"/>
                                        <p:tgtEl>
                                          <p:spTgt spid="33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340"/>
                                        </p:tgtEl>
                                        <p:attrNameLst>
                                          <p:attrName>style.visibility</p:attrName>
                                        </p:attrNameLst>
                                      </p:cBhvr>
                                      <p:to>
                                        <p:strVal val="visible"/>
                                      </p:to>
                                    </p:set>
                                    <p:animEffect transition="in" filter="fade">
                                      <p:cBhvr>
                                        <p:cTn id="12" dur="1000"/>
                                        <p:tgtEl>
                                          <p:spTgt spid="33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31"/>
                                        </p:tgtEl>
                                        <p:attrNameLst>
                                          <p:attrName>style.visibility</p:attrName>
                                        </p:attrNameLst>
                                      </p:cBhvr>
                                      <p:to>
                                        <p:strVal val="visible"/>
                                      </p:to>
                                    </p:set>
                                    <p:animEffect transition="in" filter="fade">
                                      <p:cBhvr>
                                        <p:cTn id="17" dur="1000"/>
                                        <p:tgtEl>
                                          <p:spTgt spid="333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328"/>
                                        </p:tgtEl>
                                        <p:attrNameLst>
                                          <p:attrName>style.visibility</p:attrName>
                                        </p:attrNameLst>
                                      </p:cBhvr>
                                      <p:to>
                                        <p:strVal val="visible"/>
                                      </p:to>
                                    </p:set>
                                    <p:animEffect transition="in" filter="fade">
                                      <p:cBhvr>
                                        <p:cTn id="22" dur="1000"/>
                                        <p:tgtEl>
                                          <p:spTgt spid="332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37"/>
                                        </p:tgtEl>
                                        <p:attrNameLst>
                                          <p:attrName>style.visibility</p:attrName>
                                        </p:attrNameLst>
                                      </p:cBhvr>
                                      <p:to>
                                        <p:strVal val="visible"/>
                                      </p:to>
                                    </p:set>
                                    <p:animEffect transition="in" filter="fade">
                                      <p:cBhvr>
                                        <p:cTn id="27" dur="1000"/>
                                        <p:tgtEl>
                                          <p:spTgt spid="333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334"/>
                                        </p:tgtEl>
                                        <p:attrNameLst>
                                          <p:attrName>style.visibility</p:attrName>
                                        </p:attrNameLst>
                                      </p:cBhvr>
                                      <p:to>
                                        <p:strVal val="visible"/>
                                      </p:to>
                                    </p:set>
                                    <p:animEffect transition="in" filter="fade">
                                      <p:cBhvr>
                                        <p:cTn id="32" dur="1000"/>
                                        <p:tgtEl>
                                          <p:spTgt spid="33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346"/>
        <p:cNvGrpSpPr/>
        <p:nvPr/>
      </p:nvGrpSpPr>
      <p:grpSpPr>
        <a:xfrm>
          <a:off x="0" y="0"/>
          <a:ext cx="0" cy="0"/>
          <a:chOff x="0" y="0"/>
          <a:chExt cx="0" cy="0"/>
        </a:xfrm>
      </p:grpSpPr>
      <p:sp>
        <p:nvSpPr>
          <p:cNvPr id="3347" name="Google Shape;3347;p474"/>
          <p:cNvSpPr txBox="1">
            <a:spLocks noGrp="1"/>
          </p:cNvSpPr>
          <p:nvPr>
            <p:ph type="title"/>
          </p:nvPr>
        </p:nvSpPr>
        <p:spPr>
          <a:xfrm>
            <a:off x="417084" y="593367"/>
            <a:ext cx="11358000" cy="763500"/>
          </a:xfrm>
          <a:prstGeom prst="rect">
            <a:avLst/>
          </a:prstGeom>
        </p:spPr>
        <p:txBody>
          <a:bodyPr spcFirstLastPara="1" vert="horz" wrap="square" lIns="0" tIns="0" rIns="0" bIns="0" rtlCol="0" anchor="ctr" anchorCtr="0">
            <a:noAutofit/>
          </a:bodyPr>
          <a:lstStyle/>
          <a:p>
            <a:r>
              <a:rPr lang="en" sz="3600"/>
              <a:t>Cloud Data Analytics Framework</a:t>
            </a:r>
            <a:endParaRPr sz="3600"/>
          </a:p>
        </p:txBody>
      </p:sp>
      <p:sp>
        <p:nvSpPr>
          <p:cNvPr id="3348" name="Google Shape;3348;p474"/>
          <p:cNvSpPr txBox="1">
            <a:spLocks noGrp="1"/>
          </p:cNvSpPr>
          <p:nvPr>
            <p:ph type="sldNum" idx="12"/>
          </p:nvPr>
        </p:nvSpPr>
        <p:spPr>
          <a:xfrm>
            <a:off x="11295372" y="6217622"/>
            <a:ext cx="731400" cy="524700"/>
          </a:xfrm>
          <a:prstGeom prst="rect">
            <a:avLst/>
          </a:prstGeom>
        </p:spPr>
        <p:txBody>
          <a:bodyPr spcFirstLastPara="1" vert="horz" wrap="square" lIns="121875" tIns="121875" rIns="121875" bIns="121875" rtlCol="0" anchor="t" anchorCtr="0">
            <a:noAutofit/>
          </a:bodyPr>
          <a:lstStyle/>
          <a:p>
            <a:fld id="{00000000-1234-1234-1234-123412341234}" type="slidenum">
              <a:rPr lang="en"/>
              <a:pPr/>
              <a:t>16</a:t>
            </a:fld>
            <a:endParaRPr/>
          </a:p>
        </p:txBody>
      </p:sp>
      <p:sp>
        <p:nvSpPr>
          <p:cNvPr id="3349" name="Google Shape;3349;p474"/>
          <p:cNvSpPr/>
          <p:nvPr/>
        </p:nvSpPr>
        <p:spPr>
          <a:xfrm>
            <a:off x="6567575" y="1941000"/>
            <a:ext cx="2658300" cy="580500"/>
          </a:xfrm>
          <a:prstGeom prst="roundRect">
            <a:avLst>
              <a:gd name="adj" fmla="val 16667"/>
            </a:avLst>
          </a:prstGeom>
          <a:solidFill>
            <a:srgbClr val="FFFFFF"/>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algn="ctr"/>
            <a:r>
              <a:rPr lang="en" sz="1600">
                <a:solidFill>
                  <a:schemeClr val="accent1"/>
                </a:solidFill>
                <a:latin typeface="DM Sans Medium"/>
                <a:ea typeface="DM Sans Medium"/>
                <a:cs typeface="DM Sans Medium"/>
                <a:sym typeface="DM Sans Medium"/>
              </a:rPr>
              <a:t>BI Tools</a:t>
            </a:r>
            <a:endParaRPr sz="1600">
              <a:solidFill>
                <a:schemeClr val="accent1"/>
              </a:solidFill>
              <a:latin typeface="DM Sans Medium"/>
              <a:ea typeface="DM Sans Medium"/>
              <a:cs typeface="DM Sans Medium"/>
              <a:sym typeface="DM Sans Medium"/>
            </a:endParaRPr>
          </a:p>
        </p:txBody>
      </p:sp>
      <p:sp>
        <p:nvSpPr>
          <p:cNvPr id="3350" name="Google Shape;3350;p474"/>
          <p:cNvSpPr/>
          <p:nvPr/>
        </p:nvSpPr>
        <p:spPr>
          <a:xfrm>
            <a:off x="3467813" y="2620625"/>
            <a:ext cx="3009300" cy="1884600"/>
          </a:xfrm>
          <a:prstGeom prst="roundRect">
            <a:avLst>
              <a:gd name="adj" fmla="val 7491"/>
            </a:avLst>
          </a:prstGeom>
          <a:solidFill>
            <a:srgbClr val="FFFFFF"/>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algn="ctr"/>
            <a:r>
              <a:rPr lang="en" sz="1600">
                <a:solidFill>
                  <a:schemeClr val="accent1"/>
                </a:solidFill>
                <a:latin typeface="DM Sans Medium"/>
                <a:ea typeface="DM Sans Medium"/>
                <a:cs typeface="DM Sans Medium"/>
                <a:sym typeface="DM Sans Medium"/>
              </a:rPr>
              <a:t>Advanced Analytics, </a:t>
            </a:r>
            <a:br>
              <a:rPr lang="en" sz="1600">
                <a:solidFill>
                  <a:schemeClr val="accent1"/>
                </a:solidFill>
                <a:latin typeface="DM Sans Medium"/>
                <a:ea typeface="DM Sans Medium"/>
                <a:cs typeface="DM Sans Medium"/>
                <a:sym typeface="DM Sans Medium"/>
              </a:rPr>
            </a:br>
            <a:r>
              <a:rPr lang="en" sz="1600">
                <a:solidFill>
                  <a:schemeClr val="accent1"/>
                </a:solidFill>
                <a:latin typeface="DM Sans Medium"/>
                <a:ea typeface="DM Sans Medium"/>
                <a:cs typeface="DM Sans Medium"/>
                <a:sym typeface="DM Sans Medium"/>
              </a:rPr>
              <a:t>ML &amp; AI</a:t>
            </a:r>
            <a:endParaRPr sz="1600">
              <a:solidFill>
                <a:schemeClr val="accent1"/>
              </a:solidFill>
              <a:latin typeface="DM Sans Medium"/>
              <a:ea typeface="DM Sans Medium"/>
              <a:cs typeface="DM Sans Medium"/>
              <a:sym typeface="DM Sans Medium"/>
            </a:endParaRPr>
          </a:p>
        </p:txBody>
      </p:sp>
      <p:sp>
        <p:nvSpPr>
          <p:cNvPr id="3351" name="Google Shape;3351;p474"/>
          <p:cNvSpPr/>
          <p:nvPr/>
        </p:nvSpPr>
        <p:spPr>
          <a:xfrm>
            <a:off x="6567588" y="2620625"/>
            <a:ext cx="2658300" cy="1884600"/>
          </a:xfrm>
          <a:prstGeom prst="roundRect">
            <a:avLst>
              <a:gd name="adj" fmla="val 6980"/>
            </a:avLst>
          </a:prstGeom>
          <a:solidFill>
            <a:srgbClr val="FFFFFF"/>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algn="ctr"/>
            <a:r>
              <a:rPr lang="en" sz="1600">
                <a:solidFill>
                  <a:schemeClr val="accent1"/>
                </a:solidFill>
                <a:latin typeface="DM Sans Medium"/>
                <a:ea typeface="DM Sans Medium"/>
                <a:cs typeface="DM Sans Medium"/>
                <a:sym typeface="DM Sans Medium"/>
              </a:rPr>
              <a:t>Data </a:t>
            </a:r>
            <a:br>
              <a:rPr lang="en" sz="1600">
                <a:solidFill>
                  <a:schemeClr val="accent1"/>
                </a:solidFill>
                <a:latin typeface="DM Sans Medium"/>
                <a:ea typeface="DM Sans Medium"/>
                <a:cs typeface="DM Sans Medium"/>
                <a:sym typeface="DM Sans Medium"/>
              </a:rPr>
            </a:br>
            <a:r>
              <a:rPr lang="en" sz="1600">
                <a:solidFill>
                  <a:schemeClr val="accent1"/>
                </a:solidFill>
                <a:latin typeface="DM Sans Medium"/>
                <a:ea typeface="DM Sans Medium"/>
                <a:cs typeface="DM Sans Medium"/>
                <a:sym typeface="DM Sans Medium"/>
              </a:rPr>
              <a:t>Warehouse</a:t>
            </a:r>
            <a:endParaRPr sz="1600">
              <a:solidFill>
                <a:schemeClr val="accent1"/>
              </a:solidFill>
              <a:latin typeface="DM Sans Medium"/>
              <a:ea typeface="DM Sans Medium"/>
              <a:cs typeface="DM Sans Medium"/>
              <a:sym typeface="DM Sans Medium"/>
            </a:endParaRPr>
          </a:p>
        </p:txBody>
      </p:sp>
      <p:sp>
        <p:nvSpPr>
          <p:cNvPr id="3352" name="Google Shape;3352;p474"/>
          <p:cNvSpPr/>
          <p:nvPr/>
        </p:nvSpPr>
        <p:spPr>
          <a:xfrm>
            <a:off x="738663" y="5367618"/>
            <a:ext cx="9860400" cy="911700"/>
          </a:xfrm>
          <a:prstGeom prst="roundRect">
            <a:avLst>
              <a:gd name="adj" fmla="val 10399"/>
            </a:avLst>
          </a:prstGeom>
          <a:solidFill>
            <a:srgbClr val="FFFFFF"/>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algn="ctr"/>
            <a:r>
              <a:rPr lang="en" sz="1600">
                <a:solidFill>
                  <a:schemeClr val="accent1"/>
                </a:solidFill>
                <a:latin typeface="DM Sans Medium"/>
                <a:ea typeface="DM Sans Medium"/>
                <a:cs typeface="DM Sans Medium"/>
                <a:sym typeface="DM Sans Medium"/>
              </a:rPr>
              <a:t>         Cloud Storage</a:t>
            </a:r>
            <a:endParaRPr sz="1600">
              <a:solidFill>
                <a:schemeClr val="accent1"/>
              </a:solidFill>
              <a:latin typeface="DM Sans Medium"/>
              <a:ea typeface="DM Sans Medium"/>
              <a:cs typeface="DM Sans Medium"/>
              <a:sym typeface="DM Sans Medium"/>
            </a:endParaRPr>
          </a:p>
        </p:txBody>
      </p:sp>
      <p:sp>
        <p:nvSpPr>
          <p:cNvPr id="3353" name="Google Shape;3353;p474"/>
          <p:cNvSpPr txBox="1"/>
          <p:nvPr/>
        </p:nvSpPr>
        <p:spPr>
          <a:xfrm>
            <a:off x="10676893" y="5532560"/>
            <a:ext cx="1118400" cy="567900"/>
          </a:xfrm>
          <a:prstGeom prst="rect">
            <a:avLst/>
          </a:prstGeom>
          <a:noFill/>
          <a:ln>
            <a:noFill/>
          </a:ln>
        </p:spPr>
        <p:txBody>
          <a:bodyPr spcFirstLastPara="1" wrap="square" lIns="91425" tIns="91425" rIns="91425" bIns="91425" anchor="ctr" anchorCtr="0">
            <a:noAutofit/>
          </a:bodyPr>
          <a:lstStyle/>
          <a:p>
            <a:r>
              <a:rPr lang="en" sz="1600">
                <a:solidFill>
                  <a:schemeClr val="accent1"/>
                </a:solidFill>
                <a:latin typeface="DM Sans Medium"/>
                <a:ea typeface="DM Sans Medium"/>
                <a:cs typeface="DM Sans Medium"/>
                <a:sym typeface="DM Sans Medium"/>
              </a:rPr>
              <a:t>Storage</a:t>
            </a:r>
            <a:endParaRPr sz="1600">
              <a:solidFill>
                <a:schemeClr val="accent1"/>
              </a:solidFill>
              <a:latin typeface="DM Sans Medium"/>
              <a:ea typeface="DM Sans Medium"/>
              <a:cs typeface="DM Sans Medium"/>
              <a:sym typeface="DM Sans Medium"/>
            </a:endParaRPr>
          </a:p>
        </p:txBody>
      </p:sp>
      <p:sp>
        <p:nvSpPr>
          <p:cNvPr id="3354" name="Google Shape;3354;p474"/>
          <p:cNvSpPr txBox="1"/>
          <p:nvPr/>
        </p:nvSpPr>
        <p:spPr>
          <a:xfrm>
            <a:off x="10676893" y="3225375"/>
            <a:ext cx="1055700" cy="567900"/>
          </a:xfrm>
          <a:prstGeom prst="rect">
            <a:avLst/>
          </a:prstGeom>
          <a:noFill/>
          <a:ln>
            <a:noFill/>
          </a:ln>
        </p:spPr>
        <p:txBody>
          <a:bodyPr spcFirstLastPara="1" wrap="square" lIns="91425" tIns="91425" rIns="91425" bIns="91425" anchor="ctr" anchorCtr="0">
            <a:noAutofit/>
          </a:bodyPr>
          <a:lstStyle/>
          <a:p>
            <a:r>
              <a:rPr lang="en" sz="1600">
                <a:solidFill>
                  <a:schemeClr val="accent1"/>
                </a:solidFill>
                <a:latin typeface="DM Sans Medium"/>
                <a:ea typeface="DM Sans Medium"/>
                <a:cs typeface="DM Sans Medium"/>
                <a:sym typeface="DM Sans Medium"/>
              </a:rPr>
              <a:t>Engine</a:t>
            </a:r>
            <a:endParaRPr sz="1600">
              <a:solidFill>
                <a:schemeClr val="accent1"/>
              </a:solidFill>
              <a:latin typeface="DM Sans Medium"/>
              <a:ea typeface="DM Sans Medium"/>
              <a:cs typeface="DM Sans Medium"/>
              <a:sym typeface="DM Sans Medium"/>
            </a:endParaRPr>
          </a:p>
        </p:txBody>
      </p:sp>
      <p:sp>
        <p:nvSpPr>
          <p:cNvPr id="3355" name="Google Shape;3355;p474"/>
          <p:cNvSpPr txBox="1"/>
          <p:nvPr/>
        </p:nvSpPr>
        <p:spPr>
          <a:xfrm rot="-690">
            <a:off x="10676892" y="1948301"/>
            <a:ext cx="1494000" cy="567900"/>
          </a:xfrm>
          <a:prstGeom prst="rect">
            <a:avLst/>
          </a:prstGeom>
          <a:noFill/>
          <a:ln>
            <a:noFill/>
          </a:ln>
        </p:spPr>
        <p:txBody>
          <a:bodyPr spcFirstLastPara="1" wrap="square" lIns="91425" tIns="91425" rIns="91425" bIns="91425" anchor="ctr" anchorCtr="0">
            <a:noAutofit/>
          </a:bodyPr>
          <a:lstStyle/>
          <a:p>
            <a:pPr algn="ctr"/>
            <a:r>
              <a:rPr lang="en" sz="1600">
                <a:solidFill>
                  <a:schemeClr val="accent1"/>
                </a:solidFill>
                <a:latin typeface="DM Sans Medium"/>
                <a:ea typeface="DM Sans Medium"/>
                <a:cs typeface="DM Sans Medium"/>
                <a:sym typeface="DM Sans Medium"/>
              </a:rPr>
              <a:t>Consumption</a:t>
            </a:r>
            <a:endParaRPr sz="1600">
              <a:solidFill>
                <a:schemeClr val="accent1"/>
              </a:solidFill>
              <a:latin typeface="DM Sans Medium"/>
              <a:ea typeface="DM Sans Medium"/>
              <a:cs typeface="DM Sans Medium"/>
              <a:sym typeface="DM Sans Medium"/>
            </a:endParaRPr>
          </a:p>
        </p:txBody>
      </p:sp>
      <p:sp>
        <p:nvSpPr>
          <p:cNvPr id="3356" name="Google Shape;3356;p474"/>
          <p:cNvSpPr/>
          <p:nvPr/>
        </p:nvSpPr>
        <p:spPr>
          <a:xfrm>
            <a:off x="2050438" y="2614026"/>
            <a:ext cx="1327200" cy="1891200"/>
          </a:xfrm>
          <a:prstGeom prst="roundRect">
            <a:avLst>
              <a:gd name="adj" fmla="val 7335"/>
            </a:avLst>
          </a:prstGeom>
          <a:solidFill>
            <a:srgbClr val="FFFFFF"/>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algn="ctr"/>
            <a:r>
              <a:rPr lang="en" sz="1600">
                <a:solidFill>
                  <a:schemeClr val="accent1"/>
                </a:solidFill>
                <a:latin typeface="DM Sans Medium"/>
                <a:ea typeface="DM Sans Medium"/>
                <a:cs typeface="DM Sans Medium"/>
                <a:sym typeface="DM Sans Medium"/>
              </a:rPr>
              <a:t>Ingest &amp; Transform</a:t>
            </a:r>
            <a:endParaRPr sz="1600">
              <a:solidFill>
                <a:schemeClr val="accent1"/>
              </a:solidFill>
              <a:latin typeface="DM Sans Medium"/>
              <a:ea typeface="DM Sans Medium"/>
              <a:cs typeface="DM Sans Medium"/>
              <a:sym typeface="DM Sans Medium"/>
            </a:endParaRPr>
          </a:p>
        </p:txBody>
      </p:sp>
      <p:sp>
        <p:nvSpPr>
          <p:cNvPr id="3357" name="Google Shape;3357;p474"/>
          <p:cNvSpPr/>
          <p:nvPr/>
        </p:nvSpPr>
        <p:spPr>
          <a:xfrm>
            <a:off x="745313" y="4604325"/>
            <a:ext cx="9860700" cy="664200"/>
          </a:xfrm>
          <a:prstGeom prst="roundRect">
            <a:avLst>
              <a:gd name="adj" fmla="val 14875"/>
            </a:avLst>
          </a:prstGeom>
          <a:solidFill>
            <a:srgbClr val="FFFFFF"/>
          </a:solidFill>
          <a:ln w="19050" cap="flat" cmpd="sng">
            <a:solidFill>
              <a:schemeClr val="accent1"/>
            </a:solidFill>
            <a:prstDash val="solid"/>
            <a:round/>
            <a:headEnd type="none" w="sm" len="sm"/>
            <a:tailEnd type="none" w="sm" len="sm"/>
          </a:ln>
        </p:spPr>
        <p:txBody>
          <a:bodyPr spcFirstLastPara="1" wrap="square" lIns="0" tIns="91425" rIns="0" bIns="91425" anchor="ctr" anchorCtr="0">
            <a:noAutofit/>
          </a:bodyPr>
          <a:lstStyle/>
          <a:p>
            <a:pPr algn="ctr"/>
            <a:r>
              <a:rPr lang="en" sz="1600">
                <a:solidFill>
                  <a:schemeClr val="accent1"/>
                </a:solidFill>
                <a:latin typeface="DM Sans Medium"/>
                <a:ea typeface="DM Sans Medium"/>
                <a:cs typeface="DM Sans Medium"/>
                <a:sym typeface="DM Sans Medium"/>
              </a:rPr>
              <a:t>Data Governance</a:t>
            </a:r>
            <a:endParaRPr sz="1600">
              <a:solidFill>
                <a:schemeClr val="accent1"/>
              </a:solidFill>
              <a:latin typeface="DM Sans Medium"/>
              <a:ea typeface="DM Sans Medium"/>
              <a:cs typeface="DM Sans Medium"/>
              <a:sym typeface="DM Sans Medium"/>
            </a:endParaRPr>
          </a:p>
        </p:txBody>
      </p:sp>
      <p:sp>
        <p:nvSpPr>
          <p:cNvPr id="3358" name="Google Shape;3358;p474"/>
          <p:cNvSpPr/>
          <p:nvPr/>
        </p:nvSpPr>
        <p:spPr>
          <a:xfrm>
            <a:off x="738663" y="2614026"/>
            <a:ext cx="1221600" cy="1891200"/>
          </a:xfrm>
          <a:prstGeom prst="roundRect">
            <a:avLst>
              <a:gd name="adj" fmla="val 7335"/>
            </a:avLst>
          </a:prstGeom>
          <a:solidFill>
            <a:srgbClr val="FFFFFF"/>
          </a:solidFill>
          <a:ln w="19050" cap="flat" cmpd="sng">
            <a:solidFill>
              <a:schemeClr val="accent1"/>
            </a:solidFill>
            <a:prstDash val="solid"/>
            <a:round/>
            <a:headEnd type="none" w="sm" len="sm"/>
            <a:tailEnd type="none" w="sm" len="sm"/>
          </a:ln>
        </p:spPr>
        <p:txBody>
          <a:bodyPr spcFirstLastPara="1" wrap="square" lIns="0" tIns="91425" rIns="0" bIns="91425" anchor="ctr" anchorCtr="0">
            <a:noAutofit/>
          </a:bodyPr>
          <a:lstStyle/>
          <a:p>
            <a:pPr algn="ctr"/>
            <a:r>
              <a:rPr lang="en" sz="1600">
                <a:solidFill>
                  <a:schemeClr val="accent1"/>
                </a:solidFill>
                <a:latin typeface="DM Sans Medium"/>
                <a:ea typeface="DM Sans Medium"/>
                <a:cs typeface="DM Sans Medium"/>
                <a:sym typeface="DM Sans Medium"/>
              </a:rPr>
              <a:t>Workflow</a:t>
            </a:r>
            <a:br>
              <a:rPr lang="en" sz="1600">
                <a:solidFill>
                  <a:schemeClr val="accent1"/>
                </a:solidFill>
                <a:latin typeface="DM Sans Medium"/>
                <a:ea typeface="DM Sans Medium"/>
                <a:cs typeface="DM Sans Medium"/>
                <a:sym typeface="DM Sans Medium"/>
              </a:rPr>
            </a:br>
            <a:r>
              <a:rPr lang="en" sz="1600">
                <a:solidFill>
                  <a:schemeClr val="accent1"/>
                </a:solidFill>
                <a:latin typeface="DM Sans Medium"/>
                <a:ea typeface="DM Sans Medium"/>
                <a:cs typeface="DM Sans Medium"/>
                <a:sym typeface="DM Sans Medium"/>
              </a:rPr>
              <a:t>Mgmt</a:t>
            </a:r>
            <a:endParaRPr sz="1600">
              <a:solidFill>
                <a:schemeClr val="accent1"/>
              </a:solidFill>
              <a:latin typeface="DM Sans Medium"/>
              <a:ea typeface="DM Sans Medium"/>
              <a:cs typeface="DM Sans Medium"/>
              <a:sym typeface="DM Sans Medium"/>
            </a:endParaRPr>
          </a:p>
        </p:txBody>
      </p:sp>
      <p:sp>
        <p:nvSpPr>
          <p:cNvPr id="3359" name="Google Shape;3359;p474"/>
          <p:cNvSpPr/>
          <p:nvPr/>
        </p:nvSpPr>
        <p:spPr>
          <a:xfrm>
            <a:off x="738663" y="1941025"/>
            <a:ext cx="5738400" cy="580500"/>
          </a:xfrm>
          <a:prstGeom prst="roundRect">
            <a:avLst>
              <a:gd name="adj" fmla="val 16667"/>
            </a:avLst>
          </a:prstGeom>
          <a:solidFill>
            <a:srgbClr val="FFFFFF"/>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algn="ctr">
              <a:lnSpc>
                <a:spcPct val="90000"/>
              </a:lnSpc>
            </a:pPr>
            <a:r>
              <a:rPr lang="en" sz="1600">
                <a:solidFill>
                  <a:schemeClr val="accent1"/>
                </a:solidFill>
                <a:latin typeface="DM Sans Medium"/>
                <a:ea typeface="DM Sans Medium"/>
                <a:cs typeface="DM Sans Medium"/>
                <a:sym typeface="DM Sans Medium"/>
              </a:rPr>
              <a:t>ETL &amp; DS tools</a:t>
            </a:r>
            <a:endParaRPr sz="1600">
              <a:solidFill>
                <a:schemeClr val="accent1"/>
              </a:solidFill>
              <a:latin typeface="DM Sans Medium"/>
              <a:ea typeface="DM Sans Medium"/>
              <a:cs typeface="DM Sans Medium"/>
              <a:sym typeface="DM Sans Medium"/>
            </a:endParaRPr>
          </a:p>
        </p:txBody>
      </p:sp>
      <p:sp>
        <p:nvSpPr>
          <p:cNvPr id="3360" name="Google Shape;3360;p474"/>
          <p:cNvSpPr txBox="1"/>
          <p:nvPr/>
        </p:nvSpPr>
        <p:spPr>
          <a:xfrm>
            <a:off x="10676893" y="4642514"/>
            <a:ext cx="1412700" cy="567900"/>
          </a:xfrm>
          <a:prstGeom prst="rect">
            <a:avLst/>
          </a:prstGeom>
          <a:noFill/>
          <a:ln>
            <a:noFill/>
          </a:ln>
        </p:spPr>
        <p:txBody>
          <a:bodyPr spcFirstLastPara="1" wrap="square" lIns="91425" tIns="91425" rIns="91425" bIns="91425" anchor="ctr" anchorCtr="0">
            <a:noAutofit/>
          </a:bodyPr>
          <a:lstStyle/>
          <a:p>
            <a:pPr algn="ctr"/>
            <a:r>
              <a:rPr lang="en" sz="1600">
                <a:solidFill>
                  <a:schemeClr val="accent1"/>
                </a:solidFill>
                <a:latin typeface="DM Sans Medium"/>
                <a:ea typeface="DM Sans Medium"/>
                <a:cs typeface="DM Sans Medium"/>
                <a:sym typeface="DM Sans Medium"/>
              </a:rPr>
              <a:t>Governance</a:t>
            </a:r>
            <a:endParaRPr sz="1600">
              <a:solidFill>
                <a:schemeClr val="accent1"/>
              </a:solidFill>
              <a:latin typeface="DM Sans Medium"/>
              <a:ea typeface="DM Sans Medium"/>
              <a:cs typeface="DM Sans Medium"/>
              <a:sym typeface="DM Sans Medium"/>
            </a:endParaRPr>
          </a:p>
        </p:txBody>
      </p:sp>
      <p:sp>
        <p:nvSpPr>
          <p:cNvPr id="3361" name="Google Shape;3361;p474"/>
          <p:cNvSpPr txBox="1"/>
          <p:nvPr/>
        </p:nvSpPr>
        <p:spPr>
          <a:xfrm>
            <a:off x="6941576" y="1251700"/>
            <a:ext cx="1883100" cy="362400"/>
          </a:xfrm>
          <a:prstGeom prst="rect">
            <a:avLst/>
          </a:prstGeom>
          <a:noFill/>
          <a:ln>
            <a:noFill/>
          </a:ln>
        </p:spPr>
        <p:txBody>
          <a:bodyPr spcFirstLastPara="1" wrap="square" lIns="91425" tIns="91425" rIns="91425" bIns="91425" anchor="ctr" anchorCtr="0">
            <a:noAutofit/>
          </a:bodyPr>
          <a:lstStyle/>
          <a:p>
            <a:pPr algn="ctr"/>
            <a:r>
              <a:rPr lang="en" sz="1600">
                <a:solidFill>
                  <a:schemeClr val="accent1"/>
                </a:solidFill>
                <a:latin typeface="DM Sans Medium"/>
                <a:ea typeface="DM Sans Medium"/>
                <a:cs typeface="DM Sans Medium"/>
                <a:sym typeface="DM Sans Medium"/>
              </a:rPr>
              <a:t>Business Analyst</a:t>
            </a:r>
            <a:endParaRPr sz="1600">
              <a:solidFill>
                <a:schemeClr val="accent1"/>
              </a:solidFill>
              <a:latin typeface="DM Sans Medium"/>
              <a:ea typeface="DM Sans Medium"/>
              <a:cs typeface="DM Sans Medium"/>
              <a:sym typeface="DM Sans Medium"/>
            </a:endParaRPr>
          </a:p>
        </p:txBody>
      </p:sp>
      <p:sp>
        <p:nvSpPr>
          <p:cNvPr id="3362" name="Google Shape;3362;p474"/>
          <p:cNvSpPr txBox="1"/>
          <p:nvPr/>
        </p:nvSpPr>
        <p:spPr>
          <a:xfrm>
            <a:off x="977388" y="1255124"/>
            <a:ext cx="1617000" cy="362400"/>
          </a:xfrm>
          <a:prstGeom prst="rect">
            <a:avLst/>
          </a:prstGeom>
          <a:noFill/>
          <a:ln>
            <a:noFill/>
          </a:ln>
        </p:spPr>
        <p:txBody>
          <a:bodyPr spcFirstLastPara="1" wrap="square" lIns="91425" tIns="91425" rIns="91425" bIns="91425" anchor="ctr" anchorCtr="0">
            <a:noAutofit/>
          </a:bodyPr>
          <a:lstStyle/>
          <a:p>
            <a:pPr algn="ctr"/>
            <a:r>
              <a:rPr lang="en" sz="1600">
                <a:solidFill>
                  <a:schemeClr val="accent1"/>
                </a:solidFill>
                <a:latin typeface="DM Sans Medium"/>
                <a:ea typeface="DM Sans Medium"/>
                <a:cs typeface="DM Sans Medium"/>
                <a:sym typeface="DM Sans Medium"/>
              </a:rPr>
              <a:t>Data Engineer  </a:t>
            </a:r>
            <a:endParaRPr sz="1600">
              <a:solidFill>
                <a:schemeClr val="accent1"/>
              </a:solidFill>
              <a:latin typeface="DM Sans Medium"/>
              <a:ea typeface="DM Sans Medium"/>
              <a:cs typeface="DM Sans Medium"/>
              <a:sym typeface="DM Sans Medium"/>
            </a:endParaRPr>
          </a:p>
        </p:txBody>
      </p:sp>
      <p:sp>
        <p:nvSpPr>
          <p:cNvPr id="3363" name="Google Shape;3363;p474"/>
          <p:cNvSpPr/>
          <p:nvPr/>
        </p:nvSpPr>
        <p:spPr>
          <a:xfrm>
            <a:off x="1522788" y="1667718"/>
            <a:ext cx="526200" cy="72900"/>
          </a:xfrm>
          <a:prstGeom prst="downArrow">
            <a:avLst>
              <a:gd name="adj1" fmla="val 50000"/>
              <a:gd name="adj2" fmla="val 100000"/>
            </a:avLst>
          </a:prstGeom>
          <a:solidFill>
            <a:schemeClr val="lt2"/>
          </a:solidFill>
          <a:ln w="9525" cap="flat" cmpd="sng">
            <a:solidFill>
              <a:srgbClr val="BFBFBF"/>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3364" name="Google Shape;3364;p474"/>
          <p:cNvSpPr/>
          <p:nvPr/>
        </p:nvSpPr>
        <p:spPr>
          <a:xfrm>
            <a:off x="7620001" y="1667718"/>
            <a:ext cx="526200" cy="72900"/>
          </a:xfrm>
          <a:prstGeom prst="downArrow">
            <a:avLst>
              <a:gd name="adj1" fmla="val 50000"/>
              <a:gd name="adj2" fmla="val 100000"/>
            </a:avLst>
          </a:prstGeom>
          <a:solidFill>
            <a:schemeClr val="lt2"/>
          </a:solidFill>
          <a:ln w="9525" cap="flat" cmpd="sng">
            <a:solidFill>
              <a:srgbClr val="BFBFBF"/>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3365" name="Google Shape;3365;p474"/>
          <p:cNvSpPr txBox="1"/>
          <p:nvPr/>
        </p:nvSpPr>
        <p:spPr>
          <a:xfrm>
            <a:off x="4774763" y="1258550"/>
            <a:ext cx="1617000" cy="362400"/>
          </a:xfrm>
          <a:prstGeom prst="rect">
            <a:avLst/>
          </a:prstGeom>
          <a:noFill/>
          <a:ln>
            <a:noFill/>
          </a:ln>
        </p:spPr>
        <p:txBody>
          <a:bodyPr spcFirstLastPara="1" wrap="square" lIns="91425" tIns="91425" rIns="91425" bIns="91425" anchor="ctr" anchorCtr="0">
            <a:noAutofit/>
          </a:bodyPr>
          <a:lstStyle/>
          <a:p>
            <a:pPr algn="ctr"/>
            <a:r>
              <a:rPr lang="en" sz="1600">
                <a:solidFill>
                  <a:schemeClr val="accent1"/>
                </a:solidFill>
                <a:latin typeface="DM Sans Medium"/>
                <a:ea typeface="DM Sans Medium"/>
                <a:cs typeface="DM Sans Medium"/>
                <a:sym typeface="DM Sans Medium"/>
              </a:rPr>
              <a:t>Data Scientist</a:t>
            </a:r>
            <a:endParaRPr sz="1600">
              <a:solidFill>
                <a:schemeClr val="accent1"/>
              </a:solidFill>
              <a:latin typeface="DM Sans Medium"/>
              <a:ea typeface="DM Sans Medium"/>
              <a:cs typeface="DM Sans Medium"/>
              <a:sym typeface="DM Sans Medium"/>
            </a:endParaRPr>
          </a:p>
        </p:txBody>
      </p:sp>
      <p:sp>
        <p:nvSpPr>
          <p:cNvPr id="3366" name="Google Shape;3366;p474"/>
          <p:cNvSpPr/>
          <p:nvPr/>
        </p:nvSpPr>
        <p:spPr>
          <a:xfrm>
            <a:off x="5320163" y="1667718"/>
            <a:ext cx="526200" cy="72900"/>
          </a:xfrm>
          <a:prstGeom prst="downArrow">
            <a:avLst>
              <a:gd name="adj1" fmla="val 50000"/>
              <a:gd name="adj2" fmla="val 100000"/>
            </a:avLst>
          </a:prstGeom>
          <a:solidFill>
            <a:schemeClr val="lt2"/>
          </a:solidFill>
          <a:ln w="9525" cap="flat" cmpd="sng">
            <a:solidFill>
              <a:srgbClr val="BFBFBF"/>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3367" name="Google Shape;3367;p474"/>
          <p:cNvSpPr/>
          <p:nvPr/>
        </p:nvSpPr>
        <p:spPr>
          <a:xfrm>
            <a:off x="3459575" y="1667718"/>
            <a:ext cx="526200" cy="72900"/>
          </a:xfrm>
          <a:prstGeom prst="downArrow">
            <a:avLst>
              <a:gd name="adj1" fmla="val 50000"/>
              <a:gd name="adj2" fmla="val 100000"/>
            </a:avLst>
          </a:prstGeom>
          <a:solidFill>
            <a:schemeClr val="lt2"/>
          </a:solidFill>
          <a:ln w="9525" cap="flat" cmpd="sng">
            <a:solidFill>
              <a:srgbClr val="BFBFBF"/>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3368" name="Google Shape;3368;p474"/>
          <p:cNvSpPr txBox="1"/>
          <p:nvPr/>
        </p:nvSpPr>
        <p:spPr>
          <a:xfrm>
            <a:off x="2914175" y="1255124"/>
            <a:ext cx="1617000" cy="362400"/>
          </a:xfrm>
          <a:prstGeom prst="rect">
            <a:avLst/>
          </a:prstGeom>
          <a:noFill/>
          <a:ln>
            <a:noFill/>
          </a:ln>
        </p:spPr>
        <p:txBody>
          <a:bodyPr spcFirstLastPara="1" wrap="square" lIns="91425" tIns="91425" rIns="91425" bIns="91425" anchor="ctr" anchorCtr="0">
            <a:noAutofit/>
          </a:bodyPr>
          <a:lstStyle/>
          <a:p>
            <a:pPr algn="ctr"/>
            <a:r>
              <a:rPr lang="en" sz="1600">
                <a:solidFill>
                  <a:schemeClr val="accent1"/>
                </a:solidFill>
                <a:latin typeface="DM Sans Medium"/>
                <a:ea typeface="DM Sans Medium"/>
                <a:cs typeface="DM Sans Medium"/>
                <a:sym typeface="DM Sans Medium"/>
              </a:rPr>
              <a:t>ML Engineer  </a:t>
            </a:r>
            <a:endParaRPr sz="1600">
              <a:solidFill>
                <a:schemeClr val="accent1"/>
              </a:solidFill>
              <a:latin typeface="DM Sans Medium"/>
              <a:ea typeface="DM Sans Medium"/>
              <a:cs typeface="DM Sans Medium"/>
              <a:sym typeface="DM Sans Medium"/>
            </a:endParaRPr>
          </a:p>
        </p:txBody>
      </p:sp>
      <p:sp>
        <p:nvSpPr>
          <p:cNvPr id="3369" name="Google Shape;3369;p474"/>
          <p:cNvSpPr/>
          <p:nvPr/>
        </p:nvSpPr>
        <p:spPr>
          <a:xfrm>
            <a:off x="9306488" y="1941025"/>
            <a:ext cx="1292700" cy="2564100"/>
          </a:xfrm>
          <a:prstGeom prst="roundRect">
            <a:avLst>
              <a:gd name="adj" fmla="val 6980"/>
            </a:avLst>
          </a:prstGeom>
          <a:solidFill>
            <a:srgbClr val="FFFFFF"/>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algn="ctr"/>
            <a:r>
              <a:rPr lang="en" sz="1600">
                <a:solidFill>
                  <a:schemeClr val="accent1"/>
                </a:solidFill>
                <a:latin typeface="DM Sans Medium"/>
                <a:ea typeface="DM Sans Medium"/>
                <a:cs typeface="DM Sans Medium"/>
                <a:sym typeface="DM Sans Medium"/>
              </a:rPr>
              <a:t>Data Sharing</a:t>
            </a:r>
            <a:endParaRPr sz="1600">
              <a:solidFill>
                <a:schemeClr val="accent1"/>
              </a:solidFill>
              <a:latin typeface="DM Sans Medium"/>
              <a:ea typeface="DM Sans Medium"/>
              <a:cs typeface="DM Sans Medium"/>
              <a:sym typeface="DM Sans Medium"/>
            </a:endParaRPr>
          </a:p>
        </p:txBody>
      </p:sp>
      <p:sp>
        <p:nvSpPr>
          <p:cNvPr id="3370" name="Google Shape;3370;p474"/>
          <p:cNvSpPr txBox="1"/>
          <p:nvPr/>
        </p:nvSpPr>
        <p:spPr>
          <a:xfrm>
            <a:off x="8985182" y="1251700"/>
            <a:ext cx="1931100" cy="362400"/>
          </a:xfrm>
          <a:prstGeom prst="rect">
            <a:avLst/>
          </a:prstGeom>
          <a:noFill/>
          <a:ln>
            <a:noFill/>
          </a:ln>
        </p:spPr>
        <p:txBody>
          <a:bodyPr spcFirstLastPara="1" wrap="square" lIns="91425" tIns="91425" rIns="91425" bIns="91425" anchor="ctr" anchorCtr="0">
            <a:noAutofit/>
          </a:bodyPr>
          <a:lstStyle/>
          <a:p>
            <a:pPr algn="ctr"/>
            <a:r>
              <a:rPr lang="en" sz="1600">
                <a:solidFill>
                  <a:schemeClr val="accent1"/>
                </a:solidFill>
                <a:latin typeface="DM Sans Medium"/>
                <a:ea typeface="DM Sans Medium"/>
                <a:cs typeface="DM Sans Medium"/>
                <a:sym typeface="DM Sans Medium"/>
              </a:rPr>
              <a:t>Business Partners</a:t>
            </a:r>
            <a:endParaRPr sz="1600">
              <a:solidFill>
                <a:schemeClr val="accent1"/>
              </a:solidFill>
              <a:latin typeface="DM Sans Medium"/>
              <a:ea typeface="DM Sans Medium"/>
              <a:cs typeface="DM Sans Medium"/>
              <a:sym typeface="DM Sans Medium"/>
            </a:endParaRPr>
          </a:p>
        </p:txBody>
      </p:sp>
      <p:sp>
        <p:nvSpPr>
          <p:cNvPr id="3371" name="Google Shape;3371;p474"/>
          <p:cNvSpPr/>
          <p:nvPr/>
        </p:nvSpPr>
        <p:spPr>
          <a:xfrm>
            <a:off x="9687632" y="1667718"/>
            <a:ext cx="526200" cy="72900"/>
          </a:xfrm>
          <a:prstGeom prst="downArrow">
            <a:avLst>
              <a:gd name="adj1" fmla="val 50000"/>
              <a:gd name="adj2" fmla="val 100000"/>
            </a:avLst>
          </a:prstGeom>
          <a:solidFill>
            <a:schemeClr val="lt2"/>
          </a:solidFill>
          <a:ln w="9525" cap="flat" cmpd="sng">
            <a:solidFill>
              <a:srgbClr val="BFBFBF"/>
            </a:solidFill>
            <a:prstDash val="solid"/>
            <a:round/>
            <a:headEnd type="none" w="sm" len="sm"/>
            <a:tailEnd type="none" w="sm" len="sm"/>
          </a:ln>
        </p:spPr>
        <p:txBody>
          <a:bodyPr spcFirstLastPara="1" wrap="square" lIns="91425" tIns="91425" rIns="91425" bIns="91425" anchor="ctr" anchorCtr="0">
            <a:noAutofit/>
          </a:bodyPr>
          <a:lstStyle/>
          <a:p>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375"/>
        <p:cNvGrpSpPr/>
        <p:nvPr/>
      </p:nvGrpSpPr>
      <p:grpSpPr>
        <a:xfrm>
          <a:off x="0" y="0"/>
          <a:ext cx="0" cy="0"/>
          <a:chOff x="0" y="0"/>
          <a:chExt cx="0" cy="0"/>
        </a:xfrm>
      </p:grpSpPr>
      <p:sp>
        <p:nvSpPr>
          <p:cNvPr id="3376" name="Google Shape;3376;p475"/>
          <p:cNvSpPr/>
          <p:nvPr/>
        </p:nvSpPr>
        <p:spPr>
          <a:xfrm>
            <a:off x="6567588" y="1941000"/>
            <a:ext cx="2658300" cy="580500"/>
          </a:xfrm>
          <a:prstGeom prst="roundRect">
            <a:avLst>
              <a:gd name="adj" fmla="val 16667"/>
            </a:avLst>
          </a:prstGeom>
          <a:solidFill>
            <a:srgbClr val="FFFFFF"/>
          </a:solidFill>
          <a:ln w="19050" cap="flat" cmpd="sng">
            <a:solidFill>
              <a:srgbClr val="C0C0C0"/>
            </a:solidFill>
            <a:prstDash val="solid"/>
            <a:round/>
            <a:headEnd type="none" w="sm" len="sm"/>
            <a:tailEnd type="none" w="sm" len="sm"/>
          </a:ln>
        </p:spPr>
        <p:txBody>
          <a:bodyPr spcFirstLastPara="1" wrap="square" lIns="91425" tIns="91425" rIns="91425" bIns="91425" anchor="ctr" anchorCtr="0">
            <a:noAutofit/>
          </a:bodyPr>
          <a:lstStyle/>
          <a:p>
            <a:pPr algn="ctr"/>
            <a:r>
              <a:rPr lang="en" sz="1600">
                <a:solidFill>
                  <a:srgbClr val="CCCCCC"/>
                </a:solidFill>
                <a:latin typeface="DM Sans Medium"/>
                <a:ea typeface="DM Sans Medium"/>
                <a:cs typeface="DM Sans Medium"/>
                <a:sym typeface="DM Sans Medium"/>
              </a:rPr>
              <a:t>BI Tools</a:t>
            </a:r>
            <a:endParaRPr sz="1600">
              <a:solidFill>
                <a:srgbClr val="CCCCCC"/>
              </a:solidFill>
              <a:latin typeface="DM Sans Medium"/>
              <a:ea typeface="DM Sans Medium"/>
              <a:cs typeface="DM Sans Medium"/>
              <a:sym typeface="DM Sans Medium"/>
            </a:endParaRPr>
          </a:p>
        </p:txBody>
      </p:sp>
      <p:sp>
        <p:nvSpPr>
          <p:cNvPr id="3377" name="Google Shape;3377;p475"/>
          <p:cNvSpPr/>
          <p:nvPr/>
        </p:nvSpPr>
        <p:spPr>
          <a:xfrm>
            <a:off x="6585088" y="2620625"/>
            <a:ext cx="2640900" cy="1884600"/>
          </a:xfrm>
          <a:prstGeom prst="roundRect">
            <a:avLst>
              <a:gd name="adj" fmla="val 6980"/>
            </a:avLst>
          </a:prstGeom>
          <a:solidFill>
            <a:srgbClr val="FFFFFF"/>
          </a:solidFill>
          <a:ln w="19050" cap="flat" cmpd="sng">
            <a:solidFill>
              <a:srgbClr val="C0C0C0"/>
            </a:solidFill>
            <a:prstDash val="solid"/>
            <a:round/>
            <a:headEnd type="none" w="sm" len="sm"/>
            <a:tailEnd type="none" w="sm" len="sm"/>
          </a:ln>
        </p:spPr>
        <p:txBody>
          <a:bodyPr spcFirstLastPara="1" wrap="square" lIns="91425" tIns="91425" rIns="91425" bIns="91425" anchor="ctr" anchorCtr="0">
            <a:noAutofit/>
          </a:bodyPr>
          <a:lstStyle/>
          <a:p>
            <a:pPr algn="ctr"/>
            <a:r>
              <a:rPr lang="en" sz="1600">
                <a:solidFill>
                  <a:srgbClr val="CCCCCC"/>
                </a:solidFill>
                <a:latin typeface="DM Sans Medium"/>
                <a:ea typeface="DM Sans Medium"/>
                <a:cs typeface="DM Sans Medium"/>
                <a:sym typeface="DM Sans Medium"/>
              </a:rPr>
              <a:t>Data </a:t>
            </a:r>
            <a:br>
              <a:rPr lang="en" sz="1600">
                <a:solidFill>
                  <a:srgbClr val="CCCCCC"/>
                </a:solidFill>
                <a:latin typeface="DM Sans Medium"/>
                <a:ea typeface="DM Sans Medium"/>
                <a:cs typeface="DM Sans Medium"/>
                <a:sym typeface="DM Sans Medium"/>
              </a:rPr>
            </a:br>
            <a:r>
              <a:rPr lang="en" sz="1600">
                <a:solidFill>
                  <a:srgbClr val="CCCCCC"/>
                </a:solidFill>
                <a:latin typeface="DM Sans Medium"/>
                <a:ea typeface="DM Sans Medium"/>
                <a:cs typeface="DM Sans Medium"/>
                <a:sym typeface="DM Sans Medium"/>
              </a:rPr>
              <a:t>Warehouse</a:t>
            </a:r>
            <a:endParaRPr sz="1600">
              <a:solidFill>
                <a:srgbClr val="CCCCCC"/>
              </a:solidFill>
              <a:latin typeface="DM Sans Medium"/>
              <a:ea typeface="DM Sans Medium"/>
              <a:cs typeface="DM Sans Medium"/>
              <a:sym typeface="DM Sans Medium"/>
            </a:endParaRPr>
          </a:p>
        </p:txBody>
      </p:sp>
      <p:sp>
        <p:nvSpPr>
          <p:cNvPr id="3378" name="Google Shape;3378;p475"/>
          <p:cNvSpPr/>
          <p:nvPr/>
        </p:nvSpPr>
        <p:spPr>
          <a:xfrm>
            <a:off x="9306488" y="1941025"/>
            <a:ext cx="1292700" cy="2564100"/>
          </a:xfrm>
          <a:prstGeom prst="roundRect">
            <a:avLst>
              <a:gd name="adj" fmla="val 6980"/>
            </a:avLst>
          </a:prstGeom>
          <a:solidFill>
            <a:srgbClr val="FFFFFF"/>
          </a:solidFill>
          <a:ln w="19050" cap="flat" cmpd="sng">
            <a:solidFill>
              <a:srgbClr val="C0C0C0"/>
            </a:solidFill>
            <a:prstDash val="solid"/>
            <a:round/>
            <a:headEnd type="none" w="sm" len="sm"/>
            <a:tailEnd type="none" w="sm" len="sm"/>
          </a:ln>
        </p:spPr>
        <p:txBody>
          <a:bodyPr spcFirstLastPara="1" wrap="square" lIns="91425" tIns="91425" rIns="91425" bIns="91425" anchor="ctr" anchorCtr="0">
            <a:noAutofit/>
          </a:bodyPr>
          <a:lstStyle/>
          <a:p>
            <a:pPr algn="ctr"/>
            <a:r>
              <a:rPr lang="en" sz="1600">
                <a:solidFill>
                  <a:srgbClr val="CCCCCC"/>
                </a:solidFill>
                <a:latin typeface="DM Sans Medium"/>
                <a:ea typeface="DM Sans Medium"/>
                <a:cs typeface="DM Sans Medium"/>
                <a:sym typeface="DM Sans Medium"/>
              </a:rPr>
              <a:t>Data Sharing</a:t>
            </a:r>
            <a:endParaRPr sz="1600">
              <a:solidFill>
                <a:srgbClr val="CCCCCC"/>
              </a:solidFill>
              <a:latin typeface="DM Sans Medium"/>
              <a:ea typeface="DM Sans Medium"/>
              <a:cs typeface="DM Sans Medium"/>
              <a:sym typeface="DM Sans Medium"/>
            </a:endParaRPr>
          </a:p>
        </p:txBody>
      </p:sp>
      <p:sp>
        <p:nvSpPr>
          <p:cNvPr id="3379" name="Google Shape;3379;p475"/>
          <p:cNvSpPr/>
          <p:nvPr/>
        </p:nvSpPr>
        <p:spPr>
          <a:xfrm>
            <a:off x="738663" y="5367618"/>
            <a:ext cx="9860400" cy="911700"/>
          </a:xfrm>
          <a:prstGeom prst="roundRect">
            <a:avLst>
              <a:gd name="adj" fmla="val 10399"/>
            </a:avLst>
          </a:prstGeom>
          <a:solidFill>
            <a:srgbClr val="FFFFFF"/>
          </a:solidFill>
          <a:ln w="19050" cap="flat" cmpd="sng">
            <a:solidFill>
              <a:srgbClr val="C0C0C0"/>
            </a:solidFill>
            <a:prstDash val="solid"/>
            <a:round/>
            <a:headEnd type="none" w="sm" len="sm"/>
            <a:tailEnd type="none" w="sm" len="sm"/>
          </a:ln>
        </p:spPr>
        <p:txBody>
          <a:bodyPr spcFirstLastPara="1" wrap="square" lIns="91425" tIns="91425" rIns="91425" bIns="91425" anchor="t" anchorCtr="0">
            <a:noAutofit/>
          </a:bodyPr>
          <a:lstStyle/>
          <a:p>
            <a:pPr marL="3714750" algn="ctr"/>
            <a:r>
              <a:rPr lang="en" sz="1600">
                <a:solidFill>
                  <a:srgbClr val="C0C0C0"/>
                </a:solidFill>
                <a:latin typeface="DM Sans Medium"/>
                <a:ea typeface="DM Sans Medium"/>
                <a:cs typeface="DM Sans Medium"/>
                <a:sym typeface="DM Sans Medium"/>
              </a:rPr>
              <a:t>                 Cloud Storage</a:t>
            </a:r>
            <a:endParaRPr sz="1600">
              <a:solidFill>
                <a:srgbClr val="C0C0C0"/>
              </a:solidFill>
              <a:latin typeface="DM Sans Medium"/>
              <a:ea typeface="DM Sans Medium"/>
              <a:cs typeface="DM Sans Medium"/>
              <a:sym typeface="DM Sans Medium"/>
            </a:endParaRPr>
          </a:p>
        </p:txBody>
      </p:sp>
      <p:sp>
        <p:nvSpPr>
          <p:cNvPr id="3380" name="Google Shape;3380;p475"/>
          <p:cNvSpPr txBox="1"/>
          <p:nvPr/>
        </p:nvSpPr>
        <p:spPr>
          <a:xfrm>
            <a:off x="10676893" y="5532560"/>
            <a:ext cx="1118400" cy="567900"/>
          </a:xfrm>
          <a:prstGeom prst="rect">
            <a:avLst/>
          </a:prstGeom>
          <a:noFill/>
          <a:ln>
            <a:noFill/>
          </a:ln>
        </p:spPr>
        <p:txBody>
          <a:bodyPr spcFirstLastPara="1" wrap="square" lIns="91425" tIns="91425" rIns="91425" bIns="91425" anchor="ctr" anchorCtr="0">
            <a:noAutofit/>
          </a:bodyPr>
          <a:lstStyle/>
          <a:p>
            <a:r>
              <a:rPr lang="en" sz="1600">
                <a:solidFill>
                  <a:schemeClr val="accent1"/>
                </a:solidFill>
                <a:latin typeface="DM Sans Medium"/>
                <a:ea typeface="DM Sans Medium"/>
                <a:cs typeface="DM Sans Medium"/>
                <a:sym typeface="DM Sans Medium"/>
              </a:rPr>
              <a:t>Storage</a:t>
            </a:r>
            <a:endParaRPr sz="1600">
              <a:solidFill>
                <a:schemeClr val="accent1"/>
              </a:solidFill>
              <a:latin typeface="DM Sans Medium"/>
              <a:ea typeface="DM Sans Medium"/>
              <a:cs typeface="DM Sans Medium"/>
              <a:sym typeface="DM Sans Medium"/>
            </a:endParaRPr>
          </a:p>
        </p:txBody>
      </p:sp>
      <p:sp>
        <p:nvSpPr>
          <p:cNvPr id="3381" name="Google Shape;3381;p475"/>
          <p:cNvSpPr/>
          <p:nvPr/>
        </p:nvSpPr>
        <p:spPr>
          <a:xfrm>
            <a:off x="745313" y="4604325"/>
            <a:ext cx="9860700" cy="664200"/>
          </a:xfrm>
          <a:prstGeom prst="roundRect">
            <a:avLst>
              <a:gd name="adj" fmla="val 14875"/>
            </a:avLst>
          </a:prstGeom>
          <a:solidFill>
            <a:srgbClr val="FFFFFF"/>
          </a:solidFill>
          <a:ln w="19050" cap="flat" cmpd="sng">
            <a:solidFill>
              <a:srgbClr val="C0C0C0"/>
            </a:solidFill>
            <a:prstDash val="solid"/>
            <a:round/>
            <a:headEnd type="none" w="sm" len="sm"/>
            <a:tailEnd type="none" w="sm" len="sm"/>
          </a:ln>
        </p:spPr>
        <p:txBody>
          <a:bodyPr spcFirstLastPara="1" wrap="square" lIns="0" tIns="91425" rIns="0" bIns="91425" anchor="ctr" anchorCtr="0">
            <a:noAutofit/>
          </a:bodyPr>
          <a:lstStyle/>
          <a:p>
            <a:pPr algn="ctr"/>
            <a:r>
              <a:rPr lang="en" sz="1600">
                <a:solidFill>
                  <a:srgbClr val="C0C0C0"/>
                </a:solidFill>
                <a:latin typeface="DM Sans Medium"/>
                <a:ea typeface="DM Sans Medium"/>
                <a:cs typeface="DM Sans Medium"/>
                <a:sym typeface="DM Sans Medium"/>
              </a:rPr>
              <a:t>Data Governance</a:t>
            </a:r>
            <a:endParaRPr sz="1600">
              <a:solidFill>
                <a:srgbClr val="C0C0C0"/>
              </a:solidFill>
              <a:latin typeface="DM Sans Medium"/>
              <a:ea typeface="DM Sans Medium"/>
              <a:cs typeface="DM Sans Medium"/>
              <a:sym typeface="DM Sans Medium"/>
            </a:endParaRPr>
          </a:p>
        </p:txBody>
      </p:sp>
      <p:sp>
        <p:nvSpPr>
          <p:cNvPr id="3382" name="Google Shape;3382;p475"/>
          <p:cNvSpPr/>
          <p:nvPr/>
        </p:nvSpPr>
        <p:spPr>
          <a:xfrm>
            <a:off x="3467813" y="2620625"/>
            <a:ext cx="3019200" cy="1884600"/>
          </a:xfrm>
          <a:prstGeom prst="roundRect">
            <a:avLst>
              <a:gd name="adj" fmla="val 7491"/>
            </a:avLst>
          </a:prstGeom>
          <a:solidFill>
            <a:srgbClr val="FFFFFF"/>
          </a:solidFill>
          <a:ln w="19050" cap="flat" cmpd="sng">
            <a:solidFill>
              <a:srgbClr val="C0C0C0"/>
            </a:solidFill>
            <a:prstDash val="solid"/>
            <a:round/>
            <a:headEnd type="none" w="sm" len="sm"/>
            <a:tailEnd type="none" w="sm" len="sm"/>
          </a:ln>
        </p:spPr>
        <p:txBody>
          <a:bodyPr spcFirstLastPara="1" wrap="square" lIns="91425" tIns="91425" rIns="91425" bIns="91425" anchor="ctr" anchorCtr="0">
            <a:noAutofit/>
          </a:bodyPr>
          <a:lstStyle/>
          <a:p>
            <a:pPr algn="ctr"/>
            <a:r>
              <a:rPr lang="en" sz="1600">
                <a:solidFill>
                  <a:srgbClr val="C0C0C0"/>
                </a:solidFill>
                <a:latin typeface="DM Sans Medium"/>
                <a:ea typeface="DM Sans Medium"/>
                <a:cs typeface="DM Sans Medium"/>
                <a:sym typeface="DM Sans Medium"/>
              </a:rPr>
              <a:t>Advanced Analytics, </a:t>
            </a:r>
            <a:br>
              <a:rPr lang="en" sz="1600">
                <a:solidFill>
                  <a:srgbClr val="C0C0C0"/>
                </a:solidFill>
                <a:latin typeface="DM Sans Medium"/>
                <a:ea typeface="DM Sans Medium"/>
                <a:cs typeface="DM Sans Medium"/>
                <a:sym typeface="DM Sans Medium"/>
              </a:rPr>
            </a:br>
            <a:r>
              <a:rPr lang="en" sz="1600">
                <a:solidFill>
                  <a:srgbClr val="C0C0C0"/>
                </a:solidFill>
                <a:latin typeface="DM Sans Medium"/>
                <a:ea typeface="DM Sans Medium"/>
                <a:cs typeface="DM Sans Medium"/>
                <a:sym typeface="DM Sans Medium"/>
              </a:rPr>
              <a:t>ML &amp; AI</a:t>
            </a:r>
            <a:endParaRPr sz="1600">
              <a:solidFill>
                <a:srgbClr val="C0C0C0"/>
              </a:solidFill>
              <a:latin typeface="DM Sans Medium"/>
              <a:ea typeface="DM Sans Medium"/>
              <a:cs typeface="DM Sans Medium"/>
              <a:sym typeface="DM Sans Medium"/>
            </a:endParaRPr>
          </a:p>
        </p:txBody>
      </p:sp>
      <p:sp>
        <p:nvSpPr>
          <p:cNvPr id="3383" name="Google Shape;3383;p475"/>
          <p:cNvSpPr txBox="1">
            <a:spLocks noGrp="1"/>
          </p:cNvSpPr>
          <p:nvPr>
            <p:ph type="title"/>
          </p:nvPr>
        </p:nvSpPr>
        <p:spPr>
          <a:xfrm>
            <a:off x="417084" y="593367"/>
            <a:ext cx="11358000" cy="763500"/>
          </a:xfrm>
          <a:prstGeom prst="rect">
            <a:avLst/>
          </a:prstGeom>
        </p:spPr>
        <p:txBody>
          <a:bodyPr spcFirstLastPara="1" vert="horz" wrap="square" lIns="0" tIns="0" rIns="0" bIns="0" rtlCol="0" anchor="ctr" anchorCtr="0">
            <a:noAutofit/>
          </a:bodyPr>
          <a:lstStyle/>
          <a:p>
            <a:r>
              <a:rPr lang="en" sz="3600"/>
              <a:t>Cloud Data Analytics Framework</a:t>
            </a:r>
            <a:endParaRPr sz="3600"/>
          </a:p>
        </p:txBody>
      </p:sp>
      <p:sp>
        <p:nvSpPr>
          <p:cNvPr id="3384" name="Google Shape;3384;p475"/>
          <p:cNvSpPr txBox="1">
            <a:spLocks noGrp="1"/>
          </p:cNvSpPr>
          <p:nvPr>
            <p:ph type="sldNum" idx="12"/>
          </p:nvPr>
        </p:nvSpPr>
        <p:spPr>
          <a:xfrm>
            <a:off x="11295372" y="6217622"/>
            <a:ext cx="731400" cy="524700"/>
          </a:xfrm>
          <a:prstGeom prst="rect">
            <a:avLst/>
          </a:prstGeom>
        </p:spPr>
        <p:txBody>
          <a:bodyPr spcFirstLastPara="1" vert="horz" wrap="square" lIns="121875" tIns="121875" rIns="121875" bIns="121875" rtlCol="0" anchor="t" anchorCtr="0">
            <a:noAutofit/>
          </a:bodyPr>
          <a:lstStyle/>
          <a:p>
            <a:fld id="{00000000-1234-1234-1234-123412341234}" type="slidenum">
              <a:rPr lang="en"/>
              <a:pPr/>
              <a:t>17</a:t>
            </a:fld>
            <a:endParaRPr/>
          </a:p>
        </p:txBody>
      </p:sp>
      <p:sp>
        <p:nvSpPr>
          <p:cNvPr id="3385" name="Google Shape;3385;p475"/>
          <p:cNvSpPr txBox="1"/>
          <p:nvPr/>
        </p:nvSpPr>
        <p:spPr>
          <a:xfrm>
            <a:off x="10676893" y="3225375"/>
            <a:ext cx="1055700" cy="567900"/>
          </a:xfrm>
          <a:prstGeom prst="rect">
            <a:avLst/>
          </a:prstGeom>
          <a:noFill/>
          <a:ln>
            <a:noFill/>
          </a:ln>
        </p:spPr>
        <p:txBody>
          <a:bodyPr spcFirstLastPara="1" wrap="square" lIns="91425" tIns="91425" rIns="91425" bIns="91425" anchor="ctr" anchorCtr="0">
            <a:noAutofit/>
          </a:bodyPr>
          <a:lstStyle/>
          <a:p>
            <a:r>
              <a:rPr lang="en" sz="1600">
                <a:solidFill>
                  <a:schemeClr val="accent1"/>
                </a:solidFill>
                <a:latin typeface="DM Sans Medium"/>
                <a:ea typeface="DM Sans Medium"/>
                <a:cs typeface="DM Sans Medium"/>
                <a:sym typeface="DM Sans Medium"/>
              </a:rPr>
              <a:t>Engine</a:t>
            </a:r>
            <a:endParaRPr sz="1600">
              <a:solidFill>
                <a:schemeClr val="accent1"/>
              </a:solidFill>
              <a:latin typeface="DM Sans Medium"/>
              <a:ea typeface="DM Sans Medium"/>
              <a:cs typeface="DM Sans Medium"/>
              <a:sym typeface="DM Sans Medium"/>
            </a:endParaRPr>
          </a:p>
        </p:txBody>
      </p:sp>
      <p:sp>
        <p:nvSpPr>
          <p:cNvPr id="3386" name="Google Shape;3386;p475"/>
          <p:cNvSpPr txBox="1"/>
          <p:nvPr/>
        </p:nvSpPr>
        <p:spPr>
          <a:xfrm rot="-690">
            <a:off x="10676892" y="1948301"/>
            <a:ext cx="1494000" cy="567900"/>
          </a:xfrm>
          <a:prstGeom prst="rect">
            <a:avLst/>
          </a:prstGeom>
          <a:noFill/>
          <a:ln>
            <a:noFill/>
          </a:ln>
        </p:spPr>
        <p:txBody>
          <a:bodyPr spcFirstLastPara="1" wrap="square" lIns="91425" tIns="91425" rIns="91425" bIns="91425" anchor="ctr" anchorCtr="0">
            <a:noAutofit/>
          </a:bodyPr>
          <a:lstStyle/>
          <a:p>
            <a:pPr algn="ctr"/>
            <a:r>
              <a:rPr lang="en" sz="1600">
                <a:solidFill>
                  <a:schemeClr val="accent1"/>
                </a:solidFill>
                <a:latin typeface="DM Sans Medium"/>
                <a:ea typeface="DM Sans Medium"/>
                <a:cs typeface="DM Sans Medium"/>
                <a:sym typeface="DM Sans Medium"/>
              </a:rPr>
              <a:t>Consumption</a:t>
            </a:r>
            <a:endParaRPr sz="1600">
              <a:solidFill>
                <a:schemeClr val="accent1"/>
              </a:solidFill>
              <a:latin typeface="DM Sans Medium"/>
              <a:ea typeface="DM Sans Medium"/>
              <a:cs typeface="DM Sans Medium"/>
              <a:sym typeface="DM Sans Medium"/>
            </a:endParaRPr>
          </a:p>
        </p:txBody>
      </p:sp>
      <p:sp>
        <p:nvSpPr>
          <p:cNvPr id="3387" name="Google Shape;3387;p475"/>
          <p:cNvSpPr/>
          <p:nvPr/>
        </p:nvSpPr>
        <p:spPr>
          <a:xfrm>
            <a:off x="2050438" y="2614026"/>
            <a:ext cx="1327200" cy="1891200"/>
          </a:xfrm>
          <a:prstGeom prst="roundRect">
            <a:avLst>
              <a:gd name="adj" fmla="val 7335"/>
            </a:avLst>
          </a:prstGeom>
          <a:solidFill>
            <a:srgbClr val="FFFFFF"/>
          </a:solidFill>
          <a:ln w="19050" cap="flat" cmpd="sng">
            <a:solidFill>
              <a:srgbClr val="C0C0C0"/>
            </a:solidFill>
            <a:prstDash val="solid"/>
            <a:round/>
            <a:headEnd type="none" w="sm" len="sm"/>
            <a:tailEnd type="none" w="sm" len="sm"/>
          </a:ln>
        </p:spPr>
        <p:txBody>
          <a:bodyPr spcFirstLastPara="1" wrap="square" lIns="91425" tIns="91425" rIns="91425" bIns="91425" anchor="ctr" anchorCtr="0">
            <a:noAutofit/>
          </a:bodyPr>
          <a:lstStyle/>
          <a:p>
            <a:pPr algn="ctr"/>
            <a:r>
              <a:rPr lang="en" sz="1600">
                <a:solidFill>
                  <a:srgbClr val="C0C0C0"/>
                </a:solidFill>
                <a:latin typeface="DM Sans Medium"/>
                <a:ea typeface="DM Sans Medium"/>
                <a:cs typeface="DM Sans Medium"/>
                <a:sym typeface="DM Sans Medium"/>
              </a:rPr>
              <a:t>Ingest &amp; Transform</a:t>
            </a:r>
            <a:endParaRPr sz="1600">
              <a:solidFill>
                <a:srgbClr val="C0C0C0"/>
              </a:solidFill>
              <a:latin typeface="DM Sans Medium"/>
              <a:ea typeface="DM Sans Medium"/>
              <a:cs typeface="DM Sans Medium"/>
              <a:sym typeface="DM Sans Medium"/>
            </a:endParaRPr>
          </a:p>
        </p:txBody>
      </p:sp>
      <p:sp>
        <p:nvSpPr>
          <p:cNvPr id="3388" name="Google Shape;3388;p475"/>
          <p:cNvSpPr txBox="1"/>
          <p:nvPr/>
        </p:nvSpPr>
        <p:spPr>
          <a:xfrm>
            <a:off x="10676893" y="4642514"/>
            <a:ext cx="1412700" cy="567900"/>
          </a:xfrm>
          <a:prstGeom prst="rect">
            <a:avLst/>
          </a:prstGeom>
          <a:noFill/>
          <a:ln>
            <a:noFill/>
          </a:ln>
        </p:spPr>
        <p:txBody>
          <a:bodyPr spcFirstLastPara="1" wrap="square" lIns="91425" tIns="91425" rIns="91425" bIns="91425" anchor="ctr" anchorCtr="0">
            <a:noAutofit/>
          </a:bodyPr>
          <a:lstStyle/>
          <a:p>
            <a:pPr algn="ctr"/>
            <a:r>
              <a:rPr lang="en" sz="1600">
                <a:solidFill>
                  <a:schemeClr val="accent1"/>
                </a:solidFill>
                <a:latin typeface="DM Sans Medium"/>
                <a:ea typeface="DM Sans Medium"/>
                <a:cs typeface="DM Sans Medium"/>
                <a:sym typeface="DM Sans Medium"/>
              </a:rPr>
              <a:t>Governance</a:t>
            </a:r>
            <a:endParaRPr sz="1600">
              <a:solidFill>
                <a:schemeClr val="accent1"/>
              </a:solidFill>
              <a:latin typeface="DM Sans Medium"/>
              <a:ea typeface="DM Sans Medium"/>
              <a:cs typeface="DM Sans Medium"/>
              <a:sym typeface="DM Sans Medium"/>
            </a:endParaRPr>
          </a:p>
        </p:txBody>
      </p:sp>
      <p:sp>
        <p:nvSpPr>
          <p:cNvPr id="3389" name="Google Shape;3389;p475"/>
          <p:cNvSpPr/>
          <p:nvPr/>
        </p:nvSpPr>
        <p:spPr>
          <a:xfrm>
            <a:off x="738663" y="2614026"/>
            <a:ext cx="1221600" cy="1891200"/>
          </a:xfrm>
          <a:prstGeom prst="roundRect">
            <a:avLst>
              <a:gd name="adj" fmla="val 7335"/>
            </a:avLst>
          </a:prstGeom>
          <a:solidFill>
            <a:srgbClr val="FFFFFF"/>
          </a:solidFill>
          <a:ln w="19050" cap="flat" cmpd="sng">
            <a:solidFill>
              <a:srgbClr val="C0C0C0"/>
            </a:solidFill>
            <a:prstDash val="solid"/>
            <a:round/>
            <a:headEnd type="none" w="sm" len="sm"/>
            <a:tailEnd type="none" w="sm" len="sm"/>
          </a:ln>
        </p:spPr>
        <p:txBody>
          <a:bodyPr spcFirstLastPara="1" wrap="square" lIns="0" tIns="91425" rIns="0" bIns="91425" anchor="ctr" anchorCtr="0">
            <a:noAutofit/>
          </a:bodyPr>
          <a:lstStyle/>
          <a:p>
            <a:pPr algn="ctr"/>
            <a:r>
              <a:rPr lang="en" sz="1600">
                <a:solidFill>
                  <a:srgbClr val="C0C0C0"/>
                </a:solidFill>
                <a:latin typeface="DM Sans Medium"/>
                <a:ea typeface="DM Sans Medium"/>
                <a:cs typeface="DM Sans Medium"/>
                <a:sym typeface="DM Sans Medium"/>
              </a:rPr>
              <a:t>Workflow</a:t>
            </a:r>
            <a:br>
              <a:rPr lang="en" sz="1600">
                <a:solidFill>
                  <a:srgbClr val="C0C0C0"/>
                </a:solidFill>
                <a:latin typeface="DM Sans Medium"/>
                <a:ea typeface="DM Sans Medium"/>
                <a:cs typeface="DM Sans Medium"/>
                <a:sym typeface="DM Sans Medium"/>
              </a:rPr>
            </a:br>
            <a:r>
              <a:rPr lang="en" sz="1600">
                <a:solidFill>
                  <a:srgbClr val="C0C0C0"/>
                </a:solidFill>
                <a:latin typeface="DM Sans Medium"/>
                <a:ea typeface="DM Sans Medium"/>
                <a:cs typeface="DM Sans Medium"/>
                <a:sym typeface="DM Sans Medium"/>
              </a:rPr>
              <a:t>Mgmt</a:t>
            </a:r>
            <a:endParaRPr sz="1600">
              <a:solidFill>
                <a:srgbClr val="C0C0C0"/>
              </a:solidFill>
              <a:latin typeface="DM Sans Medium"/>
              <a:ea typeface="DM Sans Medium"/>
              <a:cs typeface="DM Sans Medium"/>
              <a:sym typeface="DM Sans Medium"/>
            </a:endParaRPr>
          </a:p>
        </p:txBody>
      </p:sp>
      <p:sp>
        <p:nvSpPr>
          <p:cNvPr id="3390" name="Google Shape;3390;p475"/>
          <p:cNvSpPr/>
          <p:nvPr/>
        </p:nvSpPr>
        <p:spPr>
          <a:xfrm>
            <a:off x="738663" y="1941025"/>
            <a:ext cx="5748300" cy="580500"/>
          </a:xfrm>
          <a:prstGeom prst="roundRect">
            <a:avLst>
              <a:gd name="adj" fmla="val 16667"/>
            </a:avLst>
          </a:prstGeom>
          <a:solidFill>
            <a:srgbClr val="FFFFFF"/>
          </a:solidFill>
          <a:ln w="19050" cap="flat" cmpd="sng">
            <a:solidFill>
              <a:srgbClr val="C0C0C0"/>
            </a:solidFill>
            <a:prstDash val="solid"/>
            <a:round/>
            <a:headEnd type="none" w="sm" len="sm"/>
            <a:tailEnd type="none" w="sm" len="sm"/>
          </a:ln>
        </p:spPr>
        <p:txBody>
          <a:bodyPr spcFirstLastPara="1" wrap="square" lIns="91425" tIns="91425" rIns="91425" bIns="91425" anchor="ctr" anchorCtr="0">
            <a:noAutofit/>
          </a:bodyPr>
          <a:lstStyle/>
          <a:p>
            <a:pPr marR="1056937" algn="ctr">
              <a:lnSpc>
                <a:spcPct val="90000"/>
              </a:lnSpc>
            </a:pPr>
            <a:r>
              <a:rPr lang="en" sz="1600">
                <a:solidFill>
                  <a:srgbClr val="C0C0C0"/>
                </a:solidFill>
                <a:latin typeface="DM Sans Medium"/>
                <a:ea typeface="DM Sans Medium"/>
                <a:cs typeface="DM Sans Medium"/>
                <a:sym typeface="DM Sans Medium"/>
              </a:rPr>
              <a:t>ETL &amp; DS tools</a:t>
            </a:r>
            <a:endParaRPr sz="1600">
              <a:solidFill>
                <a:srgbClr val="C0C0C0"/>
              </a:solidFill>
              <a:latin typeface="DM Sans Medium"/>
              <a:ea typeface="DM Sans Medium"/>
              <a:cs typeface="DM Sans Medium"/>
              <a:sym typeface="DM Sans Medium"/>
            </a:endParaRPr>
          </a:p>
        </p:txBody>
      </p:sp>
      <p:grpSp>
        <p:nvGrpSpPr>
          <p:cNvPr id="3391" name="Google Shape;3391;p475"/>
          <p:cNvGrpSpPr/>
          <p:nvPr/>
        </p:nvGrpSpPr>
        <p:grpSpPr>
          <a:xfrm>
            <a:off x="9144332" y="5617087"/>
            <a:ext cx="987900" cy="387600"/>
            <a:chOff x="8958025" y="5604550"/>
            <a:chExt cx="987900" cy="387600"/>
          </a:xfrm>
        </p:grpSpPr>
        <p:sp>
          <p:nvSpPr>
            <p:cNvPr id="3392" name="Google Shape;3392;p475"/>
            <p:cNvSpPr/>
            <p:nvPr/>
          </p:nvSpPr>
          <p:spPr>
            <a:xfrm>
              <a:off x="8960604" y="5606500"/>
              <a:ext cx="975000" cy="383700"/>
            </a:xfrm>
            <a:prstGeom prst="roundRect">
              <a:avLst>
                <a:gd name="adj" fmla="val 16667"/>
              </a:avLst>
            </a:prstGeom>
            <a:solidFill>
              <a:srgbClr val="FFFFFF"/>
            </a:solidFill>
            <a:ln w="9525" cap="flat" cmpd="sng">
              <a:solidFill>
                <a:schemeClr val="accent5"/>
              </a:solidFill>
              <a:prstDash val="solid"/>
              <a:round/>
              <a:headEnd type="none" w="sm" len="sm"/>
              <a:tailEnd type="none" w="sm" len="sm"/>
            </a:ln>
          </p:spPr>
          <p:txBody>
            <a:bodyPr spcFirstLastPara="1" wrap="square" lIns="0" tIns="91425" rIns="0" bIns="91425" anchor="ctr" anchorCtr="0">
              <a:noAutofit/>
            </a:bodyPr>
            <a:lstStyle/>
            <a:p>
              <a:pPr algn="ctr"/>
              <a:r>
                <a:rPr lang="en" sz="1200">
                  <a:solidFill>
                    <a:schemeClr val="accent5"/>
                  </a:solidFill>
                  <a:latin typeface="DM Sans"/>
                  <a:ea typeface="DM Sans"/>
                  <a:cs typeface="DM Sans"/>
                  <a:sym typeface="DM Sans"/>
                </a:rPr>
                <a:t>Proprietary DWH files</a:t>
              </a:r>
              <a:endParaRPr sz="1200">
                <a:solidFill>
                  <a:schemeClr val="accent5"/>
                </a:solidFill>
                <a:latin typeface="DM Sans"/>
                <a:ea typeface="DM Sans"/>
                <a:cs typeface="DM Sans"/>
                <a:sym typeface="DM Sans"/>
              </a:endParaRPr>
            </a:p>
          </p:txBody>
        </p:sp>
        <p:cxnSp>
          <p:nvCxnSpPr>
            <p:cNvPr id="3393" name="Google Shape;3393;p475"/>
            <p:cNvCxnSpPr/>
            <p:nvPr/>
          </p:nvCxnSpPr>
          <p:spPr>
            <a:xfrm>
              <a:off x="8958025" y="5604550"/>
              <a:ext cx="987900" cy="387600"/>
            </a:xfrm>
            <a:prstGeom prst="straightConnector1">
              <a:avLst/>
            </a:prstGeom>
            <a:noFill/>
            <a:ln w="19050" cap="flat" cmpd="sng">
              <a:solidFill>
                <a:schemeClr val="dk2"/>
              </a:solidFill>
              <a:prstDash val="solid"/>
              <a:round/>
              <a:headEnd type="none" w="med" len="med"/>
              <a:tailEnd type="none" w="med" len="med"/>
            </a:ln>
          </p:spPr>
        </p:cxnSp>
      </p:grpSp>
      <p:grpSp>
        <p:nvGrpSpPr>
          <p:cNvPr id="3394" name="Google Shape;3394;p475"/>
          <p:cNvGrpSpPr/>
          <p:nvPr/>
        </p:nvGrpSpPr>
        <p:grpSpPr>
          <a:xfrm>
            <a:off x="2114776" y="2648017"/>
            <a:ext cx="1284465" cy="517200"/>
            <a:chOff x="2113187" y="2648017"/>
            <a:chExt cx="1284465" cy="517200"/>
          </a:xfrm>
        </p:grpSpPr>
        <p:pic>
          <p:nvPicPr>
            <p:cNvPr id="3395" name="Google Shape;3395;p475"/>
            <p:cNvPicPr preferRelativeResize="0"/>
            <p:nvPr/>
          </p:nvPicPr>
          <p:blipFill rotWithShape="1">
            <a:blip r:embed="rId3">
              <a:alphaModFix/>
            </a:blip>
            <a:srcRect r="83267"/>
            <a:stretch/>
          </p:blipFill>
          <p:spPr>
            <a:xfrm>
              <a:off x="2113187" y="2769147"/>
              <a:ext cx="295938" cy="274071"/>
            </a:xfrm>
            <a:prstGeom prst="rect">
              <a:avLst/>
            </a:prstGeom>
            <a:noFill/>
            <a:ln>
              <a:noFill/>
            </a:ln>
          </p:spPr>
        </p:pic>
        <p:sp>
          <p:nvSpPr>
            <p:cNvPr id="3396" name="Google Shape;3396;p475"/>
            <p:cNvSpPr txBox="1"/>
            <p:nvPr/>
          </p:nvSpPr>
          <p:spPr>
            <a:xfrm>
              <a:off x="2254052" y="2648017"/>
              <a:ext cx="1143600" cy="517200"/>
            </a:xfrm>
            <a:prstGeom prst="rect">
              <a:avLst/>
            </a:prstGeom>
            <a:noFill/>
            <a:ln>
              <a:noFill/>
            </a:ln>
          </p:spPr>
          <p:txBody>
            <a:bodyPr spcFirstLastPara="1" wrap="square" lIns="91425" tIns="91425" rIns="0" bIns="91425" anchor="t" anchorCtr="0">
              <a:spAutoFit/>
            </a:bodyPr>
            <a:lstStyle/>
            <a:p>
              <a:pPr algn="ctr">
                <a:lnSpc>
                  <a:spcPct val="90000"/>
                </a:lnSpc>
              </a:pPr>
              <a:r>
                <a:rPr lang="en" sz="1200">
                  <a:solidFill>
                    <a:schemeClr val="accent1"/>
                  </a:solidFill>
                  <a:latin typeface="DM Sans Medium"/>
                  <a:ea typeface="DM Sans Medium"/>
                  <a:cs typeface="DM Sans Medium"/>
                  <a:sym typeface="DM Sans Medium"/>
                </a:rPr>
                <a:t>Auto Loader, DLT</a:t>
              </a:r>
              <a:endParaRPr sz="1200">
                <a:solidFill>
                  <a:schemeClr val="accent1"/>
                </a:solidFill>
                <a:latin typeface="DM Sans Medium"/>
                <a:ea typeface="DM Sans Medium"/>
                <a:cs typeface="DM Sans Medium"/>
                <a:sym typeface="DM Sans Medium"/>
              </a:endParaRPr>
            </a:p>
          </p:txBody>
        </p:sp>
      </p:grpSp>
      <p:grpSp>
        <p:nvGrpSpPr>
          <p:cNvPr id="3397" name="Google Shape;3397;p475"/>
          <p:cNvGrpSpPr/>
          <p:nvPr/>
        </p:nvGrpSpPr>
        <p:grpSpPr>
          <a:xfrm>
            <a:off x="6682060" y="2052162"/>
            <a:ext cx="1003778" cy="397200"/>
            <a:chOff x="7518672" y="2052162"/>
            <a:chExt cx="1003778" cy="397200"/>
          </a:xfrm>
        </p:grpSpPr>
        <p:sp>
          <p:nvSpPr>
            <p:cNvPr id="3398" name="Google Shape;3398;p475"/>
            <p:cNvSpPr txBox="1"/>
            <p:nvPr/>
          </p:nvSpPr>
          <p:spPr>
            <a:xfrm>
              <a:off x="7761950" y="2052162"/>
              <a:ext cx="760500" cy="397200"/>
            </a:xfrm>
            <a:prstGeom prst="rect">
              <a:avLst/>
            </a:prstGeom>
            <a:noFill/>
            <a:ln>
              <a:noFill/>
            </a:ln>
          </p:spPr>
          <p:txBody>
            <a:bodyPr spcFirstLastPara="1" wrap="square" lIns="91425" tIns="91425" rIns="91425" bIns="91425" anchor="ctr" anchorCtr="0">
              <a:noAutofit/>
            </a:bodyPr>
            <a:lstStyle/>
            <a:p>
              <a:pPr>
                <a:lnSpc>
                  <a:spcPct val="90000"/>
                </a:lnSpc>
              </a:pPr>
              <a:r>
                <a:rPr lang="en" sz="1200">
                  <a:solidFill>
                    <a:schemeClr val="accent1"/>
                  </a:solidFill>
                  <a:latin typeface="DM Sans Medium"/>
                  <a:ea typeface="DM Sans Medium"/>
                  <a:cs typeface="DM Sans Medium"/>
                  <a:sym typeface="DM Sans Medium"/>
                </a:rPr>
                <a:t>SQL </a:t>
              </a:r>
              <a:br>
                <a:rPr lang="en" sz="1200">
                  <a:solidFill>
                    <a:schemeClr val="accent1"/>
                  </a:solidFill>
                  <a:latin typeface="DM Sans Medium"/>
                  <a:ea typeface="DM Sans Medium"/>
                  <a:cs typeface="DM Sans Medium"/>
                  <a:sym typeface="DM Sans Medium"/>
                </a:rPr>
              </a:br>
              <a:r>
                <a:rPr lang="en" sz="1200">
                  <a:solidFill>
                    <a:schemeClr val="accent1"/>
                  </a:solidFill>
                  <a:latin typeface="DM Sans Medium"/>
                  <a:ea typeface="DM Sans Medium"/>
                  <a:cs typeface="DM Sans Medium"/>
                  <a:sym typeface="DM Sans Medium"/>
                </a:rPr>
                <a:t>Editor</a:t>
              </a:r>
              <a:endParaRPr sz="1200">
                <a:solidFill>
                  <a:schemeClr val="accent1"/>
                </a:solidFill>
                <a:latin typeface="DM Sans Medium"/>
                <a:ea typeface="DM Sans Medium"/>
                <a:cs typeface="DM Sans Medium"/>
                <a:sym typeface="DM Sans Medium"/>
              </a:endParaRPr>
            </a:p>
          </p:txBody>
        </p:sp>
        <p:pic>
          <p:nvPicPr>
            <p:cNvPr id="3399" name="Google Shape;3399;p475"/>
            <p:cNvPicPr preferRelativeResize="0"/>
            <p:nvPr/>
          </p:nvPicPr>
          <p:blipFill rotWithShape="1">
            <a:blip r:embed="rId3">
              <a:alphaModFix/>
            </a:blip>
            <a:srcRect r="83267"/>
            <a:stretch/>
          </p:blipFill>
          <p:spPr>
            <a:xfrm>
              <a:off x="7518672" y="2113714"/>
              <a:ext cx="295938" cy="274071"/>
            </a:xfrm>
            <a:prstGeom prst="rect">
              <a:avLst/>
            </a:prstGeom>
            <a:noFill/>
            <a:ln>
              <a:noFill/>
            </a:ln>
          </p:spPr>
        </p:pic>
      </p:grpSp>
      <p:grpSp>
        <p:nvGrpSpPr>
          <p:cNvPr id="3400" name="Google Shape;3400;p475"/>
          <p:cNvGrpSpPr/>
          <p:nvPr/>
        </p:nvGrpSpPr>
        <p:grpSpPr>
          <a:xfrm>
            <a:off x="812564" y="2633234"/>
            <a:ext cx="1114310" cy="738633"/>
            <a:chOff x="810976" y="2633233"/>
            <a:chExt cx="1114310" cy="738633"/>
          </a:xfrm>
        </p:grpSpPr>
        <p:pic>
          <p:nvPicPr>
            <p:cNvPr id="3401" name="Google Shape;3401;p475"/>
            <p:cNvPicPr preferRelativeResize="0"/>
            <p:nvPr/>
          </p:nvPicPr>
          <p:blipFill rotWithShape="1">
            <a:blip r:embed="rId3">
              <a:alphaModFix/>
            </a:blip>
            <a:srcRect r="83267"/>
            <a:stretch/>
          </p:blipFill>
          <p:spPr>
            <a:xfrm>
              <a:off x="810976" y="2764283"/>
              <a:ext cx="295938" cy="274071"/>
            </a:xfrm>
            <a:prstGeom prst="rect">
              <a:avLst/>
            </a:prstGeom>
            <a:noFill/>
            <a:ln>
              <a:noFill/>
            </a:ln>
          </p:spPr>
        </p:pic>
        <p:sp>
          <p:nvSpPr>
            <p:cNvPr id="3402" name="Google Shape;3402;p475"/>
            <p:cNvSpPr txBox="1"/>
            <p:nvPr/>
          </p:nvSpPr>
          <p:spPr>
            <a:xfrm>
              <a:off x="1026186" y="2633233"/>
              <a:ext cx="899100" cy="738633"/>
            </a:xfrm>
            <a:prstGeom prst="rect">
              <a:avLst/>
            </a:prstGeom>
            <a:noFill/>
            <a:ln>
              <a:noFill/>
            </a:ln>
          </p:spPr>
          <p:txBody>
            <a:bodyPr spcFirstLastPara="1" wrap="square" lIns="91425" tIns="91425" rIns="0" bIns="91425" anchor="t" anchorCtr="0">
              <a:spAutoFit/>
            </a:bodyPr>
            <a:lstStyle/>
            <a:p>
              <a:r>
                <a:rPr lang="en" sz="1200">
                  <a:solidFill>
                    <a:schemeClr val="accent1"/>
                  </a:solidFill>
                  <a:latin typeface="DM Sans Medium"/>
                  <a:ea typeface="DM Sans Medium"/>
                  <a:cs typeface="DM Sans Medium"/>
                  <a:sym typeface="DM Sans Medium"/>
                </a:rPr>
                <a:t>Workflows</a:t>
              </a:r>
              <a:br>
                <a:rPr lang="en" sz="1200">
                  <a:solidFill>
                    <a:schemeClr val="accent1"/>
                  </a:solidFill>
                  <a:latin typeface="DM Sans Medium"/>
                  <a:ea typeface="DM Sans Medium"/>
                  <a:cs typeface="DM Sans Medium"/>
                  <a:sym typeface="DM Sans Medium"/>
                </a:rPr>
              </a:br>
              <a:r>
                <a:rPr lang="en" sz="1200">
                  <a:solidFill>
                    <a:schemeClr val="accent1"/>
                  </a:solidFill>
                  <a:latin typeface="DM Sans Medium"/>
                  <a:ea typeface="DM Sans Medium"/>
                  <a:cs typeface="DM Sans Medium"/>
                  <a:sym typeface="DM Sans Medium"/>
                </a:rPr>
                <a:t>(Jobs, DLT)</a:t>
              </a:r>
              <a:endParaRPr sz="1200">
                <a:solidFill>
                  <a:schemeClr val="accent1"/>
                </a:solidFill>
                <a:latin typeface="DM Sans Medium"/>
                <a:ea typeface="DM Sans Medium"/>
                <a:cs typeface="DM Sans Medium"/>
                <a:sym typeface="DM Sans Medium"/>
              </a:endParaRPr>
            </a:p>
          </p:txBody>
        </p:sp>
      </p:grpSp>
      <p:grpSp>
        <p:nvGrpSpPr>
          <p:cNvPr id="3403" name="Google Shape;3403;p475"/>
          <p:cNvGrpSpPr/>
          <p:nvPr/>
        </p:nvGrpSpPr>
        <p:grpSpPr>
          <a:xfrm>
            <a:off x="1180075" y="2059767"/>
            <a:ext cx="4083351" cy="305575"/>
            <a:chOff x="1178486" y="2059766"/>
            <a:chExt cx="4083351" cy="305575"/>
          </a:xfrm>
        </p:grpSpPr>
        <p:pic>
          <p:nvPicPr>
            <p:cNvPr id="3404" name="Google Shape;3404;p475"/>
            <p:cNvPicPr preferRelativeResize="0"/>
            <p:nvPr/>
          </p:nvPicPr>
          <p:blipFill rotWithShape="1">
            <a:blip r:embed="rId3">
              <a:alphaModFix/>
            </a:blip>
            <a:srcRect r="83267"/>
            <a:stretch/>
          </p:blipFill>
          <p:spPr>
            <a:xfrm>
              <a:off x="4061847" y="2079356"/>
              <a:ext cx="295938" cy="274071"/>
            </a:xfrm>
            <a:prstGeom prst="rect">
              <a:avLst/>
            </a:prstGeom>
            <a:noFill/>
            <a:ln>
              <a:noFill/>
            </a:ln>
          </p:spPr>
        </p:pic>
        <p:sp>
          <p:nvSpPr>
            <p:cNvPr id="3405" name="Google Shape;3405;p475"/>
            <p:cNvSpPr txBox="1"/>
            <p:nvPr/>
          </p:nvSpPr>
          <p:spPr>
            <a:xfrm>
              <a:off x="4288937" y="2067441"/>
              <a:ext cx="972900" cy="297900"/>
            </a:xfrm>
            <a:prstGeom prst="rect">
              <a:avLst/>
            </a:prstGeom>
            <a:noFill/>
            <a:ln>
              <a:noFill/>
            </a:ln>
          </p:spPr>
          <p:txBody>
            <a:bodyPr spcFirstLastPara="1" wrap="square" lIns="91425" tIns="91425" rIns="91425" bIns="91425" anchor="ctr" anchorCtr="0">
              <a:noAutofit/>
            </a:bodyPr>
            <a:lstStyle/>
            <a:p>
              <a:r>
                <a:rPr lang="en" sz="1200">
                  <a:solidFill>
                    <a:schemeClr val="accent1"/>
                  </a:solidFill>
                  <a:latin typeface="DM Sans Medium"/>
                  <a:ea typeface="DM Sans Medium"/>
                  <a:cs typeface="DM Sans Medium"/>
                  <a:sym typeface="DM Sans Medium"/>
                </a:rPr>
                <a:t>Notebooks</a:t>
              </a:r>
              <a:endParaRPr sz="1200">
                <a:solidFill>
                  <a:schemeClr val="accent1"/>
                </a:solidFill>
                <a:latin typeface="DM Sans Medium"/>
                <a:ea typeface="DM Sans Medium"/>
                <a:cs typeface="DM Sans Medium"/>
                <a:sym typeface="DM Sans Medium"/>
              </a:endParaRPr>
            </a:p>
          </p:txBody>
        </p:sp>
        <p:pic>
          <p:nvPicPr>
            <p:cNvPr id="3406" name="Google Shape;3406;p475"/>
            <p:cNvPicPr preferRelativeResize="0"/>
            <p:nvPr/>
          </p:nvPicPr>
          <p:blipFill rotWithShape="1">
            <a:blip r:embed="rId3">
              <a:alphaModFix/>
            </a:blip>
            <a:srcRect r="83267"/>
            <a:stretch/>
          </p:blipFill>
          <p:spPr>
            <a:xfrm>
              <a:off x="1178486" y="2079356"/>
              <a:ext cx="295938" cy="274071"/>
            </a:xfrm>
            <a:prstGeom prst="rect">
              <a:avLst/>
            </a:prstGeom>
            <a:noFill/>
            <a:ln>
              <a:noFill/>
            </a:ln>
          </p:spPr>
        </p:pic>
        <p:sp>
          <p:nvSpPr>
            <p:cNvPr id="3407" name="Google Shape;3407;p475"/>
            <p:cNvSpPr txBox="1"/>
            <p:nvPr/>
          </p:nvSpPr>
          <p:spPr>
            <a:xfrm>
              <a:off x="1490094" y="2059766"/>
              <a:ext cx="972900" cy="297900"/>
            </a:xfrm>
            <a:prstGeom prst="rect">
              <a:avLst/>
            </a:prstGeom>
            <a:noFill/>
            <a:ln>
              <a:noFill/>
            </a:ln>
          </p:spPr>
          <p:txBody>
            <a:bodyPr spcFirstLastPara="1" wrap="square" lIns="91425" tIns="91425" rIns="91425" bIns="91425" anchor="ctr" anchorCtr="0">
              <a:noAutofit/>
            </a:bodyPr>
            <a:lstStyle/>
            <a:p>
              <a:pPr>
                <a:lnSpc>
                  <a:spcPct val="90000"/>
                </a:lnSpc>
              </a:pPr>
              <a:r>
                <a:rPr lang="en" sz="1200">
                  <a:solidFill>
                    <a:schemeClr val="accent1"/>
                  </a:solidFill>
                  <a:latin typeface="DM Sans Medium"/>
                  <a:ea typeface="DM Sans Medium"/>
                  <a:cs typeface="DM Sans Medium"/>
                  <a:sym typeface="DM Sans Medium"/>
                </a:rPr>
                <a:t>IDE support</a:t>
              </a:r>
              <a:endParaRPr sz="1200">
                <a:solidFill>
                  <a:schemeClr val="accent1"/>
                </a:solidFill>
                <a:latin typeface="DM Sans Medium"/>
                <a:ea typeface="DM Sans Medium"/>
                <a:cs typeface="DM Sans Medium"/>
                <a:sym typeface="DM Sans Medium"/>
              </a:endParaRPr>
            </a:p>
          </p:txBody>
        </p:sp>
      </p:grpSp>
      <p:pic>
        <p:nvPicPr>
          <p:cNvPr id="3408" name="Google Shape;3408;p475"/>
          <p:cNvPicPr preferRelativeResize="0"/>
          <p:nvPr/>
        </p:nvPicPr>
        <p:blipFill rotWithShape="1">
          <a:blip r:embed="rId4">
            <a:alphaModFix/>
          </a:blip>
          <a:srcRect/>
          <a:stretch/>
        </p:blipFill>
        <p:spPr>
          <a:xfrm>
            <a:off x="5477990" y="2105615"/>
            <a:ext cx="622499" cy="227205"/>
          </a:xfrm>
          <a:prstGeom prst="rect">
            <a:avLst/>
          </a:prstGeom>
          <a:noFill/>
          <a:ln>
            <a:noFill/>
          </a:ln>
        </p:spPr>
      </p:pic>
      <p:grpSp>
        <p:nvGrpSpPr>
          <p:cNvPr id="3409" name="Google Shape;3409;p475"/>
          <p:cNvGrpSpPr/>
          <p:nvPr/>
        </p:nvGrpSpPr>
        <p:grpSpPr>
          <a:xfrm>
            <a:off x="3061236" y="4747426"/>
            <a:ext cx="1072952" cy="334791"/>
            <a:chOff x="3059648" y="4747425"/>
            <a:chExt cx="1072952" cy="334791"/>
          </a:xfrm>
        </p:grpSpPr>
        <p:sp>
          <p:nvSpPr>
            <p:cNvPr id="3410" name="Google Shape;3410;p475"/>
            <p:cNvSpPr txBox="1"/>
            <p:nvPr/>
          </p:nvSpPr>
          <p:spPr>
            <a:xfrm>
              <a:off x="3354700" y="4747425"/>
              <a:ext cx="777900" cy="320100"/>
            </a:xfrm>
            <a:prstGeom prst="rect">
              <a:avLst/>
            </a:prstGeom>
            <a:noFill/>
            <a:ln>
              <a:noFill/>
            </a:ln>
          </p:spPr>
          <p:txBody>
            <a:bodyPr spcFirstLastPara="1" wrap="square" lIns="91425" tIns="91425" rIns="91425" bIns="91425" anchor="ctr" anchorCtr="0">
              <a:noAutofit/>
            </a:bodyPr>
            <a:lstStyle/>
            <a:p>
              <a:pPr>
                <a:lnSpc>
                  <a:spcPct val="90000"/>
                </a:lnSpc>
              </a:pPr>
              <a:r>
                <a:rPr lang="en" sz="1200">
                  <a:solidFill>
                    <a:schemeClr val="accent1"/>
                  </a:solidFill>
                  <a:latin typeface="DM Sans Medium"/>
                  <a:ea typeface="DM Sans Medium"/>
                  <a:cs typeface="DM Sans Medium"/>
                  <a:sym typeface="DM Sans Medium"/>
                </a:rPr>
                <a:t>Unity Catalog</a:t>
              </a:r>
              <a:endParaRPr sz="1200">
                <a:solidFill>
                  <a:schemeClr val="accent1"/>
                </a:solidFill>
                <a:latin typeface="DM Sans Medium"/>
                <a:ea typeface="DM Sans Medium"/>
                <a:cs typeface="DM Sans Medium"/>
                <a:sym typeface="DM Sans Medium"/>
              </a:endParaRPr>
            </a:p>
          </p:txBody>
        </p:sp>
        <p:pic>
          <p:nvPicPr>
            <p:cNvPr id="3411" name="Google Shape;3411;p475"/>
            <p:cNvPicPr preferRelativeResize="0"/>
            <p:nvPr/>
          </p:nvPicPr>
          <p:blipFill rotWithShape="1">
            <a:blip r:embed="rId5">
              <a:alphaModFix/>
            </a:blip>
            <a:srcRect l="35697" t="1574" r="34967" b="40741"/>
            <a:stretch/>
          </p:blipFill>
          <p:spPr>
            <a:xfrm>
              <a:off x="3059648" y="4758490"/>
              <a:ext cx="335075" cy="323726"/>
            </a:xfrm>
            <a:prstGeom prst="rect">
              <a:avLst/>
            </a:prstGeom>
            <a:noFill/>
            <a:ln>
              <a:noFill/>
            </a:ln>
          </p:spPr>
        </p:pic>
      </p:grpSp>
      <p:grpSp>
        <p:nvGrpSpPr>
          <p:cNvPr id="3412" name="Google Shape;3412;p475"/>
          <p:cNvGrpSpPr/>
          <p:nvPr/>
        </p:nvGrpSpPr>
        <p:grpSpPr>
          <a:xfrm>
            <a:off x="3685413" y="2764275"/>
            <a:ext cx="5437200" cy="1588800"/>
            <a:chOff x="3683825" y="2764275"/>
            <a:chExt cx="5437200" cy="1588800"/>
          </a:xfrm>
        </p:grpSpPr>
        <p:sp>
          <p:nvSpPr>
            <p:cNvPr id="3413" name="Google Shape;3413;p475"/>
            <p:cNvSpPr/>
            <p:nvPr/>
          </p:nvSpPr>
          <p:spPr>
            <a:xfrm>
              <a:off x="3683825" y="2764275"/>
              <a:ext cx="5437200" cy="1588800"/>
            </a:xfrm>
            <a:prstGeom prst="rect">
              <a:avLst/>
            </a:prstGeom>
            <a:solidFill>
              <a:schemeClr val="lt1"/>
            </a:solidFill>
            <a:ln w="9525" cap="flat" cmpd="sng">
              <a:solidFill>
                <a:schemeClr val="accent1"/>
              </a:solidFill>
              <a:prstDash val="solid"/>
              <a:round/>
              <a:headEnd type="none" w="sm" len="sm"/>
              <a:tailEnd type="none" w="sm" len="sm"/>
            </a:ln>
          </p:spPr>
          <p:txBody>
            <a:bodyPr spcFirstLastPara="1" wrap="square" lIns="91425" tIns="228600" rIns="91425" bIns="91425" anchor="ctr" anchorCtr="0">
              <a:noAutofit/>
            </a:bodyPr>
            <a:lstStyle/>
            <a:p>
              <a:pPr algn="ctr"/>
              <a:r>
                <a:rPr lang="en">
                  <a:solidFill>
                    <a:schemeClr val="accent1"/>
                  </a:solidFill>
                  <a:latin typeface="DM Sans Medium"/>
                  <a:ea typeface="DM Sans Medium"/>
                  <a:cs typeface="DM Sans Medium"/>
                  <a:sym typeface="DM Sans Medium"/>
                </a:rPr>
                <a:t>Databricks </a:t>
              </a:r>
              <a:br>
                <a:rPr lang="en">
                  <a:solidFill>
                    <a:schemeClr val="accent1"/>
                  </a:solidFill>
                  <a:latin typeface="DM Sans Medium"/>
                  <a:ea typeface="DM Sans Medium"/>
                  <a:cs typeface="DM Sans Medium"/>
                  <a:sym typeface="DM Sans Medium"/>
                </a:rPr>
              </a:br>
              <a:r>
                <a:rPr lang="en">
                  <a:solidFill>
                    <a:schemeClr val="accent1"/>
                  </a:solidFill>
                  <a:latin typeface="DM Sans Medium"/>
                  <a:ea typeface="DM Sans Medium"/>
                  <a:cs typeface="DM Sans Medium"/>
                  <a:sym typeface="DM Sans Medium"/>
                </a:rPr>
                <a:t>Runtimes</a:t>
              </a:r>
              <a:endParaRPr>
                <a:solidFill>
                  <a:schemeClr val="accent1"/>
                </a:solidFill>
                <a:latin typeface="DM Sans Medium"/>
                <a:ea typeface="DM Sans Medium"/>
                <a:cs typeface="DM Sans Medium"/>
                <a:sym typeface="DM Sans Medium"/>
              </a:endParaRPr>
            </a:p>
          </p:txBody>
        </p:sp>
        <p:pic>
          <p:nvPicPr>
            <p:cNvPr id="3414" name="Google Shape;3414;p475"/>
            <p:cNvPicPr preferRelativeResize="0"/>
            <p:nvPr/>
          </p:nvPicPr>
          <p:blipFill rotWithShape="1">
            <a:blip r:embed="rId3">
              <a:alphaModFix/>
            </a:blip>
            <a:srcRect r="83267"/>
            <a:stretch/>
          </p:blipFill>
          <p:spPr>
            <a:xfrm>
              <a:off x="5443108" y="3496640"/>
              <a:ext cx="295938" cy="274071"/>
            </a:xfrm>
            <a:prstGeom prst="rect">
              <a:avLst/>
            </a:prstGeom>
            <a:noFill/>
            <a:ln>
              <a:noFill/>
            </a:ln>
          </p:spPr>
        </p:pic>
        <p:sp>
          <p:nvSpPr>
            <p:cNvPr id="3415" name="Google Shape;3415;p475"/>
            <p:cNvSpPr/>
            <p:nvPr/>
          </p:nvSpPr>
          <p:spPr>
            <a:xfrm>
              <a:off x="7922729" y="3374025"/>
              <a:ext cx="1099500" cy="369300"/>
            </a:xfrm>
            <a:prstGeom prst="roundRect">
              <a:avLst>
                <a:gd name="adj" fmla="val 16667"/>
              </a:avLst>
            </a:prstGeom>
            <a:solidFill>
              <a:srgbClr val="FFFFFF"/>
            </a:solidFill>
            <a:ln w="9525" cap="flat" cmpd="sng">
              <a:solidFill>
                <a:schemeClr val="accent1"/>
              </a:solidFill>
              <a:prstDash val="solid"/>
              <a:round/>
              <a:headEnd type="none" w="sm" len="sm"/>
              <a:tailEnd type="none" w="sm" len="sm"/>
            </a:ln>
          </p:spPr>
          <p:txBody>
            <a:bodyPr spcFirstLastPara="1" wrap="square" lIns="0" tIns="91425" rIns="0" bIns="91425" anchor="ctr" anchorCtr="0">
              <a:noAutofit/>
            </a:bodyPr>
            <a:lstStyle/>
            <a:p>
              <a:pPr algn="ctr"/>
              <a:r>
                <a:rPr lang="en" sz="1200">
                  <a:solidFill>
                    <a:schemeClr val="accent1"/>
                  </a:solidFill>
                  <a:latin typeface="DM Sans Medium"/>
                  <a:ea typeface="DM Sans Medium"/>
                  <a:cs typeface="DM Sans Medium"/>
                  <a:sym typeface="DM Sans Medium"/>
                </a:rPr>
                <a:t>SQL </a:t>
              </a:r>
              <a:br>
                <a:rPr lang="en" sz="1200">
                  <a:solidFill>
                    <a:schemeClr val="accent1"/>
                  </a:solidFill>
                  <a:latin typeface="DM Sans Medium"/>
                  <a:ea typeface="DM Sans Medium"/>
                  <a:cs typeface="DM Sans Medium"/>
                  <a:sym typeface="DM Sans Medium"/>
                </a:rPr>
              </a:br>
              <a:r>
                <a:rPr lang="en" sz="1200">
                  <a:solidFill>
                    <a:schemeClr val="accent1"/>
                  </a:solidFill>
                  <a:latin typeface="DM Sans Medium"/>
                  <a:ea typeface="DM Sans Medium"/>
                  <a:cs typeface="DM Sans Medium"/>
                  <a:sym typeface="DM Sans Medium"/>
                </a:rPr>
                <a:t>Warehouse</a:t>
              </a:r>
              <a:endParaRPr sz="1200">
                <a:solidFill>
                  <a:schemeClr val="accent1"/>
                </a:solidFill>
                <a:latin typeface="DM Sans Medium"/>
                <a:ea typeface="DM Sans Medium"/>
                <a:cs typeface="DM Sans Medium"/>
                <a:sym typeface="DM Sans Medium"/>
              </a:endParaRPr>
            </a:p>
          </p:txBody>
        </p:sp>
        <p:sp>
          <p:nvSpPr>
            <p:cNvPr id="3416" name="Google Shape;3416;p475"/>
            <p:cNvSpPr/>
            <p:nvPr/>
          </p:nvSpPr>
          <p:spPr>
            <a:xfrm>
              <a:off x="4946459" y="2890077"/>
              <a:ext cx="1050000" cy="369300"/>
            </a:xfrm>
            <a:prstGeom prst="roundRect">
              <a:avLst>
                <a:gd name="adj" fmla="val 16667"/>
              </a:avLst>
            </a:prstGeom>
            <a:solidFill>
              <a:srgbClr val="FFFFFF"/>
            </a:solidFill>
            <a:ln w="9525" cap="flat" cmpd="sng">
              <a:solidFill>
                <a:schemeClr val="accent1"/>
              </a:solidFill>
              <a:prstDash val="solid"/>
              <a:round/>
              <a:headEnd type="none" w="sm" len="sm"/>
              <a:tailEnd type="none" w="sm" len="sm"/>
            </a:ln>
          </p:spPr>
          <p:txBody>
            <a:bodyPr spcFirstLastPara="1" wrap="square" lIns="0" tIns="91425" rIns="0" bIns="91425" anchor="ctr" anchorCtr="0">
              <a:noAutofit/>
            </a:bodyPr>
            <a:lstStyle/>
            <a:p>
              <a:pPr algn="ctr"/>
              <a:r>
                <a:rPr lang="en" sz="1200">
                  <a:solidFill>
                    <a:schemeClr val="accent1"/>
                  </a:solidFill>
                  <a:latin typeface="DM Sans Medium"/>
                  <a:ea typeface="DM Sans Medium"/>
                  <a:cs typeface="DM Sans Medium"/>
                  <a:sym typeface="DM Sans Medium"/>
                </a:rPr>
                <a:t>ML runtime</a:t>
              </a:r>
              <a:endParaRPr sz="1200">
                <a:solidFill>
                  <a:schemeClr val="accent1"/>
                </a:solidFill>
                <a:latin typeface="DM Sans Medium"/>
                <a:ea typeface="DM Sans Medium"/>
                <a:cs typeface="DM Sans Medium"/>
                <a:sym typeface="DM Sans Medium"/>
              </a:endParaRPr>
            </a:p>
          </p:txBody>
        </p:sp>
        <p:sp>
          <p:nvSpPr>
            <p:cNvPr id="3417" name="Google Shape;3417;p475"/>
            <p:cNvSpPr/>
            <p:nvPr/>
          </p:nvSpPr>
          <p:spPr>
            <a:xfrm>
              <a:off x="3814200" y="2890099"/>
              <a:ext cx="1050000" cy="369300"/>
            </a:xfrm>
            <a:prstGeom prst="roundRect">
              <a:avLst>
                <a:gd name="adj" fmla="val 16667"/>
              </a:avLst>
            </a:prstGeom>
            <a:solidFill>
              <a:srgbClr val="FFFFFF"/>
            </a:solidFill>
            <a:ln w="9525" cap="flat" cmpd="sng">
              <a:solidFill>
                <a:schemeClr val="accent1"/>
              </a:solidFill>
              <a:prstDash val="solid"/>
              <a:round/>
              <a:headEnd type="none" w="sm" len="sm"/>
              <a:tailEnd type="none" w="sm" len="sm"/>
            </a:ln>
          </p:spPr>
          <p:txBody>
            <a:bodyPr spcFirstLastPara="1" wrap="square" lIns="0" tIns="91425" rIns="0" bIns="91425" anchor="ctr" anchorCtr="0">
              <a:noAutofit/>
            </a:bodyPr>
            <a:lstStyle/>
            <a:p>
              <a:pPr algn="ctr"/>
              <a:r>
                <a:rPr lang="en" sz="1200">
                  <a:solidFill>
                    <a:schemeClr val="accent1"/>
                  </a:solidFill>
                  <a:latin typeface="DM Sans Medium"/>
                  <a:ea typeface="DM Sans Medium"/>
                  <a:cs typeface="DM Sans Medium"/>
                  <a:sym typeface="DM Sans Medium"/>
                </a:rPr>
                <a:t>ETL runtime</a:t>
              </a:r>
              <a:endParaRPr sz="1200">
                <a:solidFill>
                  <a:schemeClr val="accent1"/>
                </a:solidFill>
                <a:latin typeface="DM Sans Medium"/>
                <a:ea typeface="DM Sans Medium"/>
                <a:cs typeface="DM Sans Medium"/>
                <a:sym typeface="DM Sans Medium"/>
              </a:endParaRPr>
            </a:p>
          </p:txBody>
        </p:sp>
        <p:grpSp>
          <p:nvGrpSpPr>
            <p:cNvPr id="3418" name="Google Shape;3418;p475"/>
            <p:cNvGrpSpPr/>
            <p:nvPr/>
          </p:nvGrpSpPr>
          <p:grpSpPr>
            <a:xfrm>
              <a:off x="5877015" y="3978828"/>
              <a:ext cx="1308546" cy="305579"/>
              <a:chOff x="4453092" y="4650277"/>
              <a:chExt cx="1541643" cy="347565"/>
            </a:xfrm>
          </p:grpSpPr>
          <p:pic>
            <p:nvPicPr>
              <p:cNvPr id="3419" name="Google Shape;3419;p475"/>
              <p:cNvPicPr preferRelativeResize="0"/>
              <p:nvPr/>
            </p:nvPicPr>
            <p:blipFill rotWithShape="1">
              <a:blip r:embed="rId6">
                <a:alphaModFix/>
              </a:blip>
              <a:srcRect t="-8027" b="-19198"/>
              <a:stretch/>
            </p:blipFill>
            <p:spPr>
              <a:xfrm>
                <a:off x="4453092" y="4650277"/>
                <a:ext cx="489001" cy="323100"/>
              </a:xfrm>
              <a:prstGeom prst="rect">
                <a:avLst/>
              </a:prstGeom>
              <a:noFill/>
              <a:ln>
                <a:noFill/>
              </a:ln>
            </p:spPr>
          </p:pic>
          <p:grpSp>
            <p:nvGrpSpPr>
              <p:cNvPr id="3420" name="Google Shape;3420;p475"/>
              <p:cNvGrpSpPr/>
              <p:nvPr/>
            </p:nvGrpSpPr>
            <p:grpSpPr>
              <a:xfrm>
                <a:off x="5078216" y="4659742"/>
                <a:ext cx="916519" cy="338100"/>
                <a:chOff x="5182047" y="4839773"/>
                <a:chExt cx="916519" cy="338100"/>
              </a:xfrm>
            </p:grpSpPr>
            <p:pic>
              <p:nvPicPr>
                <p:cNvPr id="3421" name="Google Shape;3421;p475"/>
                <p:cNvPicPr preferRelativeResize="0"/>
                <p:nvPr/>
              </p:nvPicPr>
              <p:blipFill>
                <a:blip r:embed="rId7">
                  <a:alphaModFix/>
                </a:blip>
                <a:stretch>
                  <a:fillRect/>
                </a:stretch>
              </p:blipFill>
              <p:spPr>
                <a:xfrm>
                  <a:off x="5182047" y="4875821"/>
                  <a:ext cx="275775" cy="275775"/>
                </a:xfrm>
                <a:prstGeom prst="rect">
                  <a:avLst/>
                </a:prstGeom>
                <a:noFill/>
                <a:ln>
                  <a:noFill/>
                </a:ln>
              </p:spPr>
            </p:pic>
            <p:sp>
              <p:nvSpPr>
                <p:cNvPr id="3422" name="Google Shape;3422;p475"/>
                <p:cNvSpPr txBox="1"/>
                <p:nvPr/>
              </p:nvSpPr>
              <p:spPr>
                <a:xfrm>
                  <a:off x="5362666" y="4839773"/>
                  <a:ext cx="735900" cy="338100"/>
                </a:xfrm>
                <a:prstGeom prst="rect">
                  <a:avLst/>
                </a:prstGeom>
                <a:noFill/>
                <a:ln>
                  <a:noFill/>
                </a:ln>
              </p:spPr>
              <p:txBody>
                <a:bodyPr spcFirstLastPara="1" wrap="square" lIns="91425" tIns="91425" rIns="91425" bIns="91425" anchor="t" anchorCtr="0">
                  <a:noAutofit/>
                </a:bodyPr>
                <a:lstStyle/>
                <a:p>
                  <a:pPr>
                    <a:spcAft>
                      <a:spcPts val="300"/>
                    </a:spcAft>
                  </a:pPr>
                  <a:r>
                    <a:rPr lang="en" sz="900" i="1">
                      <a:solidFill>
                        <a:schemeClr val="accent1"/>
                      </a:solidFill>
                      <a:latin typeface="DM Sans Medium"/>
                      <a:ea typeface="DM Sans Medium"/>
                      <a:cs typeface="DM Sans Medium"/>
                      <a:sym typeface="DM Sans Medium"/>
                    </a:rPr>
                    <a:t>Photon</a:t>
                  </a:r>
                  <a:endParaRPr sz="900" i="1">
                    <a:solidFill>
                      <a:schemeClr val="accent1"/>
                    </a:solidFill>
                    <a:latin typeface="DM Sans Medium"/>
                    <a:ea typeface="DM Sans Medium"/>
                    <a:cs typeface="DM Sans Medium"/>
                    <a:sym typeface="DM Sans Medium"/>
                  </a:endParaRPr>
                </a:p>
              </p:txBody>
            </p:sp>
          </p:grpSp>
        </p:grpSp>
        <p:sp>
          <p:nvSpPr>
            <p:cNvPr id="3423" name="Google Shape;3423;p475"/>
            <p:cNvSpPr/>
            <p:nvPr/>
          </p:nvSpPr>
          <p:spPr>
            <a:xfrm>
              <a:off x="6067725" y="2890078"/>
              <a:ext cx="1099500" cy="369300"/>
            </a:xfrm>
            <a:prstGeom prst="roundRect">
              <a:avLst>
                <a:gd name="adj" fmla="val 16667"/>
              </a:avLst>
            </a:prstGeom>
            <a:solidFill>
              <a:srgbClr val="FFFFFF"/>
            </a:solidFill>
            <a:ln w="9525" cap="flat" cmpd="sng">
              <a:solidFill>
                <a:schemeClr val="accent1"/>
              </a:solidFill>
              <a:prstDash val="solid"/>
              <a:round/>
              <a:headEnd type="none" w="sm" len="sm"/>
              <a:tailEnd type="none" w="sm" len="sm"/>
            </a:ln>
          </p:spPr>
          <p:txBody>
            <a:bodyPr spcFirstLastPara="1" wrap="square" lIns="0" tIns="91425" rIns="0" bIns="91425" anchor="ctr" anchorCtr="0">
              <a:noAutofit/>
            </a:bodyPr>
            <a:lstStyle/>
            <a:p>
              <a:pPr algn="ctr"/>
              <a:r>
                <a:rPr lang="en" sz="1200">
                  <a:solidFill>
                    <a:schemeClr val="accent1"/>
                  </a:solidFill>
                  <a:latin typeface="DM Sans Medium"/>
                  <a:ea typeface="DM Sans Medium"/>
                  <a:cs typeface="DM Sans Medium"/>
                  <a:sym typeface="DM Sans Medium"/>
                </a:rPr>
                <a:t>Model Serving</a:t>
              </a:r>
              <a:endParaRPr sz="1200">
                <a:solidFill>
                  <a:schemeClr val="accent1"/>
                </a:solidFill>
                <a:latin typeface="DM Sans Medium"/>
                <a:ea typeface="DM Sans Medium"/>
                <a:cs typeface="DM Sans Medium"/>
                <a:sym typeface="DM Sans Medium"/>
              </a:endParaRPr>
            </a:p>
          </p:txBody>
        </p:sp>
        <p:sp>
          <p:nvSpPr>
            <p:cNvPr id="3424" name="Google Shape;3424;p475"/>
            <p:cNvSpPr/>
            <p:nvPr/>
          </p:nvSpPr>
          <p:spPr>
            <a:xfrm>
              <a:off x="7922729" y="2890078"/>
              <a:ext cx="1099500" cy="369300"/>
            </a:xfrm>
            <a:prstGeom prst="roundRect">
              <a:avLst>
                <a:gd name="adj" fmla="val 16667"/>
              </a:avLst>
            </a:prstGeom>
            <a:solidFill>
              <a:srgbClr val="FFFFFF"/>
            </a:solidFill>
            <a:ln w="9525" cap="flat" cmpd="sng">
              <a:solidFill>
                <a:schemeClr val="accent1"/>
              </a:solidFill>
              <a:prstDash val="solid"/>
              <a:round/>
              <a:headEnd type="none" w="sm" len="sm"/>
              <a:tailEnd type="none" w="sm" len="sm"/>
            </a:ln>
          </p:spPr>
          <p:txBody>
            <a:bodyPr spcFirstLastPara="1" wrap="square" lIns="0" tIns="91425" rIns="0" bIns="91425" anchor="ctr" anchorCtr="0">
              <a:noAutofit/>
            </a:bodyPr>
            <a:lstStyle/>
            <a:p>
              <a:pPr algn="ctr"/>
              <a:r>
                <a:rPr lang="en" sz="1200">
                  <a:solidFill>
                    <a:schemeClr val="accent1"/>
                  </a:solidFill>
                  <a:latin typeface="DM Sans Medium"/>
                  <a:ea typeface="DM Sans Medium"/>
                  <a:cs typeface="DM Sans Medium"/>
                  <a:sym typeface="DM Sans Medium"/>
                </a:rPr>
                <a:t>SQL </a:t>
              </a:r>
              <a:br>
                <a:rPr lang="en" sz="1200">
                  <a:solidFill>
                    <a:schemeClr val="accent1"/>
                  </a:solidFill>
                  <a:latin typeface="DM Sans Medium"/>
                  <a:ea typeface="DM Sans Medium"/>
                  <a:cs typeface="DM Sans Medium"/>
                  <a:sym typeface="DM Sans Medium"/>
                </a:rPr>
              </a:br>
              <a:r>
                <a:rPr lang="en" sz="1200">
                  <a:solidFill>
                    <a:schemeClr val="accent1"/>
                  </a:solidFill>
                  <a:latin typeface="DM Sans Medium"/>
                  <a:ea typeface="DM Sans Medium"/>
                  <a:cs typeface="DM Sans Medium"/>
                  <a:sym typeface="DM Sans Medium"/>
                </a:rPr>
                <a:t>Connectors</a:t>
              </a:r>
              <a:endParaRPr sz="1200">
                <a:solidFill>
                  <a:schemeClr val="accent1"/>
                </a:solidFill>
                <a:latin typeface="DM Sans Medium"/>
                <a:ea typeface="DM Sans Medium"/>
                <a:cs typeface="DM Sans Medium"/>
                <a:sym typeface="DM Sans Medium"/>
              </a:endParaRPr>
            </a:p>
          </p:txBody>
        </p:sp>
        <p:sp>
          <p:nvSpPr>
            <p:cNvPr id="3425" name="Google Shape;3425;p475"/>
            <p:cNvSpPr/>
            <p:nvPr/>
          </p:nvSpPr>
          <p:spPr>
            <a:xfrm>
              <a:off x="3814200" y="3374025"/>
              <a:ext cx="1050000" cy="369300"/>
            </a:xfrm>
            <a:prstGeom prst="roundRect">
              <a:avLst>
                <a:gd name="adj" fmla="val 16667"/>
              </a:avLst>
            </a:prstGeom>
            <a:solidFill>
              <a:srgbClr val="FFFFFF"/>
            </a:solidFill>
            <a:ln w="9525" cap="flat" cmpd="sng">
              <a:solidFill>
                <a:schemeClr val="accent1"/>
              </a:solidFill>
              <a:prstDash val="solid"/>
              <a:round/>
              <a:headEnd type="none" w="sm" len="sm"/>
              <a:tailEnd type="none" w="sm" len="sm"/>
            </a:ln>
          </p:spPr>
          <p:txBody>
            <a:bodyPr spcFirstLastPara="1" wrap="square" lIns="0" tIns="91425" rIns="0" bIns="91425" anchor="ctr" anchorCtr="0">
              <a:noAutofit/>
            </a:bodyPr>
            <a:lstStyle/>
            <a:p>
              <a:pPr algn="ctr"/>
              <a:r>
                <a:rPr lang="en" sz="1200">
                  <a:solidFill>
                    <a:schemeClr val="accent1"/>
                  </a:solidFill>
                  <a:latin typeface="DM Sans Medium"/>
                  <a:ea typeface="DM Sans Medium"/>
                  <a:cs typeface="DM Sans Medium"/>
                  <a:sym typeface="DM Sans Medium"/>
                </a:rPr>
                <a:t>Batch</a:t>
              </a:r>
              <a:endParaRPr sz="1200">
                <a:solidFill>
                  <a:schemeClr val="accent1"/>
                </a:solidFill>
                <a:latin typeface="DM Sans Medium"/>
                <a:ea typeface="DM Sans Medium"/>
                <a:cs typeface="DM Sans Medium"/>
                <a:sym typeface="DM Sans Medium"/>
              </a:endParaRPr>
            </a:p>
          </p:txBody>
        </p:sp>
        <p:sp>
          <p:nvSpPr>
            <p:cNvPr id="3426" name="Google Shape;3426;p475"/>
            <p:cNvSpPr/>
            <p:nvPr/>
          </p:nvSpPr>
          <p:spPr>
            <a:xfrm>
              <a:off x="3814200" y="3848182"/>
              <a:ext cx="1050000" cy="369300"/>
            </a:xfrm>
            <a:prstGeom prst="roundRect">
              <a:avLst>
                <a:gd name="adj" fmla="val 16667"/>
              </a:avLst>
            </a:prstGeom>
            <a:solidFill>
              <a:srgbClr val="FFFFFF"/>
            </a:solidFill>
            <a:ln w="9525" cap="flat" cmpd="sng">
              <a:solidFill>
                <a:schemeClr val="accent1"/>
              </a:solidFill>
              <a:prstDash val="solid"/>
              <a:round/>
              <a:headEnd type="none" w="sm" len="sm"/>
              <a:tailEnd type="none" w="sm" len="sm"/>
            </a:ln>
          </p:spPr>
          <p:txBody>
            <a:bodyPr spcFirstLastPara="1" wrap="square" lIns="0" tIns="91425" rIns="0" bIns="91425" anchor="ctr" anchorCtr="0">
              <a:noAutofit/>
            </a:bodyPr>
            <a:lstStyle/>
            <a:p>
              <a:pPr algn="ctr"/>
              <a:r>
                <a:rPr lang="en" sz="1200">
                  <a:solidFill>
                    <a:schemeClr val="accent1"/>
                  </a:solidFill>
                  <a:latin typeface="DM Sans Medium"/>
                  <a:ea typeface="DM Sans Medium"/>
                  <a:cs typeface="DM Sans Medium"/>
                  <a:sym typeface="DM Sans Medium"/>
                </a:rPr>
                <a:t>Streaming</a:t>
              </a:r>
              <a:endParaRPr sz="1200">
                <a:solidFill>
                  <a:schemeClr val="accent1"/>
                </a:solidFill>
                <a:latin typeface="DM Sans Medium"/>
                <a:ea typeface="DM Sans Medium"/>
                <a:cs typeface="DM Sans Medium"/>
                <a:sym typeface="DM Sans Medium"/>
              </a:endParaRPr>
            </a:p>
          </p:txBody>
        </p:sp>
      </p:grpSp>
      <p:sp>
        <p:nvSpPr>
          <p:cNvPr id="3427" name="Google Shape;3427;p475"/>
          <p:cNvSpPr/>
          <p:nvPr/>
        </p:nvSpPr>
        <p:spPr>
          <a:xfrm>
            <a:off x="9459138" y="2335250"/>
            <a:ext cx="984600" cy="454200"/>
          </a:xfrm>
          <a:prstGeom prst="roundRect">
            <a:avLst>
              <a:gd name="adj" fmla="val 16667"/>
            </a:avLst>
          </a:prstGeom>
          <a:solidFill>
            <a:srgbClr val="FFFFFF"/>
          </a:solidFill>
          <a:ln w="9525" cap="flat" cmpd="sng">
            <a:solidFill>
              <a:schemeClr val="accent1"/>
            </a:solidFill>
            <a:prstDash val="solid"/>
            <a:round/>
            <a:headEnd type="none" w="sm" len="sm"/>
            <a:tailEnd type="none" w="sm" len="sm"/>
          </a:ln>
        </p:spPr>
        <p:txBody>
          <a:bodyPr spcFirstLastPara="1" wrap="square" lIns="0" tIns="91425" rIns="0" bIns="91425" anchor="ctr" anchorCtr="0">
            <a:noAutofit/>
          </a:bodyPr>
          <a:lstStyle/>
          <a:p>
            <a:pPr marL="342900" algn="ctr"/>
            <a:r>
              <a:rPr lang="en" sz="1200">
                <a:solidFill>
                  <a:schemeClr val="accent1"/>
                </a:solidFill>
                <a:latin typeface="DM Sans Medium"/>
                <a:ea typeface="DM Sans Medium"/>
                <a:cs typeface="DM Sans Medium"/>
                <a:sym typeface="DM Sans Medium"/>
              </a:rPr>
              <a:t>Delta </a:t>
            </a:r>
            <a:br>
              <a:rPr lang="en" sz="1200">
                <a:solidFill>
                  <a:schemeClr val="accent1"/>
                </a:solidFill>
                <a:latin typeface="DM Sans Medium"/>
                <a:ea typeface="DM Sans Medium"/>
                <a:cs typeface="DM Sans Medium"/>
                <a:sym typeface="DM Sans Medium"/>
              </a:rPr>
            </a:br>
            <a:r>
              <a:rPr lang="en" sz="1200">
                <a:solidFill>
                  <a:schemeClr val="accent1"/>
                </a:solidFill>
                <a:latin typeface="DM Sans Medium"/>
                <a:ea typeface="DM Sans Medium"/>
                <a:cs typeface="DM Sans Medium"/>
                <a:sym typeface="DM Sans Medium"/>
              </a:rPr>
              <a:t>Sharing</a:t>
            </a:r>
            <a:endParaRPr sz="1200">
              <a:solidFill>
                <a:schemeClr val="accent1"/>
              </a:solidFill>
              <a:latin typeface="DM Sans Medium"/>
              <a:ea typeface="DM Sans Medium"/>
              <a:cs typeface="DM Sans Medium"/>
              <a:sym typeface="DM Sans Medium"/>
            </a:endParaRPr>
          </a:p>
        </p:txBody>
      </p:sp>
      <p:sp>
        <p:nvSpPr>
          <p:cNvPr id="3428" name="Google Shape;3428;p475"/>
          <p:cNvSpPr txBox="1"/>
          <p:nvPr/>
        </p:nvSpPr>
        <p:spPr>
          <a:xfrm>
            <a:off x="2037563" y="3832500"/>
            <a:ext cx="1327200" cy="554100"/>
          </a:xfrm>
          <a:prstGeom prst="rect">
            <a:avLst/>
          </a:prstGeom>
          <a:noFill/>
          <a:ln>
            <a:noFill/>
          </a:ln>
        </p:spPr>
        <p:txBody>
          <a:bodyPr spcFirstLastPara="1" wrap="square" lIns="91425" tIns="91425" rIns="0" bIns="91425" anchor="t" anchorCtr="0">
            <a:spAutoFit/>
          </a:bodyPr>
          <a:lstStyle/>
          <a:p>
            <a:pPr algn="ctr"/>
            <a:r>
              <a:rPr lang="en" sz="1200">
                <a:solidFill>
                  <a:schemeClr val="accent1"/>
                </a:solidFill>
                <a:latin typeface="DM Sans Medium"/>
                <a:ea typeface="DM Sans Medium"/>
                <a:cs typeface="DM Sans Medium"/>
                <a:sym typeface="DM Sans Medium"/>
              </a:rPr>
              <a:t>Data Quality</a:t>
            </a:r>
            <a:br>
              <a:rPr lang="en" sz="1200">
                <a:solidFill>
                  <a:schemeClr val="accent1"/>
                </a:solidFill>
                <a:latin typeface="DM Sans Medium"/>
                <a:ea typeface="DM Sans Medium"/>
                <a:cs typeface="DM Sans Medium"/>
                <a:sym typeface="DM Sans Medium"/>
              </a:rPr>
            </a:br>
            <a:r>
              <a:rPr lang="en" sz="1200">
                <a:solidFill>
                  <a:schemeClr val="accent1"/>
                </a:solidFill>
                <a:latin typeface="DM Sans Medium"/>
                <a:ea typeface="DM Sans Medium"/>
                <a:cs typeface="DM Sans Medium"/>
                <a:sym typeface="DM Sans Medium"/>
              </a:rPr>
              <a:t>(DLT)</a:t>
            </a:r>
            <a:endParaRPr sz="1200">
              <a:solidFill>
                <a:schemeClr val="accent1"/>
              </a:solidFill>
              <a:latin typeface="DM Sans Medium"/>
              <a:ea typeface="DM Sans Medium"/>
              <a:cs typeface="DM Sans Medium"/>
              <a:sym typeface="DM Sans Medium"/>
            </a:endParaRPr>
          </a:p>
        </p:txBody>
      </p:sp>
      <p:sp>
        <p:nvSpPr>
          <p:cNvPr id="3429" name="Google Shape;3429;p475"/>
          <p:cNvSpPr txBox="1"/>
          <p:nvPr/>
        </p:nvSpPr>
        <p:spPr>
          <a:xfrm>
            <a:off x="6941576" y="1251700"/>
            <a:ext cx="1883100" cy="362400"/>
          </a:xfrm>
          <a:prstGeom prst="rect">
            <a:avLst/>
          </a:prstGeom>
          <a:noFill/>
          <a:ln>
            <a:noFill/>
          </a:ln>
        </p:spPr>
        <p:txBody>
          <a:bodyPr spcFirstLastPara="1" wrap="square" lIns="91425" tIns="91425" rIns="91425" bIns="91425" anchor="ctr" anchorCtr="0">
            <a:noAutofit/>
          </a:bodyPr>
          <a:lstStyle/>
          <a:p>
            <a:pPr algn="ctr"/>
            <a:r>
              <a:rPr lang="en" sz="1600">
                <a:solidFill>
                  <a:schemeClr val="accent1"/>
                </a:solidFill>
                <a:latin typeface="DM Sans Medium"/>
                <a:ea typeface="DM Sans Medium"/>
                <a:cs typeface="DM Sans Medium"/>
                <a:sym typeface="DM Sans Medium"/>
              </a:rPr>
              <a:t>Business Analyst</a:t>
            </a:r>
            <a:endParaRPr sz="1600">
              <a:solidFill>
                <a:schemeClr val="accent1"/>
              </a:solidFill>
              <a:latin typeface="DM Sans Medium"/>
              <a:ea typeface="DM Sans Medium"/>
              <a:cs typeface="DM Sans Medium"/>
              <a:sym typeface="DM Sans Medium"/>
            </a:endParaRPr>
          </a:p>
        </p:txBody>
      </p:sp>
      <p:sp>
        <p:nvSpPr>
          <p:cNvPr id="3430" name="Google Shape;3430;p475"/>
          <p:cNvSpPr txBox="1"/>
          <p:nvPr/>
        </p:nvSpPr>
        <p:spPr>
          <a:xfrm>
            <a:off x="977388" y="1255124"/>
            <a:ext cx="1617000" cy="362400"/>
          </a:xfrm>
          <a:prstGeom prst="rect">
            <a:avLst/>
          </a:prstGeom>
          <a:noFill/>
          <a:ln>
            <a:noFill/>
          </a:ln>
        </p:spPr>
        <p:txBody>
          <a:bodyPr spcFirstLastPara="1" wrap="square" lIns="91425" tIns="91425" rIns="91425" bIns="91425" anchor="ctr" anchorCtr="0">
            <a:noAutofit/>
          </a:bodyPr>
          <a:lstStyle/>
          <a:p>
            <a:pPr algn="ctr"/>
            <a:r>
              <a:rPr lang="en" sz="1600">
                <a:solidFill>
                  <a:schemeClr val="accent1"/>
                </a:solidFill>
                <a:latin typeface="DM Sans Medium"/>
                <a:ea typeface="DM Sans Medium"/>
                <a:cs typeface="DM Sans Medium"/>
                <a:sym typeface="DM Sans Medium"/>
              </a:rPr>
              <a:t>Data Engineer  </a:t>
            </a:r>
            <a:endParaRPr sz="1600">
              <a:solidFill>
                <a:schemeClr val="accent1"/>
              </a:solidFill>
              <a:latin typeface="DM Sans Medium"/>
              <a:ea typeface="DM Sans Medium"/>
              <a:cs typeface="DM Sans Medium"/>
              <a:sym typeface="DM Sans Medium"/>
            </a:endParaRPr>
          </a:p>
        </p:txBody>
      </p:sp>
      <p:sp>
        <p:nvSpPr>
          <p:cNvPr id="3431" name="Google Shape;3431;p475"/>
          <p:cNvSpPr/>
          <p:nvPr/>
        </p:nvSpPr>
        <p:spPr>
          <a:xfrm>
            <a:off x="1522788" y="1667718"/>
            <a:ext cx="526200" cy="72900"/>
          </a:xfrm>
          <a:prstGeom prst="downArrow">
            <a:avLst>
              <a:gd name="adj1" fmla="val 50000"/>
              <a:gd name="adj2" fmla="val 100000"/>
            </a:avLst>
          </a:prstGeom>
          <a:solidFill>
            <a:schemeClr val="lt2"/>
          </a:solidFill>
          <a:ln w="9525" cap="flat" cmpd="sng">
            <a:solidFill>
              <a:srgbClr val="BFBFBF"/>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3432" name="Google Shape;3432;p475"/>
          <p:cNvSpPr/>
          <p:nvPr/>
        </p:nvSpPr>
        <p:spPr>
          <a:xfrm>
            <a:off x="7620001" y="1667718"/>
            <a:ext cx="526200" cy="72900"/>
          </a:xfrm>
          <a:prstGeom prst="downArrow">
            <a:avLst>
              <a:gd name="adj1" fmla="val 50000"/>
              <a:gd name="adj2" fmla="val 100000"/>
            </a:avLst>
          </a:prstGeom>
          <a:solidFill>
            <a:schemeClr val="lt2"/>
          </a:solidFill>
          <a:ln w="9525" cap="flat" cmpd="sng">
            <a:solidFill>
              <a:srgbClr val="BFBFBF"/>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3433" name="Google Shape;3433;p475"/>
          <p:cNvSpPr txBox="1"/>
          <p:nvPr/>
        </p:nvSpPr>
        <p:spPr>
          <a:xfrm>
            <a:off x="4774763" y="1258550"/>
            <a:ext cx="1617000" cy="362400"/>
          </a:xfrm>
          <a:prstGeom prst="rect">
            <a:avLst/>
          </a:prstGeom>
          <a:noFill/>
          <a:ln>
            <a:noFill/>
          </a:ln>
        </p:spPr>
        <p:txBody>
          <a:bodyPr spcFirstLastPara="1" wrap="square" lIns="91425" tIns="91425" rIns="91425" bIns="91425" anchor="ctr" anchorCtr="0">
            <a:noAutofit/>
          </a:bodyPr>
          <a:lstStyle/>
          <a:p>
            <a:pPr algn="ctr"/>
            <a:r>
              <a:rPr lang="en" sz="1600">
                <a:solidFill>
                  <a:schemeClr val="accent1"/>
                </a:solidFill>
                <a:latin typeface="DM Sans Medium"/>
                <a:ea typeface="DM Sans Medium"/>
                <a:cs typeface="DM Sans Medium"/>
                <a:sym typeface="DM Sans Medium"/>
              </a:rPr>
              <a:t>Data Scientist</a:t>
            </a:r>
            <a:endParaRPr sz="1600">
              <a:solidFill>
                <a:schemeClr val="accent1"/>
              </a:solidFill>
              <a:latin typeface="DM Sans Medium"/>
              <a:ea typeface="DM Sans Medium"/>
              <a:cs typeface="DM Sans Medium"/>
              <a:sym typeface="DM Sans Medium"/>
            </a:endParaRPr>
          </a:p>
        </p:txBody>
      </p:sp>
      <p:sp>
        <p:nvSpPr>
          <p:cNvPr id="3434" name="Google Shape;3434;p475"/>
          <p:cNvSpPr/>
          <p:nvPr/>
        </p:nvSpPr>
        <p:spPr>
          <a:xfrm>
            <a:off x="5320163" y="1667718"/>
            <a:ext cx="526200" cy="72900"/>
          </a:xfrm>
          <a:prstGeom prst="downArrow">
            <a:avLst>
              <a:gd name="adj1" fmla="val 50000"/>
              <a:gd name="adj2" fmla="val 100000"/>
            </a:avLst>
          </a:prstGeom>
          <a:solidFill>
            <a:schemeClr val="lt2"/>
          </a:solidFill>
          <a:ln w="9525" cap="flat" cmpd="sng">
            <a:solidFill>
              <a:srgbClr val="BFBFBF"/>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3435" name="Google Shape;3435;p475"/>
          <p:cNvSpPr/>
          <p:nvPr/>
        </p:nvSpPr>
        <p:spPr>
          <a:xfrm>
            <a:off x="3459575" y="1667718"/>
            <a:ext cx="526200" cy="72900"/>
          </a:xfrm>
          <a:prstGeom prst="downArrow">
            <a:avLst>
              <a:gd name="adj1" fmla="val 50000"/>
              <a:gd name="adj2" fmla="val 100000"/>
            </a:avLst>
          </a:prstGeom>
          <a:solidFill>
            <a:schemeClr val="lt2"/>
          </a:solidFill>
          <a:ln w="9525" cap="flat" cmpd="sng">
            <a:solidFill>
              <a:srgbClr val="BFBFBF"/>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3436" name="Google Shape;3436;p475"/>
          <p:cNvSpPr txBox="1"/>
          <p:nvPr/>
        </p:nvSpPr>
        <p:spPr>
          <a:xfrm>
            <a:off x="2914175" y="1255124"/>
            <a:ext cx="1617000" cy="362400"/>
          </a:xfrm>
          <a:prstGeom prst="rect">
            <a:avLst/>
          </a:prstGeom>
          <a:noFill/>
          <a:ln>
            <a:noFill/>
          </a:ln>
        </p:spPr>
        <p:txBody>
          <a:bodyPr spcFirstLastPara="1" wrap="square" lIns="91425" tIns="91425" rIns="91425" bIns="91425" anchor="ctr" anchorCtr="0">
            <a:noAutofit/>
          </a:bodyPr>
          <a:lstStyle/>
          <a:p>
            <a:pPr algn="ctr"/>
            <a:r>
              <a:rPr lang="en" sz="1600">
                <a:solidFill>
                  <a:schemeClr val="accent1"/>
                </a:solidFill>
                <a:latin typeface="DM Sans Medium"/>
                <a:ea typeface="DM Sans Medium"/>
                <a:cs typeface="DM Sans Medium"/>
                <a:sym typeface="DM Sans Medium"/>
              </a:rPr>
              <a:t>ML Engineer  </a:t>
            </a:r>
            <a:endParaRPr sz="1600">
              <a:solidFill>
                <a:schemeClr val="accent1"/>
              </a:solidFill>
              <a:latin typeface="DM Sans Medium"/>
              <a:ea typeface="DM Sans Medium"/>
              <a:cs typeface="DM Sans Medium"/>
              <a:sym typeface="DM Sans Medium"/>
            </a:endParaRPr>
          </a:p>
        </p:txBody>
      </p:sp>
      <p:sp>
        <p:nvSpPr>
          <p:cNvPr id="3437" name="Google Shape;3437;p475"/>
          <p:cNvSpPr txBox="1"/>
          <p:nvPr/>
        </p:nvSpPr>
        <p:spPr>
          <a:xfrm>
            <a:off x="8985182" y="1251700"/>
            <a:ext cx="1931100" cy="362400"/>
          </a:xfrm>
          <a:prstGeom prst="rect">
            <a:avLst/>
          </a:prstGeom>
          <a:noFill/>
          <a:ln>
            <a:noFill/>
          </a:ln>
        </p:spPr>
        <p:txBody>
          <a:bodyPr spcFirstLastPara="1" wrap="square" lIns="91425" tIns="91425" rIns="91425" bIns="91425" anchor="ctr" anchorCtr="0">
            <a:noAutofit/>
          </a:bodyPr>
          <a:lstStyle/>
          <a:p>
            <a:pPr algn="ctr"/>
            <a:r>
              <a:rPr lang="en" sz="1600">
                <a:solidFill>
                  <a:schemeClr val="accent1"/>
                </a:solidFill>
                <a:latin typeface="DM Sans Medium"/>
                <a:ea typeface="DM Sans Medium"/>
                <a:cs typeface="DM Sans Medium"/>
                <a:sym typeface="DM Sans Medium"/>
              </a:rPr>
              <a:t>Business Partners</a:t>
            </a:r>
            <a:endParaRPr sz="1600">
              <a:solidFill>
                <a:schemeClr val="accent1"/>
              </a:solidFill>
              <a:latin typeface="DM Sans Medium"/>
              <a:ea typeface="DM Sans Medium"/>
              <a:cs typeface="DM Sans Medium"/>
              <a:sym typeface="DM Sans Medium"/>
            </a:endParaRPr>
          </a:p>
        </p:txBody>
      </p:sp>
      <p:sp>
        <p:nvSpPr>
          <p:cNvPr id="3438" name="Google Shape;3438;p475"/>
          <p:cNvSpPr/>
          <p:nvPr/>
        </p:nvSpPr>
        <p:spPr>
          <a:xfrm>
            <a:off x="9687632" y="1667718"/>
            <a:ext cx="526200" cy="72900"/>
          </a:xfrm>
          <a:prstGeom prst="downArrow">
            <a:avLst>
              <a:gd name="adj1" fmla="val 50000"/>
              <a:gd name="adj2" fmla="val 100000"/>
            </a:avLst>
          </a:prstGeom>
          <a:solidFill>
            <a:schemeClr val="lt2"/>
          </a:solidFill>
          <a:ln w="9525" cap="flat" cmpd="sng">
            <a:solidFill>
              <a:srgbClr val="BFBFBF"/>
            </a:solidFill>
            <a:prstDash val="solid"/>
            <a:round/>
            <a:headEnd type="none" w="sm" len="sm"/>
            <a:tailEnd type="none" w="sm" len="sm"/>
          </a:ln>
        </p:spPr>
        <p:txBody>
          <a:bodyPr spcFirstLastPara="1" wrap="square" lIns="91425" tIns="91425" rIns="91425" bIns="91425" anchor="ctr" anchorCtr="0">
            <a:noAutofit/>
          </a:bodyPr>
          <a:lstStyle/>
          <a:p>
            <a:endParaRPr/>
          </a:p>
        </p:txBody>
      </p:sp>
      <p:grpSp>
        <p:nvGrpSpPr>
          <p:cNvPr id="3439" name="Google Shape;3439;p475"/>
          <p:cNvGrpSpPr/>
          <p:nvPr/>
        </p:nvGrpSpPr>
        <p:grpSpPr>
          <a:xfrm>
            <a:off x="696164" y="5415400"/>
            <a:ext cx="6039419" cy="765900"/>
            <a:chOff x="694575" y="5415400"/>
            <a:chExt cx="6039419" cy="765900"/>
          </a:xfrm>
        </p:grpSpPr>
        <p:sp>
          <p:nvSpPr>
            <p:cNvPr id="3440" name="Google Shape;3440;p475"/>
            <p:cNvSpPr/>
            <p:nvPr/>
          </p:nvSpPr>
          <p:spPr>
            <a:xfrm>
              <a:off x="4718980" y="5868156"/>
              <a:ext cx="635100" cy="271800"/>
            </a:xfrm>
            <a:prstGeom prst="roundRect">
              <a:avLst>
                <a:gd name="adj" fmla="val 16667"/>
              </a:avLst>
            </a:prstGeom>
            <a:solidFill>
              <a:srgbClr val="FFFFFF"/>
            </a:solidFill>
            <a:ln w="9525" cap="flat" cmpd="sng">
              <a:solidFill>
                <a:schemeClr val="accent1"/>
              </a:solidFill>
              <a:prstDash val="solid"/>
              <a:round/>
              <a:headEnd type="none" w="sm" len="sm"/>
              <a:tailEnd type="none" w="sm" len="sm"/>
            </a:ln>
          </p:spPr>
          <p:txBody>
            <a:bodyPr spcFirstLastPara="1" wrap="square" lIns="0" tIns="91425" rIns="0" bIns="91425" anchor="ctr" anchorCtr="0">
              <a:noAutofit/>
            </a:bodyPr>
            <a:lstStyle/>
            <a:p>
              <a:pPr algn="ctr"/>
              <a:r>
                <a:rPr lang="en" sz="1200">
                  <a:solidFill>
                    <a:schemeClr val="accent1"/>
                  </a:solidFill>
                  <a:latin typeface="DM Sans"/>
                  <a:ea typeface="DM Sans"/>
                  <a:cs typeface="DM Sans"/>
                  <a:sym typeface="DM Sans"/>
                </a:rPr>
                <a:t>Avro</a:t>
              </a:r>
              <a:endParaRPr sz="1200">
                <a:solidFill>
                  <a:schemeClr val="accent1"/>
                </a:solidFill>
                <a:latin typeface="DM Sans"/>
                <a:ea typeface="DM Sans"/>
                <a:cs typeface="DM Sans"/>
                <a:sym typeface="DM Sans"/>
              </a:endParaRPr>
            </a:p>
          </p:txBody>
        </p:sp>
        <p:sp>
          <p:nvSpPr>
            <p:cNvPr id="3441" name="Google Shape;3441;p475"/>
            <p:cNvSpPr/>
            <p:nvPr/>
          </p:nvSpPr>
          <p:spPr>
            <a:xfrm>
              <a:off x="4029022" y="5868156"/>
              <a:ext cx="635100" cy="271800"/>
            </a:xfrm>
            <a:prstGeom prst="roundRect">
              <a:avLst>
                <a:gd name="adj" fmla="val 16667"/>
              </a:avLst>
            </a:prstGeom>
            <a:solidFill>
              <a:srgbClr val="FFFFFF"/>
            </a:solidFill>
            <a:ln w="9525" cap="flat" cmpd="sng">
              <a:solidFill>
                <a:schemeClr val="accent1"/>
              </a:solidFill>
              <a:prstDash val="solid"/>
              <a:round/>
              <a:headEnd type="none" w="sm" len="sm"/>
              <a:tailEnd type="none" w="sm" len="sm"/>
            </a:ln>
          </p:spPr>
          <p:txBody>
            <a:bodyPr spcFirstLastPara="1" wrap="square" lIns="0" tIns="91425" rIns="0" bIns="91425" anchor="ctr" anchorCtr="0">
              <a:noAutofit/>
            </a:bodyPr>
            <a:lstStyle/>
            <a:p>
              <a:pPr algn="ctr"/>
              <a:r>
                <a:rPr lang="en" sz="1200">
                  <a:solidFill>
                    <a:schemeClr val="accent1"/>
                  </a:solidFill>
                  <a:latin typeface="DM Sans"/>
                  <a:ea typeface="DM Sans"/>
                  <a:cs typeface="DM Sans"/>
                  <a:sym typeface="DM Sans"/>
                </a:rPr>
                <a:t>CSV</a:t>
              </a:r>
              <a:endParaRPr sz="1200">
                <a:solidFill>
                  <a:schemeClr val="accent1"/>
                </a:solidFill>
                <a:latin typeface="DM Sans"/>
                <a:ea typeface="DM Sans"/>
                <a:cs typeface="DM Sans"/>
                <a:sym typeface="DM Sans"/>
              </a:endParaRPr>
            </a:p>
          </p:txBody>
        </p:sp>
        <p:sp>
          <p:nvSpPr>
            <p:cNvPr id="3442" name="Google Shape;3442;p475"/>
            <p:cNvSpPr/>
            <p:nvPr/>
          </p:nvSpPr>
          <p:spPr>
            <a:xfrm>
              <a:off x="1882950" y="5869275"/>
              <a:ext cx="712800" cy="271800"/>
            </a:xfrm>
            <a:prstGeom prst="roundRect">
              <a:avLst>
                <a:gd name="adj" fmla="val 16667"/>
              </a:avLst>
            </a:prstGeom>
            <a:solidFill>
              <a:srgbClr val="FFFFFF"/>
            </a:solidFill>
            <a:ln w="9525" cap="flat" cmpd="sng">
              <a:solidFill>
                <a:schemeClr val="accent1"/>
              </a:solidFill>
              <a:prstDash val="solid"/>
              <a:round/>
              <a:headEnd type="none" w="sm" len="sm"/>
              <a:tailEnd type="none" w="sm" len="sm"/>
            </a:ln>
          </p:spPr>
          <p:txBody>
            <a:bodyPr spcFirstLastPara="1" wrap="square" lIns="0" tIns="91425" rIns="45700" bIns="91425" anchor="ctr" anchorCtr="0">
              <a:noAutofit/>
            </a:bodyPr>
            <a:lstStyle/>
            <a:p>
              <a:pPr algn="r"/>
              <a:r>
                <a:rPr lang="en" sz="1200">
                  <a:solidFill>
                    <a:schemeClr val="accent1"/>
                  </a:solidFill>
                  <a:latin typeface="DM Sans"/>
                  <a:ea typeface="DM Sans"/>
                  <a:cs typeface="DM Sans"/>
                  <a:sym typeface="DM Sans"/>
                </a:rPr>
                <a:t>Delta</a:t>
              </a:r>
              <a:endParaRPr sz="1200">
                <a:solidFill>
                  <a:schemeClr val="accent1"/>
                </a:solidFill>
                <a:latin typeface="DM Sans"/>
                <a:ea typeface="DM Sans"/>
                <a:cs typeface="DM Sans"/>
                <a:sym typeface="DM Sans"/>
              </a:endParaRPr>
            </a:p>
          </p:txBody>
        </p:sp>
        <p:sp>
          <p:nvSpPr>
            <p:cNvPr id="3443" name="Google Shape;3443;p475"/>
            <p:cNvSpPr/>
            <p:nvPr/>
          </p:nvSpPr>
          <p:spPr>
            <a:xfrm>
              <a:off x="5408937" y="5867125"/>
              <a:ext cx="635100" cy="271800"/>
            </a:xfrm>
            <a:prstGeom prst="roundRect">
              <a:avLst>
                <a:gd name="adj" fmla="val 16667"/>
              </a:avLst>
            </a:prstGeom>
            <a:solidFill>
              <a:srgbClr val="FFFFFF"/>
            </a:solidFill>
            <a:ln w="9525" cap="flat" cmpd="sng">
              <a:solidFill>
                <a:schemeClr val="accent1"/>
              </a:solidFill>
              <a:prstDash val="solid"/>
              <a:round/>
              <a:headEnd type="none" w="sm" len="sm"/>
              <a:tailEnd type="none" w="sm" len="sm"/>
            </a:ln>
          </p:spPr>
          <p:txBody>
            <a:bodyPr spcFirstLastPara="1" wrap="square" lIns="0" tIns="91425" rIns="0" bIns="91425" anchor="ctr" anchorCtr="0">
              <a:noAutofit/>
            </a:bodyPr>
            <a:lstStyle/>
            <a:p>
              <a:pPr algn="ctr"/>
              <a:r>
                <a:rPr lang="en" sz="1200">
                  <a:solidFill>
                    <a:schemeClr val="accent1"/>
                  </a:solidFill>
                  <a:latin typeface="DM Sans"/>
                  <a:ea typeface="DM Sans"/>
                  <a:cs typeface="DM Sans"/>
                  <a:sym typeface="DM Sans"/>
                </a:rPr>
                <a:t>Images</a:t>
              </a:r>
              <a:endParaRPr sz="1200">
                <a:solidFill>
                  <a:schemeClr val="accent1"/>
                </a:solidFill>
                <a:latin typeface="DM Sans"/>
                <a:ea typeface="DM Sans"/>
                <a:cs typeface="DM Sans"/>
                <a:sym typeface="DM Sans"/>
              </a:endParaRPr>
            </a:p>
          </p:txBody>
        </p:sp>
        <p:sp>
          <p:nvSpPr>
            <p:cNvPr id="3444" name="Google Shape;3444;p475"/>
            <p:cNvSpPr/>
            <p:nvPr/>
          </p:nvSpPr>
          <p:spPr>
            <a:xfrm>
              <a:off x="6098894" y="5868132"/>
              <a:ext cx="635100" cy="271800"/>
            </a:xfrm>
            <a:prstGeom prst="roundRect">
              <a:avLst>
                <a:gd name="adj" fmla="val 16667"/>
              </a:avLst>
            </a:prstGeom>
            <a:solidFill>
              <a:srgbClr val="FFFFFF"/>
            </a:solidFill>
            <a:ln w="9525" cap="flat" cmpd="sng">
              <a:solidFill>
                <a:schemeClr val="accent1"/>
              </a:solidFill>
              <a:prstDash val="solid"/>
              <a:round/>
              <a:headEnd type="none" w="sm" len="sm"/>
              <a:tailEnd type="none" w="sm" len="sm"/>
            </a:ln>
          </p:spPr>
          <p:txBody>
            <a:bodyPr spcFirstLastPara="1" wrap="square" lIns="0" tIns="91425" rIns="0" bIns="91425" anchor="ctr" anchorCtr="0">
              <a:noAutofit/>
            </a:bodyPr>
            <a:lstStyle/>
            <a:p>
              <a:pPr algn="ctr"/>
              <a:r>
                <a:rPr lang="en" sz="1200">
                  <a:solidFill>
                    <a:schemeClr val="accent1"/>
                  </a:solidFill>
                  <a:latin typeface="DM Sans"/>
                  <a:ea typeface="DM Sans"/>
                  <a:cs typeface="DM Sans"/>
                  <a:sym typeface="DM Sans"/>
                </a:rPr>
                <a:t>. . .</a:t>
              </a:r>
              <a:endParaRPr sz="1200">
                <a:solidFill>
                  <a:schemeClr val="accent1"/>
                </a:solidFill>
                <a:latin typeface="DM Sans"/>
                <a:ea typeface="DM Sans"/>
                <a:cs typeface="DM Sans"/>
                <a:sym typeface="DM Sans"/>
              </a:endParaRPr>
            </a:p>
          </p:txBody>
        </p:sp>
        <p:sp>
          <p:nvSpPr>
            <p:cNvPr id="3445" name="Google Shape;3445;p475"/>
            <p:cNvSpPr/>
            <p:nvPr/>
          </p:nvSpPr>
          <p:spPr>
            <a:xfrm>
              <a:off x="2649107" y="5869268"/>
              <a:ext cx="635100" cy="271800"/>
            </a:xfrm>
            <a:prstGeom prst="roundRect">
              <a:avLst>
                <a:gd name="adj" fmla="val 16667"/>
              </a:avLst>
            </a:prstGeom>
            <a:solidFill>
              <a:srgbClr val="FFFFFF"/>
            </a:solidFill>
            <a:ln w="9525" cap="flat" cmpd="sng">
              <a:solidFill>
                <a:schemeClr val="accent1"/>
              </a:solidFill>
              <a:prstDash val="solid"/>
              <a:round/>
              <a:headEnd type="none" w="sm" len="sm"/>
              <a:tailEnd type="none" w="sm" len="sm"/>
            </a:ln>
          </p:spPr>
          <p:txBody>
            <a:bodyPr spcFirstLastPara="1" wrap="square" lIns="0" tIns="91425" rIns="0" bIns="91425" anchor="ctr" anchorCtr="0">
              <a:noAutofit/>
            </a:bodyPr>
            <a:lstStyle/>
            <a:p>
              <a:pPr algn="ctr"/>
              <a:r>
                <a:rPr lang="en" sz="1200">
                  <a:solidFill>
                    <a:schemeClr val="accent1"/>
                  </a:solidFill>
                  <a:latin typeface="DM Sans"/>
                  <a:ea typeface="DM Sans"/>
                  <a:cs typeface="DM Sans"/>
                  <a:sym typeface="DM Sans"/>
                </a:rPr>
                <a:t>Parquet</a:t>
              </a:r>
              <a:endParaRPr sz="1200">
                <a:solidFill>
                  <a:schemeClr val="accent1"/>
                </a:solidFill>
                <a:latin typeface="DM Sans"/>
                <a:ea typeface="DM Sans"/>
                <a:cs typeface="DM Sans"/>
                <a:sym typeface="DM Sans"/>
              </a:endParaRPr>
            </a:p>
          </p:txBody>
        </p:sp>
        <p:pic>
          <p:nvPicPr>
            <p:cNvPr id="3446" name="Google Shape;3446;p475"/>
            <p:cNvPicPr preferRelativeResize="0"/>
            <p:nvPr/>
          </p:nvPicPr>
          <p:blipFill>
            <a:blip r:embed="rId8">
              <a:alphaModFix/>
            </a:blip>
            <a:stretch>
              <a:fillRect/>
            </a:stretch>
          </p:blipFill>
          <p:spPr>
            <a:xfrm>
              <a:off x="4255715" y="5455079"/>
              <a:ext cx="335081" cy="277870"/>
            </a:xfrm>
            <a:prstGeom prst="rect">
              <a:avLst/>
            </a:prstGeom>
            <a:noFill/>
            <a:ln>
              <a:noFill/>
            </a:ln>
          </p:spPr>
        </p:pic>
        <p:sp>
          <p:nvSpPr>
            <p:cNvPr id="3447" name="Google Shape;3447;p475"/>
            <p:cNvSpPr txBox="1"/>
            <p:nvPr/>
          </p:nvSpPr>
          <p:spPr>
            <a:xfrm>
              <a:off x="2654578" y="5433964"/>
              <a:ext cx="777900" cy="320100"/>
            </a:xfrm>
            <a:prstGeom prst="rect">
              <a:avLst/>
            </a:prstGeom>
            <a:noFill/>
            <a:ln>
              <a:noFill/>
            </a:ln>
          </p:spPr>
          <p:txBody>
            <a:bodyPr spcFirstLastPara="1" wrap="square" lIns="91425" tIns="91425" rIns="91425" bIns="91425" anchor="ctr" anchorCtr="0">
              <a:noAutofit/>
            </a:bodyPr>
            <a:lstStyle/>
            <a:p>
              <a:pPr algn="ctr">
                <a:lnSpc>
                  <a:spcPct val="90000"/>
                </a:lnSpc>
              </a:pPr>
              <a:r>
                <a:rPr lang="en" sz="1100">
                  <a:solidFill>
                    <a:schemeClr val="accent1"/>
                  </a:solidFill>
                  <a:latin typeface="DM Sans"/>
                  <a:ea typeface="DM Sans"/>
                  <a:cs typeface="DM Sans"/>
                  <a:sym typeface="DM Sans"/>
                </a:rPr>
                <a:t>Amazon S3</a:t>
              </a:r>
              <a:endParaRPr sz="1100">
                <a:solidFill>
                  <a:schemeClr val="accent1"/>
                </a:solidFill>
                <a:latin typeface="DM Sans"/>
                <a:ea typeface="DM Sans"/>
                <a:cs typeface="DM Sans"/>
                <a:sym typeface="DM Sans"/>
              </a:endParaRPr>
            </a:p>
          </p:txBody>
        </p:sp>
        <p:sp>
          <p:nvSpPr>
            <p:cNvPr id="3448" name="Google Shape;3448;p475"/>
            <p:cNvSpPr txBox="1"/>
            <p:nvPr/>
          </p:nvSpPr>
          <p:spPr>
            <a:xfrm>
              <a:off x="3628095" y="5433964"/>
              <a:ext cx="526200" cy="320100"/>
            </a:xfrm>
            <a:prstGeom prst="rect">
              <a:avLst/>
            </a:prstGeom>
            <a:noFill/>
            <a:ln>
              <a:noFill/>
            </a:ln>
          </p:spPr>
          <p:txBody>
            <a:bodyPr spcFirstLastPara="1" wrap="square" lIns="91425" tIns="91425" rIns="91425" bIns="91425" anchor="ctr" anchorCtr="0">
              <a:noAutofit/>
            </a:bodyPr>
            <a:lstStyle/>
            <a:p>
              <a:pPr algn="ctr">
                <a:lnSpc>
                  <a:spcPct val="90000"/>
                </a:lnSpc>
              </a:pPr>
              <a:r>
                <a:rPr lang="en" sz="1100">
                  <a:solidFill>
                    <a:schemeClr val="accent1"/>
                  </a:solidFill>
                  <a:latin typeface="DM Sans"/>
                  <a:ea typeface="DM Sans"/>
                  <a:cs typeface="DM Sans"/>
                  <a:sym typeface="DM Sans"/>
                </a:rPr>
                <a:t>ADLS</a:t>
              </a:r>
              <a:endParaRPr sz="1100">
                <a:solidFill>
                  <a:schemeClr val="accent1"/>
                </a:solidFill>
                <a:latin typeface="DM Sans"/>
                <a:ea typeface="DM Sans"/>
                <a:cs typeface="DM Sans"/>
                <a:sym typeface="DM Sans"/>
              </a:endParaRPr>
            </a:p>
          </p:txBody>
        </p:sp>
        <p:sp>
          <p:nvSpPr>
            <p:cNvPr id="3449" name="Google Shape;3449;p475"/>
            <p:cNvSpPr txBox="1"/>
            <p:nvPr/>
          </p:nvSpPr>
          <p:spPr>
            <a:xfrm>
              <a:off x="4496290" y="5433964"/>
              <a:ext cx="1177500" cy="320100"/>
            </a:xfrm>
            <a:prstGeom prst="rect">
              <a:avLst/>
            </a:prstGeom>
            <a:noFill/>
            <a:ln>
              <a:noFill/>
            </a:ln>
          </p:spPr>
          <p:txBody>
            <a:bodyPr spcFirstLastPara="1" wrap="square" lIns="91425" tIns="91425" rIns="91425" bIns="91425" anchor="ctr" anchorCtr="0">
              <a:noAutofit/>
            </a:bodyPr>
            <a:lstStyle/>
            <a:p>
              <a:pPr algn="ctr">
                <a:lnSpc>
                  <a:spcPct val="90000"/>
                </a:lnSpc>
              </a:pPr>
              <a:r>
                <a:rPr lang="en" sz="1100">
                  <a:solidFill>
                    <a:schemeClr val="accent1"/>
                  </a:solidFill>
                  <a:latin typeface="DM Sans"/>
                  <a:ea typeface="DM Sans"/>
                  <a:cs typeface="DM Sans"/>
                  <a:sym typeface="DM Sans"/>
                </a:rPr>
                <a:t>Google Cloud</a:t>
              </a:r>
              <a:br>
                <a:rPr lang="en" sz="1100">
                  <a:solidFill>
                    <a:schemeClr val="accent1"/>
                  </a:solidFill>
                  <a:latin typeface="DM Sans"/>
                  <a:ea typeface="DM Sans"/>
                  <a:cs typeface="DM Sans"/>
                  <a:sym typeface="DM Sans"/>
                </a:rPr>
              </a:br>
              <a:r>
                <a:rPr lang="en" sz="1100">
                  <a:solidFill>
                    <a:schemeClr val="accent1"/>
                  </a:solidFill>
                  <a:latin typeface="DM Sans"/>
                  <a:ea typeface="DM Sans"/>
                  <a:cs typeface="DM Sans"/>
                  <a:sym typeface="DM Sans"/>
                </a:rPr>
                <a:t>Storage</a:t>
              </a:r>
              <a:endParaRPr sz="1100">
                <a:solidFill>
                  <a:schemeClr val="accent1"/>
                </a:solidFill>
                <a:latin typeface="DM Sans"/>
                <a:ea typeface="DM Sans"/>
                <a:cs typeface="DM Sans"/>
                <a:sym typeface="DM Sans"/>
              </a:endParaRPr>
            </a:p>
          </p:txBody>
        </p:sp>
        <p:sp>
          <p:nvSpPr>
            <p:cNvPr id="3450" name="Google Shape;3450;p475"/>
            <p:cNvSpPr txBox="1"/>
            <p:nvPr/>
          </p:nvSpPr>
          <p:spPr>
            <a:xfrm>
              <a:off x="694575" y="5638300"/>
              <a:ext cx="1055700" cy="320100"/>
            </a:xfrm>
            <a:prstGeom prst="rect">
              <a:avLst/>
            </a:prstGeom>
            <a:noFill/>
            <a:ln>
              <a:noFill/>
            </a:ln>
          </p:spPr>
          <p:txBody>
            <a:bodyPr spcFirstLastPara="1" wrap="square" lIns="91425" tIns="91425" rIns="91425" bIns="91425" anchor="ctr" anchorCtr="0">
              <a:noAutofit/>
            </a:bodyPr>
            <a:lstStyle/>
            <a:p>
              <a:pPr algn="ctr">
                <a:lnSpc>
                  <a:spcPct val="90000"/>
                </a:lnSpc>
              </a:pPr>
              <a:r>
                <a:rPr lang="en" sz="1200">
                  <a:solidFill>
                    <a:schemeClr val="accent1"/>
                  </a:solidFill>
                  <a:latin typeface="DM Sans Medium"/>
                  <a:ea typeface="DM Sans Medium"/>
                  <a:cs typeface="DM Sans Medium"/>
                  <a:sym typeface="DM Sans Medium"/>
                </a:rPr>
                <a:t>Supported:</a:t>
              </a:r>
              <a:endParaRPr sz="1200">
                <a:solidFill>
                  <a:schemeClr val="accent1"/>
                </a:solidFill>
                <a:latin typeface="DM Sans Medium"/>
                <a:ea typeface="DM Sans Medium"/>
                <a:cs typeface="DM Sans Medium"/>
                <a:sym typeface="DM Sans Medium"/>
              </a:endParaRPr>
            </a:p>
          </p:txBody>
        </p:sp>
        <p:sp>
          <p:nvSpPr>
            <p:cNvPr id="3451" name="Google Shape;3451;p475"/>
            <p:cNvSpPr/>
            <p:nvPr/>
          </p:nvSpPr>
          <p:spPr>
            <a:xfrm>
              <a:off x="1675975" y="5415400"/>
              <a:ext cx="96000" cy="765900"/>
            </a:xfrm>
            <a:prstGeom prst="leftBrace">
              <a:avLst>
                <a:gd name="adj1" fmla="val 50000"/>
                <a:gd name="adj2"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a:p>
          </p:txBody>
        </p:sp>
        <p:pic>
          <p:nvPicPr>
            <p:cNvPr id="3452" name="Google Shape;3452;p475"/>
            <p:cNvPicPr preferRelativeResize="0"/>
            <p:nvPr/>
          </p:nvPicPr>
          <p:blipFill rotWithShape="1">
            <a:blip r:embed="rId9">
              <a:alphaModFix/>
            </a:blip>
            <a:srcRect b="17850"/>
            <a:stretch/>
          </p:blipFill>
          <p:spPr>
            <a:xfrm>
              <a:off x="1863124" y="5891575"/>
              <a:ext cx="356050" cy="227201"/>
            </a:xfrm>
            <a:prstGeom prst="rect">
              <a:avLst/>
            </a:prstGeom>
            <a:noFill/>
            <a:ln>
              <a:noFill/>
            </a:ln>
          </p:spPr>
        </p:pic>
        <p:sp>
          <p:nvSpPr>
            <p:cNvPr id="3453" name="Google Shape;3453;p475"/>
            <p:cNvSpPr/>
            <p:nvPr/>
          </p:nvSpPr>
          <p:spPr>
            <a:xfrm>
              <a:off x="3339065" y="5868156"/>
              <a:ext cx="635100" cy="271800"/>
            </a:xfrm>
            <a:prstGeom prst="roundRect">
              <a:avLst>
                <a:gd name="adj" fmla="val 16667"/>
              </a:avLst>
            </a:prstGeom>
            <a:solidFill>
              <a:srgbClr val="FFFFFF"/>
            </a:solidFill>
            <a:ln w="9525" cap="flat" cmpd="sng">
              <a:solidFill>
                <a:schemeClr val="accent1"/>
              </a:solidFill>
              <a:prstDash val="solid"/>
              <a:round/>
              <a:headEnd type="none" w="sm" len="sm"/>
              <a:tailEnd type="none" w="sm" len="sm"/>
            </a:ln>
          </p:spPr>
          <p:txBody>
            <a:bodyPr spcFirstLastPara="1" wrap="square" lIns="0" tIns="91425" rIns="0" bIns="91425" anchor="ctr" anchorCtr="0">
              <a:noAutofit/>
            </a:bodyPr>
            <a:lstStyle/>
            <a:p>
              <a:pPr algn="ctr"/>
              <a:r>
                <a:rPr lang="en" sz="1200">
                  <a:solidFill>
                    <a:schemeClr val="accent1"/>
                  </a:solidFill>
                  <a:latin typeface="DM Sans"/>
                  <a:ea typeface="DM Sans"/>
                  <a:cs typeface="DM Sans"/>
                  <a:sym typeface="DM Sans"/>
                </a:rPr>
                <a:t>JSON</a:t>
              </a:r>
              <a:endParaRPr sz="1200">
                <a:solidFill>
                  <a:schemeClr val="accent1"/>
                </a:solidFill>
                <a:latin typeface="DM Sans"/>
                <a:ea typeface="DM Sans"/>
                <a:cs typeface="DM Sans"/>
                <a:sym typeface="DM Sans"/>
              </a:endParaRPr>
            </a:p>
          </p:txBody>
        </p:sp>
        <p:pic>
          <p:nvPicPr>
            <p:cNvPr id="3454" name="Google Shape;3454;p475"/>
            <p:cNvPicPr preferRelativeResize="0"/>
            <p:nvPr/>
          </p:nvPicPr>
          <p:blipFill rotWithShape="1">
            <a:blip r:embed="rId10">
              <a:alphaModFix/>
            </a:blip>
            <a:srcRect/>
            <a:stretch/>
          </p:blipFill>
          <p:spPr>
            <a:xfrm>
              <a:off x="2487525" y="5466773"/>
              <a:ext cx="261275" cy="261275"/>
            </a:xfrm>
            <a:prstGeom prst="rect">
              <a:avLst/>
            </a:prstGeom>
            <a:noFill/>
            <a:ln>
              <a:noFill/>
            </a:ln>
          </p:spPr>
        </p:pic>
        <p:pic>
          <p:nvPicPr>
            <p:cNvPr id="3455" name="Google Shape;3455;p475"/>
            <p:cNvPicPr preferRelativeResize="0"/>
            <p:nvPr/>
          </p:nvPicPr>
          <p:blipFill>
            <a:blip r:embed="rId11">
              <a:alphaModFix/>
            </a:blip>
            <a:stretch>
              <a:fillRect/>
            </a:stretch>
          </p:blipFill>
          <p:spPr>
            <a:xfrm>
              <a:off x="3403109" y="5434550"/>
              <a:ext cx="296450" cy="291175"/>
            </a:xfrm>
            <a:prstGeom prst="rect">
              <a:avLst/>
            </a:prstGeom>
            <a:noFill/>
            <a:ln>
              <a:noFill/>
            </a:ln>
          </p:spPr>
        </p:pic>
      </p:grpSp>
      <p:pic>
        <p:nvPicPr>
          <p:cNvPr id="3456" name="Google Shape;3456;p475"/>
          <p:cNvPicPr preferRelativeResize="0"/>
          <p:nvPr/>
        </p:nvPicPr>
        <p:blipFill rotWithShape="1">
          <a:blip r:embed="rId12">
            <a:alphaModFix/>
          </a:blip>
          <a:srcRect b="19807"/>
          <a:stretch/>
        </p:blipFill>
        <p:spPr>
          <a:xfrm>
            <a:off x="9371105" y="2431714"/>
            <a:ext cx="534366" cy="2612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412"/>
                                        </p:tgtEl>
                                        <p:attrNameLst>
                                          <p:attrName>style.visibility</p:attrName>
                                        </p:attrNameLst>
                                      </p:cBhvr>
                                      <p:to>
                                        <p:strVal val="visible"/>
                                      </p:to>
                                    </p:set>
                                    <p:animEffect transition="in" filter="fade">
                                      <p:cBhvr>
                                        <p:cTn id="7" dur="1000"/>
                                        <p:tgtEl>
                                          <p:spTgt spid="34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439"/>
                                        </p:tgtEl>
                                        <p:attrNameLst>
                                          <p:attrName>style.visibility</p:attrName>
                                        </p:attrNameLst>
                                      </p:cBhvr>
                                      <p:to>
                                        <p:strVal val="visible"/>
                                      </p:to>
                                    </p:set>
                                    <p:animEffect transition="in" filter="fade">
                                      <p:cBhvr>
                                        <p:cTn id="12" dur="1000"/>
                                        <p:tgtEl>
                                          <p:spTgt spid="343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91"/>
                                        </p:tgtEl>
                                        <p:attrNameLst>
                                          <p:attrName>style.visibility</p:attrName>
                                        </p:attrNameLst>
                                      </p:cBhvr>
                                      <p:to>
                                        <p:strVal val="visible"/>
                                      </p:to>
                                    </p:set>
                                    <p:animEffect transition="in" filter="fade">
                                      <p:cBhvr>
                                        <p:cTn id="17" dur="1000"/>
                                        <p:tgtEl>
                                          <p:spTgt spid="339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409"/>
                                        </p:tgtEl>
                                        <p:attrNameLst>
                                          <p:attrName>style.visibility</p:attrName>
                                        </p:attrNameLst>
                                      </p:cBhvr>
                                      <p:to>
                                        <p:strVal val="visible"/>
                                      </p:to>
                                    </p:set>
                                    <p:animEffect transition="in" filter="fade">
                                      <p:cBhvr>
                                        <p:cTn id="22" dur="1000"/>
                                        <p:tgtEl>
                                          <p:spTgt spid="340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00"/>
                                        </p:tgtEl>
                                        <p:attrNameLst>
                                          <p:attrName>style.visibility</p:attrName>
                                        </p:attrNameLst>
                                      </p:cBhvr>
                                      <p:to>
                                        <p:strVal val="visible"/>
                                      </p:to>
                                    </p:set>
                                    <p:animEffect transition="in" filter="fade">
                                      <p:cBhvr>
                                        <p:cTn id="27" dur="1000"/>
                                        <p:tgtEl>
                                          <p:spTgt spid="340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394"/>
                                        </p:tgtEl>
                                        <p:attrNameLst>
                                          <p:attrName>style.visibility</p:attrName>
                                        </p:attrNameLst>
                                      </p:cBhvr>
                                      <p:to>
                                        <p:strVal val="visible"/>
                                      </p:to>
                                    </p:set>
                                    <p:animEffect transition="in" filter="fade">
                                      <p:cBhvr>
                                        <p:cTn id="32" dur="1000"/>
                                        <p:tgtEl>
                                          <p:spTgt spid="339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428"/>
                                        </p:tgtEl>
                                        <p:attrNameLst>
                                          <p:attrName>style.visibility</p:attrName>
                                        </p:attrNameLst>
                                      </p:cBhvr>
                                      <p:to>
                                        <p:strVal val="visible"/>
                                      </p:to>
                                    </p:set>
                                    <p:animEffect transition="in" filter="fade">
                                      <p:cBhvr>
                                        <p:cTn id="37" dur="1000"/>
                                        <p:tgtEl>
                                          <p:spTgt spid="342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403"/>
                                        </p:tgtEl>
                                        <p:attrNameLst>
                                          <p:attrName>style.visibility</p:attrName>
                                        </p:attrNameLst>
                                      </p:cBhvr>
                                      <p:to>
                                        <p:strVal val="visible"/>
                                      </p:to>
                                    </p:set>
                                    <p:animEffect transition="in" filter="fade">
                                      <p:cBhvr>
                                        <p:cTn id="42" dur="1000"/>
                                        <p:tgtEl>
                                          <p:spTgt spid="340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408"/>
                                        </p:tgtEl>
                                        <p:attrNameLst>
                                          <p:attrName>style.visibility</p:attrName>
                                        </p:attrNameLst>
                                      </p:cBhvr>
                                      <p:to>
                                        <p:strVal val="visible"/>
                                      </p:to>
                                    </p:set>
                                    <p:animEffect transition="in" filter="fade">
                                      <p:cBhvr>
                                        <p:cTn id="47" dur="1000"/>
                                        <p:tgtEl>
                                          <p:spTgt spid="3408"/>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397"/>
                                        </p:tgtEl>
                                        <p:attrNameLst>
                                          <p:attrName>style.visibility</p:attrName>
                                        </p:attrNameLst>
                                      </p:cBhvr>
                                      <p:to>
                                        <p:strVal val="visible"/>
                                      </p:to>
                                    </p:set>
                                    <p:animEffect transition="in" filter="fade">
                                      <p:cBhvr>
                                        <p:cTn id="52" dur="1000"/>
                                        <p:tgtEl>
                                          <p:spTgt spid="3397"/>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427"/>
                                        </p:tgtEl>
                                        <p:attrNameLst>
                                          <p:attrName>style.visibility</p:attrName>
                                        </p:attrNameLst>
                                      </p:cBhvr>
                                      <p:to>
                                        <p:strVal val="visible"/>
                                      </p:to>
                                    </p:set>
                                    <p:animEffect transition="in" filter="fade">
                                      <p:cBhvr>
                                        <p:cTn id="57" dur="1000"/>
                                        <p:tgtEl>
                                          <p:spTgt spid="3427"/>
                                        </p:tgtEl>
                                      </p:cBhvr>
                                    </p:animEffect>
                                  </p:childTnLst>
                                </p:cTn>
                              </p:par>
                              <p:par>
                                <p:cTn id="58" presetID="10" presetClass="entr" presetSubtype="0" fill="hold" nodeType="withEffect">
                                  <p:stCondLst>
                                    <p:cond delay="0"/>
                                  </p:stCondLst>
                                  <p:childTnLst>
                                    <p:set>
                                      <p:cBhvr>
                                        <p:cTn id="59" dur="1" fill="hold">
                                          <p:stCondLst>
                                            <p:cond delay="0"/>
                                          </p:stCondLst>
                                        </p:cTn>
                                        <p:tgtEl>
                                          <p:spTgt spid="3456"/>
                                        </p:tgtEl>
                                        <p:attrNameLst>
                                          <p:attrName>style.visibility</p:attrName>
                                        </p:attrNameLst>
                                      </p:cBhvr>
                                      <p:to>
                                        <p:strVal val="visible"/>
                                      </p:to>
                                    </p:set>
                                    <p:animEffect transition="in" filter="fade">
                                      <p:cBhvr>
                                        <p:cTn id="60" dur="1000"/>
                                        <p:tgtEl>
                                          <p:spTgt spid="34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460"/>
        <p:cNvGrpSpPr/>
        <p:nvPr/>
      </p:nvGrpSpPr>
      <p:grpSpPr>
        <a:xfrm>
          <a:off x="0" y="0"/>
          <a:ext cx="0" cy="0"/>
          <a:chOff x="0" y="0"/>
          <a:chExt cx="0" cy="0"/>
        </a:xfrm>
      </p:grpSpPr>
      <p:sp>
        <p:nvSpPr>
          <p:cNvPr id="3461" name="Google Shape;3461;p476"/>
          <p:cNvSpPr txBox="1">
            <a:spLocks noGrp="1"/>
          </p:cNvSpPr>
          <p:nvPr>
            <p:ph type="title"/>
          </p:nvPr>
        </p:nvSpPr>
        <p:spPr>
          <a:xfrm>
            <a:off x="750833" y="535597"/>
            <a:ext cx="10659300" cy="583500"/>
          </a:xfrm>
          <a:prstGeom prst="rect">
            <a:avLst/>
          </a:prstGeom>
          <a:noFill/>
          <a:ln>
            <a:noFill/>
          </a:ln>
        </p:spPr>
        <p:txBody>
          <a:bodyPr spcFirstLastPara="1" vert="horz" wrap="square" lIns="0" tIns="45700" rIns="0" bIns="45700" rtlCol="0" anchor="ctr" anchorCtr="0">
            <a:noAutofit/>
          </a:bodyPr>
          <a:lstStyle/>
          <a:p>
            <a:r>
              <a:rPr lang="en" sz="3600"/>
              <a:t>Databricks Lakehouse Reference Architecture</a:t>
            </a:r>
            <a:endParaRPr sz="3600"/>
          </a:p>
        </p:txBody>
      </p:sp>
      <p:pic>
        <p:nvPicPr>
          <p:cNvPr id="3462" name="Google Shape;3462;p476"/>
          <p:cNvPicPr preferRelativeResize="0"/>
          <p:nvPr/>
        </p:nvPicPr>
        <p:blipFill>
          <a:blip r:embed="rId3">
            <a:alphaModFix/>
          </a:blip>
          <a:stretch>
            <a:fillRect/>
          </a:stretch>
        </p:blipFill>
        <p:spPr>
          <a:xfrm>
            <a:off x="518602" y="1622641"/>
            <a:ext cx="11154925" cy="5159160"/>
          </a:xfrm>
          <a:prstGeom prst="rect">
            <a:avLst/>
          </a:prstGeom>
          <a:noFill/>
          <a:ln>
            <a:noFill/>
          </a:ln>
        </p:spPr>
      </p:pic>
      <p:sp>
        <p:nvSpPr>
          <p:cNvPr id="3463" name="Google Shape;3463;p476"/>
          <p:cNvSpPr txBox="1">
            <a:spLocks noGrp="1"/>
          </p:cNvSpPr>
          <p:nvPr>
            <p:ph type="subTitle" idx="1"/>
          </p:nvPr>
        </p:nvSpPr>
        <p:spPr>
          <a:xfrm>
            <a:off x="766397" y="1174702"/>
            <a:ext cx="10659300" cy="583500"/>
          </a:xfrm>
          <a:prstGeom prst="rect">
            <a:avLst/>
          </a:prstGeom>
        </p:spPr>
        <p:txBody>
          <a:bodyPr spcFirstLastPara="1" vert="horz" wrap="square" lIns="0" tIns="0" rIns="0" bIns="0" rtlCol="0" anchor="t" anchorCtr="0">
            <a:noAutofit/>
          </a:bodyPr>
          <a:lstStyle/>
          <a:p>
            <a:pPr marL="0" indent="0"/>
            <a:r>
              <a:rPr lang="en"/>
              <a:t>The Databricks Lakehouse Platform can support your core data workloads</a:t>
            </a:r>
            <a:endParaRPr/>
          </a:p>
          <a:p>
            <a:pPr marL="0" indent="0"/>
            <a:endParaRPr/>
          </a:p>
        </p:txBody>
      </p:sp>
      <p:sp>
        <p:nvSpPr>
          <p:cNvPr id="3464" name="Google Shape;3464;p476"/>
          <p:cNvSpPr txBox="1">
            <a:spLocks noGrp="1"/>
          </p:cNvSpPr>
          <p:nvPr>
            <p:ph type="sldNum" idx="12"/>
          </p:nvPr>
        </p:nvSpPr>
        <p:spPr>
          <a:xfrm>
            <a:off x="10868051" y="6351634"/>
            <a:ext cx="666600" cy="524700"/>
          </a:xfrm>
          <a:prstGeom prst="rect">
            <a:avLst/>
          </a:prstGeom>
        </p:spPr>
        <p:txBody>
          <a:bodyPr spcFirstLastPara="1" vert="horz" wrap="square" lIns="121875" tIns="121875" rIns="121875" bIns="121875" rtlCol="0" anchor="t" anchorCtr="0">
            <a:noAutofit/>
          </a:bodyPr>
          <a:lstStyle/>
          <a:p>
            <a:fld id="{00000000-1234-1234-1234-123412341234}" type="slidenum">
              <a:rPr lang="en"/>
              <a:pPr/>
              <a:t>18</a:t>
            </a:fld>
            <a:endParaRPr/>
          </a:p>
        </p:txBody>
      </p:sp>
      <p:pic>
        <p:nvPicPr>
          <p:cNvPr id="3465" name="Google Shape;3465;p476"/>
          <p:cNvPicPr preferRelativeResize="0"/>
          <p:nvPr/>
        </p:nvPicPr>
        <p:blipFill>
          <a:blip r:embed="rId4">
            <a:alphaModFix/>
          </a:blip>
          <a:stretch>
            <a:fillRect/>
          </a:stretch>
        </p:blipFill>
        <p:spPr>
          <a:xfrm>
            <a:off x="4670238" y="3786695"/>
            <a:ext cx="565550" cy="188550"/>
          </a:xfrm>
          <a:prstGeom prst="rect">
            <a:avLst/>
          </a:prstGeom>
          <a:noFill/>
          <a:ln>
            <a:noFill/>
          </a:ln>
        </p:spPr>
      </p:pic>
      <p:pic>
        <p:nvPicPr>
          <p:cNvPr id="3466" name="Google Shape;3466;p476"/>
          <p:cNvPicPr preferRelativeResize="0"/>
          <p:nvPr/>
        </p:nvPicPr>
        <p:blipFill>
          <a:blip r:embed="rId5">
            <a:alphaModFix/>
          </a:blip>
          <a:stretch>
            <a:fillRect/>
          </a:stretch>
        </p:blipFill>
        <p:spPr>
          <a:xfrm>
            <a:off x="3832038" y="3828456"/>
            <a:ext cx="722150" cy="137950"/>
          </a:xfrm>
          <a:prstGeom prst="rect">
            <a:avLst/>
          </a:prstGeom>
          <a:noFill/>
          <a:ln>
            <a:noFill/>
          </a:ln>
        </p:spPr>
      </p:pic>
      <p:pic>
        <p:nvPicPr>
          <p:cNvPr id="3467" name="Google Shape;3467;p476"/>
          <p:cNvPicPr preferRelativeResize="0"/>
          <p:nvPr/>
        </p:nvPicPr>
        <p:blipFill>
          <a:blip r:embed="rId6">
            <a:alphaModFix/>
          </a:blip>
          <a:stretch>
            <a:fillRect/>
          </a:stretch>
        </p:blipFill>
        <p:spPr>
          <a:xfrm>
            <a:off x="5351836" y="3755840"/>
            <a:ext cx="722150" cy="210556"/>
          </a:xfrm>
          <a:prstGeom prst="rect">
            <a:avLst/>
          </a:prstGeom>
          <a:noFill/>
          <a:ln>
            <a:noFill/>
          </a:ln>
        </p:spPr>
      </p:pic>
      <p:pic>
        <p:nvPicPr>
          <p:cNvPr id="3468" name="Google Shape;3468;p476"/>
          <p:cNvPicPr preferRelativeResize="0"/>
          <p:nvPr/>
        </p:nvPicPr>
        <p:blipFill>
          <a:blip r:embed="rId7">
            <a:alphaModFix/>
          </a:blip>
          <a:stretch>
            <a:fillRect/>
          </a:stretch>
        </p:blipFill>
        <p:spPr>
          <a:xfrm>
            <a:off x="2505159" y="2461751"/>
            <a:ext cx="210550" cy="210550"/>
          </a:xfrm>
          <a:prstGeom prst="rect">
            <a:avLst/>
          </a:prstGeom>
          <a:noFill/>
          <a:ln>
            <a:noFill/>
          </a:ln>
        </p:spPr>
      </p:pic>
      <p:pic>
        <p:nvPicPr>
          <p:cNvPr id="3469" name="Google Shape;3469;p476"/>
          <p:cNvPicPr preferRelativeResize="0"/>
          <p:nvPr/>
        </p:nvPicPr>
        <p:blipFill rotWithShape="1">
          <a:blip r:embed="rId8">
            <a:alphaModFix/>
          </a:blip>
          <a:srcRect l="31840" t="18802" r="25289" b="16338"/>
          <a:stretch/>
        </p:blipFill>
        <p:spPr>
          <a:xfrm>
            <a:off x="2922113" y="2407750"/>
            <a:ext cx="210550" cy="318550"/>
          </a:xfrm>
          <a:prstGeom prst="rect">
            <a:avLst/>
          </a:prstGeom>
          <a:noFill/>
          <a:ln>
            <a:noFill/>
          </a:ln>
        </p:spPr>
      </p:pic>
      <p:pic>
        <p:nvPicPr>
          <p:cNvPr id="3470" name="Google Shape;3470;p476"/>
          <p:cNvPicPr preferRelativeResize="0"/>
          <p:nvPr/>
        </p:nvPicPr>
        <p:blipFill rotWithShape="1">
          <a:blip r:embed="rId9">
            <a:alphaModFix/>
          </a:blip>
          <a:srcRect/>
          <a:stretch/>
        </p:blipFill>
        <p:spPr>
          <a:xfrm>
            <a:off x="1972963" y="4904705"/>
            <a:ext cx="742750" cy="194095"/>
          </a:xfrm>
          <a:prstGeom prst="rect">
            <a:avLst/>
          </a:prstGeom>
          <a:noFill/>
          <a:ln>
            <a:noFill/>
          </a:ln>
        </p:spPr>
      </p:pic>
      <p:pic>
        <p:nvPicPr>
          <p:cNvPr id="3471" name="Google Shape;3471;p476"/>
          <p:cNvPicPr preferRelativeResize="0"/>
          <p:nvPr/>
        </p:nvPicPr>
        <p:blipFill>
          <a:blip r:embed="rId10">
            <a:alphaModFix/>
          </a:blip>
          <a:stretch>
            <a:fillRect/>
          </a:stretch>
        </p:blipFill>
        <p:spPr>
          <a:xfrm>
            <a:off x="1972964" y="5772939"/>
            <a:ext cx="742751" cy="146387"/>
          </a:xfrm>
          <a:prstGeom prst="rect">
            <a:avLst/>
          </a:prstGeom>
          <a:noFill/>
          <a:ln>
            <a:noFill/>
          </a:ln>
        </p:spPr>
      </p:pic>
      <p:pic>
        <p:nvPicPr>
          <p:cNvPr id="3472" name="Google Shape;3472;p476"/>
          <p:cNvPicPr preferRelativeResize="0"/>
          <p:nvPr/>
        </p:nvPicPr>
        <p:blipFill rotWithShape="1">
          <a:blip r:embed="rId11">
            <a:alphaModFix/>
          </a:blip>
          <a:srcRect/>
          <a:stretch/>
        </p:blipFill>
        <p:spPr>
          <a:xfrm>
            <a:off x="3015989" y="4928567"/>
            <a:ext cx="453615" cy="146375"/>
          </a:xfrm>
          <a:prstGeom prst="rect">
            <a:avLst/>
          </a:prstGeom>
          <a:noFill/>
          <a:ln>
            <a:noFill/>
          </a:ln>
        </p:spPr>
      </p:pic>
      <p:pic>
        <p:nvPicPr>
          <p:cNvPr id="3473" name="Google Shape;3473;p476"/>
          <p:cNvPicPr preferRelativeResize="0"/>
          <p:nvPr/>
        </p:nvPicPr>
        <p:blipFill>
          <a:blip r:embed="rId12">
            <a:alphaModFix/>
          </a:blip>
          <a:stretch>
            <a:fillRect/>
          </a:stretch>
        </p:blipFill>
        <p:spPr>
          <a:xfrm>
            <a:off x="2912281" y="5762588"/>
            <a:ext cx="661035" cy="167109"/>
          </a:xfrm>
          <a:prstGeom prst="rect">
            <a:avLst/>
          </a:prstGeom>
          <a:noFill/>
          <a:ln>
            <a:noFill/>
          </a:ln>
        </p:spPr>
      </p:pic>
      <p:pic>
        <p:nvPicPr>
          <p:cNvPr id="3474" name="Google Shape;3474;p476"/>
          <p:cNvPicPr preferRelativeResize="0"/>
          <p:nvPr/>
        </p:nvPicPr>
        <p:blipFill>
          <a:blip r:embed="rId13">
            <a:alphaModFix/>
          </a:blip>
          <a:stretch>
            <a:fillRect/>
          </a:stretch>
        </p:blipFill>
        <p:spPr>
          <a:xfrm>
            <a:off x="7351889" y="2091000"/>
            <a:ext cx="464289" cy="210550"/>
          </a:xfrm>
          <a:prstGeom prst="rect">
            <a:avLst/>
          </a:prstGeom>
          <a:noFill/>
          <a:ln>
            <a:noFill/>
          </a:ln>
        </p:spPr>
      </p:pic>
      <p:pic>
        <p:nvPicPr>
          <p:cNvPr id="3475" name="Google Shape;3475;p476"/>
          <p:cNvPicPr preferRelativeResize="0"/>
          <p:nvPr/>
        </p:nvPicPr>
        <p:blipFill>
          <a:blip r:embed="rId14">
            <a:alphaModFix/>
          </a:blip>
          <a:stretch>
            <a:fillRect/>
          </a:stretch>
        </p:blipFill>
        <p:spPr>
          <a:xfrm>
            <a:off x="8035840" y="2075343"/>
            <a:ext cx="464300" cy="241855"/>
          </a:xfrm>
          <a:prstGeom prst="rect">
            <a:avLst/>
          </a:prstGeom>
          <a:noFill/>
          <a:ln>
            <a:noFill/>
          </a:ln>
        </p:spPr>
      </p:pic>
      <p:pic>
        <p:nvPicPr>
          <p:cNvPr id="3476" name="Google Shape;3476;p476"/>
          <p:cNvPicPr preferRelativeResize="0"/>
          <p:nvPr/>
        </p:nvPicPr>
        <p:blipFill>
          <a:blip r:embed="rId15">
            <a:alphaModFix/>
          </a:blip>
          <a:stretch>
            <a:fillRect/>
          </a:stretch>
        </p:blipFill>
        <p:spPr>
          <a:xfrm>
            <a:off x="8719790" y="2074954"/>
            <a:ext cx="464300" cy="242634"/>
          </a:xfrm>
          <a:prstGeom prst="rect">
            <a:avLst/>
          </a:prstGeom>
          <a:noFill/>
          <a:ln>
            <a:noFill/>
          </a:ln>
        </p:spPr>
      </p:pic>
      <p:pic>
        <p:nvPicPr>
          <p:cNvPr id="3477" name="Google Shape;3477;p476"/>
          <p:cNvPicPr preferRelativeResize="0"/>
          <p:nvPr/>
        </p:nvPicPr>
        <p:blipFill rotWithShape="1">
          <a:blip r:embed="rId16">
            <a:alphaModFix/>
          </a:blip>
          <a:srcRect l="32280" t="25017" r="33114" b="31923"/>
          <a:stretch/>
        </p:blipFill>
        <p:spPr>
          <a:xfrm>
            <a:off x="4138514" y="2090999"/>
            <a:ext cx="322315" cy="210550"/>
          </a:xfrm>
          <a:prstGeom prst="rect">
            <a:avLst/>
          </a:prstGeom>
          <a:noFill/>
          <a:ln>
            <a:noFill/>
          </a:ln>
        </p:spPr>
      </p:pic>
      <p:pic>
        <p:nvPicPr>
          <p:cNvPr id="3478" name="Google Shape;3478;p476"/>
          <p:cNvPicPr preferRelativeResize="0"/>
          <p:nvPr/>
        </p:nvPicPr>
        <p:blipFill rotWithShape="1">
          <a:blip r:embed="rId17">
            <a:alphaModFix/>
          </a:blip>
          <a:srcRect r="62771"/>
          <a:stretch/>
        </p:blipFill>
        <p:spPr>
          <a:xfrm>
            <a:off x="3795663" y="2074951"/>
            <a:ext cx="248376" cy="242625"/>
          </a:xfrm>
          <a:prstGeom prst="rect">
            <a:avLst/>
          </a:prstGeom>
          <a:noFill/>
          <a:ln>
            <a:noFill/>
          </a:ln>
        </p:spPr>
      </p:pic>
      <p:pic>
        <p:nvPicPr>
          <p:cNvPr id="3479" name="Google Shape;3479;p476"/>
          <p:cNvPicPr preferRelativeResize="0"/>
          <p:nvPr/>
        </p:nvPicPr>
        <p:blipFill>
          <a:blip r:embed="rId18">
            <a:alphaModFix/>
          </a:blip>
          <a:stretch>
            <a:fillRect/>
          </a:stretch>
        </p:blipFill>
        <p:spPr>
          <a:xfrm>
            <a:off x="11161090" y="4048120"/>
            <a:ext cx="322325" cy="308204"/>
          </a:xfrm>
          <a:prstGeom prst="rect">
            <a:avLst/>
          </a:prstGeom>
          <a:noFill/>
          <a:ln>
            <a:noFill/>
          </a:ln>
        </p:spPr>
      </p:pic>
      <p:pic>
        <p:nvPicPr>
          <p:cNvPr id="3480" name="Google Shape;3480;p476"/>
          <p:cNvPicPr preferRelativeResize="0"/>
          <p:nvPr/>
        </p:nvPicPr>
        <p:blipFill>
          <a:blip r:embed="rId19">
            <a:alphaModFix/>
          </a:blip>
          <a:stretch>
            <a:fillRect/>
          </a:stretch>
        </p:blipFill>
        <p:spPr>
          <a:xfrm>
            <a:off x="11085664" y="4531724"/>
            <a:ext cx="550374" cy="308200"/>
          </a:xfrm>
          <a:prstGeom prst="rect">
            <a:avLst/>
          </a:prstGeom>
          <a:noFill/>
          <a:ln>
            <a:noFill/>
          </a:ln>
        </p:spPr>
      </p:pic>
      <p:sp>
        <p:nvSpPr>
          <p:cNvPr id="3481" name="Google Shape;3481;p476"/>
          <p:cNvSpPr/>
          <p:nvPr/>
        </p:nvSpPr>
        <p:spPr>
          <a:xfrm>
            <a:off x="9495888" y="4491450"/>
            <a:ext cx="1018800" cy="583500"/>
          </a:xfrm>
          <a:prstGeom prst="roundRect">
            <a:avLst>
              <a:gd name="adj" fmla="val 16667"/>
            </a:avLst>
          </a:prstGeom>
          <a:solidFill>
            <a:srgbClr val="F8F9FA"/>
          </a:solidFill>
          <a:ln w="19050" cap="flat" cmpd="sng">
            <a:solidFill>
              <a:schemeClr val="accent6"/>
            </a:solidFill>
            <a:prstDash val="dash"/>
            <a:round/>
            <a:headEnd type="none" w="sm" len="sm"/>
            <a:tailEnd type="none" w="sm" len="sm"/>
          </a:ln>
        </p:spPr>
        <p:txBody>
          <a:bodyPr spcFirstLastPara="1" wrap="square" lIns="91425" tIns="0" rIns="91425" bIns="91425" anchor="t" anchorCtr="0">
            <a:noAutofit/>
          </a:bodyPr>
          <a:lstStyle/>
          <a:p>
            <a:pPr algn="ctr"/>
            <a:r>
              <a:rPr lang="en" sz="1000"/>
              <a:t>Optional DW</a:t>
            </a:r>
            <a:endParaRPr sz="1000"/>
          </a:p>
        </p:txBody>
      </p:sp>
      <p:pic>
        <p:nvPicPr>
          <p:cNvPr id="3482" name="Google Shape;3482;p476"/>
          <p:cNvPicPr preferRelativeResize="0"/>
          <p:nvPr/>
        </p:nvPicPr>
        <p:blipFill rotWithShape="1">
          <a:blip r:embed="rId20">
            <a:alphaModFix/>
          </a:blip>
          <a:srcRect r="75997"/>
          <a:stretch/>
        </p:blipFill>
        <p:spPr>
          <a:xfrm>
            <a:off x="9831063" y="4689042"/>
            <a:ext cx="348448" cy="34705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6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6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46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46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46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47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47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47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47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47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47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47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47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47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47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48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48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4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486"/>
        <p:cNvGrpSpPr/>
        <p:nvPr/>
      </p:nvGrpSpPr>
      <p:grpSpPr>
        <a:xfrm>
          <a:off x="0" y="0"/>
          <a:ext cx="0" cy="0"/>
          <a:chOff x="0" y="0"/>
          <a:chExt cx="0" cy="0"/>
        </a:xfrm>
      </p:grpSpPr>
      <p:sp>
        <p:nvSpPr>
          <p:cNvPr id="3487" name="Google Shape;3487;p477"/>
          <p:cNvSpPr txBox="1">
            <a:spLocks noGrp="1"/>
          </p:cNvSpPr>
          <p:nvPr>
            <p:ph type="body" idx="2"/>
          </p:nvPr>
        </p:nvSpPr>
        <p:spPr>
          <a:xfrm>
            <a:off x="763397" y="1988833"/>
            <a:ext cx="10659300" cy="4149900"/>
          </a:xfrm>
          <a:prstGeom prst="rect">
            <a:avLst/>
          </a:prstGeom>
        </p:spPr>
        <p:txBody>
          <a:bodyPr spcFirstLastPara="1" vert="horz" wrap="square" lIns="0" tIns="0" rIns="0" bIns="0" rtlCol="0" anchor="t" anchorCtr="0">
            <a:noAutofit/>
          </a:bodyPr>
          <a:lstStyle/>
          <a:p>
            <a:pPr marL="0" indent="0">
              <a:lnSpc>
                <a:spcPct val="100000"/>
              </a:lnSpc>
              <a:spcBef>
                <a:spcPts val="0"/>
              </a:spcBef>
              <a:buNone/>
            </a:pPr>
            <a:r>
              <a:rPr lang="en" sz="2000">
                <a:latin typeface="DM Sans Medium"/>
                <a:ea typeface="DM Sans Medium"/>
                <a:cs typeface="DM Sans Medium"/>
                <a:sym typeface="DM Sans Medium"/>
              </a:rPr>
              <a:t>Data Models are organizational processes. You cannot buy a process!</a:t>
            </a:r>
            <a:endParaRPr sz="2000">
              <a:latin typeface="DM Sans Medium"/>
              <a:ea typeface="DM Sans Medium"/>
              <a:cs typeface="DM Sans Medium"/>
              <a:sym typeface="DM Sans Medium"/>
            </a:endParaRPr>
          </a:p>
          <a:p>
            <a:pPr marL="0" indent="0">
              <a:lnSpc>
                <a:spcPct val="100000"/>
              </a:lnSpc>
              <a:spcBef>
                <a:spcPts val="600"/>
              </a:spcBef>
              <a:buNone/>
            </a:pPr>
            <a:endParaRPr sz="2000">
              <a:latin typeface="DM Sans Medium"/>
              <a:ea typeface="DM Sans Medium"/>
              <a:cs typeface="DM Sans Medium"/>
              <a:sym typeface="DM Sans Medium"/>
            </a:endParaRPr>
          </a:p>
          <a:p>
            <a:pPr marL="0" indent="0">
              <a:lnSpc>
                <a:spcPct val="100000"/>
              </a:lnSpc>
              <a:spcBef>
                <a:spcPts val="600"/>
              </a:spcBef>
              <a:buNone/>
            </a:pPr>
            <a:r>
              <a:rPr lang="en" sz="2000">
                <a:latin typeface="DM Sans Medium"/>
                <a:ea typeface="DM Sans Medium"/>
                <a:cs typeface="DM Sans Medium"/>
                <a:sym typeface="DM Sans Medium"/>
              </a:rPr>
              <a:t>However, the right platform capabilities will ease the implementation of a particular data model</a:t>
            </a:r>
            <a:endParaRPr sz="2000">
              <a:latin typeface="DM Sans Medium"/>
              <a:ea typeface="DM Sans Medium"/>
              <a:cs typeface="DM Sans Medium"/>
              <a:sym typeface="DM Sans Medium"/>
            </a:endParaRPr>
          </a:p>
          <a:p>
            <a:pPr indent="-342900">
              <a:lnSpc>
                <a:spcPct val="100000"/>
              </a:lnSpc>
              <a:spcBef>
                <a:spcPts val="600"/>
              </a:spcBef>
              <a:buSzPts val="1800"/>
              <a:buChar char="●"/>
            </a:pPr>
            <a:r>
              <a:rPr lang="en" sz="1800"/>
              <a:t>Databricks Lakehouse has the </a:t>
            </a:r>
            <a:r>
              <a:rPr lang="en" sz="1800">
                <a:solidFill>
                  <a:schemeClr val="accent2"/>
                </a:solidFill>
                <a:latin typeface="DM Sans Medium"/>
                <a:ea typeface="DM Sans Medium"/>
                <a:cs typeface="DM Sans Medium"/>
                <a:sym typeface="DM Sans Medium"/>
              </a:rPr>
              <a:t>technical enablers</a:t>
            </a:r>
            <a:r>
              <a:rPr lang="en" sz="1800" b="1">
                <a:solidFill>
                  <a:schemeClr val="accent2"/>
                </a:solidFill>
              </a:rPr>
              <a:t> </a:t>
            </a:r>
            <a:r>
              <a:rPr lang="en" sz="1800"/>
              <a:t>for teams to produce and consume data in a centralized or decentralized </a:t>
            </a:r>
            <a:r>
              <a:rPr lang="en" sz="1800">
                <a:latin typeface="DM Sans Medium"/>
                <a:ea typeface="DM Sans Medium"/>
                <a:cs typeface="DM Sans Medium"/>
                <a:sym typeface="DM Sans Medium"/>
              </a:rPr>
              <a:t>but governed</a:t>
            </a:r>
            <a:r>
              <a:rPr lang="en" sz="1800"/>
              <a:t> way</a:t>
            </a:r>
            <a:endParaRPr sz="1800"/>
          </a:p>
          <a:p>
            <a:pPr lvl="1" indent="-342900">
              <a:lnSpc>
                <a:spcPct val="100000"/>
              </a:lnSpc>
              <a:spcBef>
                <a:spcPts val="600"/>
              </a:spcBef>
              <a:buClr>
                <a:schemeClr val="accent1"/>
              </a:buClr>
              <a:buSzPts val="1800"/>
              <a:buChar char="●"/>
            </a:pPr>
            <a:r>
              <a:rPr lang="en" sz="1800"/>
              <a:t>Lakehouse is a polyglot technology that works with any data modeling concept</a:t>
            </a:r>
            <a:endParaRPr sz="1800"/>
          </a:p>
          <a:p>
            <a:pPr lvl="1" indent="-342900">
              <a:lnSpc>
                <a:spcPct val="100000"/>
              </a:lnSpc>
              <a:spcBef>
                <a:spcPts val="600"/>
              </a:spcBef>
              <a:buClr>
                <a:schemeClr val="accent1"/>
              </a:buClr>
              <a:buSzPts val="1800"/>
              <a:buChar char="●"/>
            </a:pPr>
            <a:r>
              <a:rPr lang="en" sz="1800"/>
              <a:t>Lakehouse applies at all scales (startups to large orgs)</a:t>
            </a:r>
            <a:endParaRPr sz="1800"/>
          </a:p>
          <a:p>
            <a:pPr indent="-342900">
              <a:lnSpc>
                <a:spcPct val="100000"/>
              </a:lnSpc>
              <a:spcBef>
                <a:spcPts val="600"/>
              </a:spcBef>
              <a:spcAft>
                <a:spcPts val="600"/>
              </a:spcAft>
              <a:buSzPts val="1800"/>
              <a:buChar char="●"/>
            </a:pPr>
            <a:r>
              <a:rPr lang="en" sz="1800"/>
              <a:t>The Medallion architecture can fit into whatever strategy you want</a:t>
            </a:r>
            <a:endParaRPr sz="1800"/>
          </a:p>
        </p:txBody>
      </p:sp>
      <p:sp>
        <p:nvSpPr>
          <p:cNvPr id="3488" name="Google Shape;3488;p477"/>
          <p:cNvSpPr txBox="1">
            <a:spLocks noGrp="1"/>
          </p:cNvSpPr>
          <p:nvPr>
            <p:ph type="title"/>
          </p:nvPr>
        </p:nvSpPr>
        <p:spPr>
          <a:xfrm>
            <a:off x="750833" y="535597"/>
            <a:ext cx="10659300" cy="583500"/>
          </a:xfrm>
          <a:prstGeom prst="rect">
            <a:avLst/>
          </a:prstGeom>
        </p:spPr>
        <p:txBody>
          <a:bodyPr spcFirstLastPara="1" vert="horz" wrap="square" lIns="0" tIns="0" rIns="0" bIns="0" rtlCol="0" anchor="ctr" anchorCtr="0">
            <a:noAutofit/>
          </a:bodyPr>
          <a:lstStyle/>
          <a:p>
            <a:r>
              <a:rPr lang="en" sz="3600"/>
              <a:t>Different Data Models on the Lakehouse</a:t>
            </a:r>
            <a:endParaRPr sz="3600"/>
          </a:p>
        </p:txBody>
      </p:sp>
      <p:sp>
        <p:nvSpPr>
          <p:cNvPr id="3489" name="Google Shape;3489;p477"/>
          <p:cNvSpPr txBox="1">
            <a:spLocks noGrp="1"/>
          </p:cNvSpPr>
          <p:nvPr>
            <p:ph type="sldNum" idx="12"/>
          </p:nvPr>
        </p:nvSpPr>
        <p:spPr>
          <a:xfrm>
            <a:off x="10868051" y="6351634"/>
            <a:ext cx="666600" cy="524700"/>
          </a:xfrm>
          <a:prstGeom prst="rect">
            <a:avLst/>
          </a:prstGeom>
        </p:spPr>
        <p:txBody>
          <a:bodyPr spcFirstLastPara="1" vert="horz" wrap="square" lIns="121875" tIns="121875" rIns="121875" bIns="121875" rtlCol="0" anchor="t" anchorCtr="0">
            <a:noAutofit/>
          </a:bodyPr>
          <a:lstStyle/>
          <a:p>
            <a:fld id="{00000000-1234-1234-1234-123412341234}" type="slidenum">
              <a:rPr lang="en"/>
              <a:pPr/>
              <a:t>19</a:t>
            </a:fld>
            <a:endParaRPr/>
          </a:p>
        </p:txBody>
      </p:sp>
      <p:sp>
        <p:nvSpPr>
          <p:cNvPr id="3490" name="Google Shape;3490;p477"/>
          <p:cNvSpPr txBox="1">
            <a:spLocks noGrp="1"/>
          </p:cNvSpPr>
          <p:nvPr>
            <p:ph type="subTitle" idx="1"/>
          </p:nvPr>
        </p:nvSpPr>
        <p:spPr>
          <a:xfrm>
            <a:off x="766397" y="1174702"/>
            <a:ext cx="10659300" cy="583500"/>
          </a:xfrm>
          <a:prstGeom prst="rect">
            <a:avLst/>
          </a:prstGeom>
        </p:spPr>
        <p:txBody>
          <a:bodyPr spcFirstLastPara="1" vert="horz" wrap="square" lIns="0" tIns="0" rIns="0" bIns="0" rtlCol="0" anchor="t" anchorCtr="0">
            <a:noAutofit/>
          </a:bodyPr>
          <a:lstStyle/>
          <a:p>
            <a:pPr marL="0" indent="0"/>
            <a:r>
              <a:rPr lang="en"/>
              <a:t>The Lakehouse supports any data model</a:t>
            </a:r>
            <a:endParaRPr b="1" strike="sngStrike">
              <a:latin typeface="DM Sans"/>
              <a:ea typeface="DM Sans"/>
              <a:cs typeface="DM Sans"/>
              <a:sym typeface="DM Sans"/>
            </a:endParaRPr>
          </a:p>
        </p:txBody>
      </p:sp>
      <p:sp>
        <p:nvSpPr>
          <p:cNvPr id="3491" name="Google Shape;3491;p477"/>
          <p:cNvSpPr/>
          <p:nvPr/>
        </p:nvSpPr>
        <p:spPr>
          <a:xfrm>
            <a:off x="1111576" y="5349917"/>
            <a:ext cx="3498000" cy="1001700"/>
          </a:xfrm>
          <a:prstGeom prst="rect">
            <a:avLst/>
          </a:prstGeom>
          <a:solidFill>
            <a:schemeClr val="accent5"/>
          </a:solidFill>
          <a:ln>
            <a:noFill/>
          </a:ln>
          <a:effectLst>
            <a:outerShdw blurRad="57150" dist="19050" dir="5400000" algn="bl" rotWithShape="0">
              <a:srgbClr val="000000">
                <a:alpha val="50000"/>
              </a:srgbClr>
            </a:outerShdw>
          </a:effectLst>
        </p:spPr>
        <p:txBody>
          <a:bodyPr spcFirstLastPara="1" wrap="square" lIns="121875" tIns="121875" rIns="121875" bIns="121875" anchor="t" anchorCtr="0">
            <a:noAutofit/>
          </a:bodyPr>
          <a:lstStyle/>
          <a:p>
            <a:pPr algn="ctr"/>
            <a:r>
              <a:rPr lang="en" sz="1900" b="1">
                <a:solidFill>
                  <a:schemeClr val="lt1"/>
                </a:solidFill>
                <a:latin typeface="DM Sans"/>
                <a:ea typeface="DM Sans"/>
                <a:cs typeface="DM Sans"/>
                <a:sym typeface="DM Sans"/>
              </a:rPr>
              <a:t>BRONZE</a:t>
            </a:r>
            <a:endParaRPr sz="1900" b="1">
              <a:solidFill>
                <a:schemeClr val="lt1"/>
              </a:solidFill>
              <a:latin typeface="DM Sans"/>
              <a:ea typeface="DM Sans"/>
              <a:cs typeface="DM Sans"/>
              <a:sym typeface="DM Sans"/>
            </a:endParaRPr>
          </a:p>
          <a:p>
            <a:pPr algn="ctr"/>
            <a:r>
              <a:rPr lang="en" sz="1100">
                <a:solidFill>
                  <a:schemeClr val="lt1"/>
                </a:solidFill>
                <a:latin typeface="DM Sans"/>
                <a:ea typeface="DM Sans"/>
                <a:cs typeface="DM Sans"/>
                <a:sym typeface="DM Sans"/>
              </a:rPr>
              <a:t>Replica of Source mainly for landing, archiving,  re-processing and Lineage Purposes</a:t>
            </a:r>
            <a:endParaRPr sz="1100">
              <a:solidFill>
                <a:schemeClr val="lt1"/>
              </a:solidFill>
              <a:latin typeface="DM Sans"/>
              <a:ea typeface="DM Sans"/>
              <a:cs typeface="DM Sans"/>
              <a:sym typeface="DM Sans"/>
            </a:endParaRPr>
          </a:p>
        </p:txBody>
      </p:sp>
      <p:sp>
        <p:nvSpPr>
          <p:cNvPr id="3492" name="Google Shape;3492;p477"/>
          <p:cNvSpPr/>
          <p:nvPr/>
        </p:nvSpPr>
        <p:spPr>
          <a:xfrm>
            <a:off x="4718273" y="5349917"/>
            <a:ext cx="3069900" cy="963300"/>
          </a:xfrm>
          <a:prstGeom prst="rect">
            <a:avLst/>
          </a:prstGeom>
          <a:solidFill>
            <a:srgbClr val="38761D"/>
          </a:solidFill>
          <a:ln>
            <a:noFill/>
          </a:ln>
          <a:effectLst>
            <a:outerShdw blurRad="57150" dist="19050" dir="5400000" algn="bl" rotWithShape="0">
              <a:srgbClr val="000000">
                <a:alpha val="50000"/>
              </a:srgbClr>
            </a:outerShdw>
          </a:effectLst>
        </p:spPr>
        <p:txBody>
          <a:bodyPr spcFirstLastPara="1" wrap="square" lIns="121875" tIns="121875" rIns="121875" bIns="121875" anchor="t" anchorCtr="0">
            <a:noAutofit/>
          </a:bodyPr>
          <a:lstStyle/>
          <a:p>
            <a:pPr algn="ctr"/>
            <a:r>
              <a:rPr lang="en" sz="2000" b="1">
                <a:solidFill>
                  <a:schemeClr val="lt1"/>
                </a:solidFill>
                <a:latin typeface="DM Sans"/>
                <a:ea typeface="DM Sans"/>
                <a:cs typeface="DM Sans"/>
                <a:sym typeface="DM Sans"/>
              </a:rPr>
              <a:t>SILVER</a:t>
            </a:r>
            <a:endParaRPr sz="2000" b="1">
              <a:solidFill>
                <a:schemeClr val="lt1"/>
              </a:solidFill>
              <a:latin typeface="DM Sans"/>
              <a:ea typeface="DM Sans"/>
              <a:cs typeface="DM Sans"/>
              <a:sym typeface="DM Sans"/>
            </a:endParaRPr>
          </a:p>
          <a:p>
            <a:pPr algn="ctr"/>
            <a:r>
              <a:rPr lang="en" sz="1100">
                <a:solidFill>
                  <a:schemeClr val="lt1"/>
                </a:solidFill>
                <a:latin typeface="DM Sans"/>
                <a:ea typeface="DM Sans"/>
                <a:cs typeface="DM Sans"/>
                <a:sym typeface="DM Sans"/>
              </a:rPr>
              <a:t>More normalized (2NF-like)  / </a:t>
            </a:r>
            <a:br>
              <a:rPr lang="en" sz="1100">
                <a:solidFill>
                  <a:schemeClr val="lt1"/>
                </a:solidFill>
                <a:latin typeface="DM Sans"/>
                <a:ea typeface="DM Sans"/>
                <a:cs typeface="DM Sans"/>
                <a:sym typeface="DM Sans"/>
              </a:rPr>
            </a:br>
            <a:r>
              <a:rPr lang="en" sz="1100">
                <a:solidFill>
                  <a:schemeClr val="lt1"/>
                </a:solidFill>
                <a:latin typeface="DM Sans"/>
                <a:ea typeface="DM Sans"/>
                <a:cs typeface="DM Sans"/>
                <a:sym typeface="DM Sans"/>
              </a:rPr>
              <a:t>Data Vault-like / Write-optimized</a:t>
            </a:r>
            <a:endParaRPr sz="2000" b="1">
              <a:solidFill>
                <a:schemeClr val="lt1"/>
              </a:solidFill>
              <a:latin typeface="DM Sans"/>
              <a:ea typeface="DM Sans"/>
              <a:cs typeface="DM Sans"/>
              <a:sym typeface="DM Sans"/>
            </a:endParaRPr>
          </a:p>
        </p:txBody>
      </p:sp>
      <p:sp>
        <p:nvSpPr>
          <p:cNvPr id="3493" name="Google Shape;3493;p477"/>
          <p:cNvSpPr/>
          <p:nvPr/>
        </p:nvSpPr>
        <p:spPr>
          <a:xfrm>
            <a:off x="8010649" y="5370017"/>
            <a:ext cx="3069900" cy="911700"/>
          </a:xfrm>
          <a:prstGeom prst="rect">
            <a:avLst/>
          </a:prstGeom>
          <a:solidFill>
            <a:srgbClr val="BF9000"/>
          </a:solidFill>
          <a:ln>
            <a:noFill/>
          </a:ln>
          <a:effectLst>
            <a:outerShdw blurRad="57150" dist="19050" dir="5400000" algn="bl" rotWithShape="0">
              <a:srgbClr val="000000">
                <a:alpha val="50000"/>
              </a:srgbClr>
            </a:outerShdw>
          </a:effectLst>
        </p:spPr>
        <p:txBody>
          <a:bodyPr spcFirstLastPara="1" wrap="square" lIns="121875" tIns="121875" rIns="121875" bIns="121875" anchor="t" anchorCtr="0">
            <a:noAutofit/>
          </a:bodyPr>
          <a:lstStyle/>
          <a:p>
            <a:pPr algn="ctr"/>
            <a:r>
              <a:rPr lang="en" sz="1900" b="1">
                <a:solidFill>
                  <a:schemeClr val="lt1"/>
                </a:solidFill>
                <a:latin typeface="DM Sans"/>
                <a:ea typeface="DM Sans"/>
                <a:cs typeface="DM Sans"/>
                <a:sym typeface="DM Sans"/>
              </a:rPr>
              <a:t>GOLD</a:t>
            </a:r>
            <a:r>
              <a:rPr lang="en" sz="1600" b="1">
                <a:solidFill>
                  <a:schemeClr val="lt1"/>
                </a:solidFill>
                <a:latin typeface="DM Sans"/>
                <a:ea typeface="DM Sans"/>
                <a:cs typeface="DM Sans"/>
                <a:sym typeface="DM Sans"/>
              </a:rPr>
              <a:t> </a:t>
            </a:r>
            <a:endParaRPr sz="1600" b="1">
              <a:solidFill>
                <a:schemeClr val="lt1"/>
              </a:solidFill>
              <a:latin typeface="DM Sans"/>
              <a:ea typeface="DM Sans"/>
              <a:cs typeface="DM Sans"/>
              <a:sym typeface="DM Sans"/>
            </a:endParaRPr>
          </a:p>
          <a:p>
            <a:pPr algn="ctr"/>
            <a:r>
              <a:rPr lang="en" sz="1100">
                <a:solidFill>
                  <a:schemeClr val="lt1"/>
                </a:solidFill>
                <a:latin typeface="DM Sans"/>
                <a:ea typeface="DM Sans"/>
                <a:cs typeface="DM Sans"/>
                <a:sym typeface="DM Sans"/>
              </a:rPr>
              <a:t>Integration Layer</a:t>
            </a:r>
            <a:endParaRPr sz="1100">
              <a:solidFill>
                <a:schemeClr val="lt1"/>
              </a:solidFill>
              <a:latin typeface="DM Sans"/>
              <a:ea typeface="DM Sans"/>
              <a:cs typeface="DM Sans"/>
              <a:sym typeface="DM Sans"/>
            </a:endParaRPr>
          </a:p>
          <a:p>
            <a:pPr algn="ctr"/>
            <a:r>
              <a:rPr lang="en" sz="1100">
                <a:solidFill>
                  <a:schemeClr val="lt1"/>
                </a:solidFill>
                <a:latin typeface="DM Sans"/>
                <a:ea typeface="DM Sans"/>
                <a:cs typeface="DM Sans"/>
                <a:sym typeface="DM Sans"/>
              </a:rPr>
              <a:t>Star schema/ Kimball / Read-Optimized</a:t>
            </a:r>
            <a:endParaRPr sz="1600" b="1">
              <a:solidFill>
                <a:schemeClr val="lt1"/>
              </a:solidFill>
              <a:latin typeface="DM Sans"/>
              <a:ea typeface="DM Sans"/>
              <a:cs typeface="DM Sans"/>
              <a:sym typeface="DM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497"/>
        <p:cNvGrpSpPr/>
        <p:nvPr/>
      </p:nvGrpSpPr>
      <p:grpSpPr>
        <a:xfrm>
          <a:off x="0" y="0"/>
          <a:ext cx="0" cy="0"/>
          <a:chOff x="0" y="0"/>
          <a:chExt cx="0" cy="0"/>
        </a:xfrm>
      </p:grpSpPr>
      <p:sp>
        <p:nvSpPr>
          <p:cNvPr id="3498" name="Google Shape;3498;p478"/>
          <p:cNvSpPr txBox="1">
            <a:spLocks noGrp="1"/>
          </p:cNvSpPr>
          <p:nvPr>
            <p:ph type="title"/>
          </p:nvPr>
        </p:nvSpPr>
        <p:spPr>
          <a:xfrm>
            <a:off x="750833" y="535597"/>
            <a:ext cx="10659300" cy="583500"/>
          </a:xfrm>
          <a:prstGeom prst="rect">
            <a:avLst/>
          </a:prstGeom>
        </p:spPr>
        <p:txBody>
          <a:bodyPr spcFirstLastPara="1" vert="horz" wrap="square" lIns="0" tIns="0" rIns="0" bIns="0" rtlCol="0" anchor="ctr" anchorCtr="0">
            <a:noAutofit/>
          </a:bodyPr>
          <a:lstStyle/>
          <a:p>
            <a:r>
              <a:rPr lang="en"/>
              <a:t>A Well Architected Lakehouse</a:t>
            </a:r>
            <a:endParaRPr/>
          </a:p>
        </p:txBody>
      </p:sp>
      <p:sp>
        <p:nvSpPr>
          <p:cNvPr id="3499" name="Google Shape;3499;p478"/>
          <p:cNvSpPr txBox="1"/>
          <p:nvPr/>
        </p:nvSpPr>
        <p:spPr>
          <a:xfrm>
            <a:off x="11649088" y="0"/>
            <a:ext cx="541500" cy="215400"/>
          </a:xfrm>
          <a:prstGeom prst="rect">
            <a:avLst/>
          </a:prstGeom>
          <a:noFill/>
          <a:ln>
            <a:noFill/>
          </a:ln>
        </p:spPr>
        <p:txBody>
          <a:bodyPr spcFirstLastPara="1" wrap="square" lIns="45700" tIns="45700" rIns="45700" bIns="45700" anchor="t" anchorCtr="0">
            <a:spAutoFit/>
          </a:bodyPr>
          <a:lstStyle/>
          <a:p>
            <a:r>
              <a:rPr lang="en" sz="800" i="1">
                <a:latin typeface="DM Sans"/>
                <a:ea typeface="DM Sans"/>
                <a:cs typeface="DM Sans"/>
                <a:sym typeface="DM Sans"/>
              </a:rPr>
              <a:t>animated</a:t>
            </a:r>
            <a:endParaRPr sz="800" i="1">
              <a:latin typeface="DM Sans"/>
              <a:ea typeface="DM Sans"/>
              <a:cs typeface="DM Sans"/>
              <a:sym typeface="DM Sans"/>
            </a:endParaRPr>
          </a:p>
        </p:txBody>
      </p:sp>
      <p:sp>
        <p:nvSpPr>
          <p:cNvPr id="3500" name="Google Shape;3500;p478"/>
          <p:cNvSpPr txBox="1">
            <a:spLocks noGrp="1"/>
          </p:cNvSpPr>
          <p:nvPr>
            <p:ph type="subTitle" idx="1"/>
          </p:nvPr>
        </p:nvSpPr>
        <p:spPr>
          <a:xfrm>
            <a:off x="766397" y="1174702"/>
            <a:ext cx="10659300" cy="583500"/>
          </a:xfrm>
          <a:prstGeom prst="rect">
            <a:avLst/>
          </a:prstGeom>
        </p:spPr>
        <p:txBody>
          <a:bodyPr spcFirstLastPara="1" vert="horz" wrap="square" lIns="0" tIns="0" rIns="0" bIns="0" rtlCol="0" anchor="t" anchorCtr="0">
            <a:noAutofit/>
          </a:bodyPr>
          <a:lstStyle/>
          <a:p>
            <a:pPr marL="0" indent="0"/>
            <a:r>
              <a:rPr lang="en"/>
              <a:t>Dimensional Modeling</a:t>
            </a:r>
            <a:endParaRPr/>
          </a:p>
        </p:txBody>
      </p:sp>
      <p:sp>
        <p:nvSpPr>
          <p:cNvPr id="3501" name="Google Shape;3501;p478"/>
          <p:cNvSpPr txBox="1">
            <a:spLocks noGrp="1"/>
          </p:cNvSpPr>
          <p:nvPr>
            <p:ph type="body" idx="2"/>
          </p:nvPr>
        </p:nvSpPr>
        <p:spPr>
          <a:xfrm>
            <a:off x="763394" y="1836425"/>
            <a:ext cx="3963600" cy="4149900"/>
          </a:xfrm>
          <a:prstGeom prst="rect">
            <a:avLst/>
          </a:prstGeom>
        </p:spPr>
        <p:txBody>
          <a:bodyPr spcFirstLastPara="1" vert="horz" wrap="square" lIns="0" tIns="0" rIns="0" bIns="0" rtlCol="0" anchor="t" anchorCtr="0">
            <a:noAutofit/>
          </a:bodyPr>
          <a:lstStyle/>
          <a:p>
            <a:pPr indent="-304800">
              <a:lnSpc>
                <a:spcPct val="100000"/>
              </a:lnSpc>
              <a:spcBef>
                <a:spcPts val="0"/>
              </a:spcBef>
              <a:buSzPts val="1200"/>
              <a:buFont typeface="DM Sans"/>
              <a:buAutoNum type="arabicPeriod"/>
            </a:pPr>
            <a:r>
              <a:rPr lang="en" sz="1200" b="1"/>
              <a:t>Staging</a:t>
            </a:r>
            <a:endParaRPr sz="1200" b="1"/>
          </a:p>
          <a:p>
            <a:pPr lvl="1" indent="-304800">
              <a:lnSpc>
                <a:spcPct val="100000"/>
              </a:lnSpc>
              <a:spcBef>
                <a:spcPts val="300"/>
              </a:spcBef>
              <a:buSzPts val="1200"/>
              <a:buFont typeface="DM Sans"/>
              <a:buAutoNum type="alphaLcPeriod"/>
            </a:pPr>
            <a:r>
              <a:rPr lang="en" sz="1200"/>
              <a:t>Raw data in its original format (temporarily)</a:t>
            </a:r>
            <a:endParaRPr sz="1200" b="1"/>
          </a:p>
          <a:p>
            <a:pPr indent="-304800">
              <a:lnSpc>
                <a:spcPct val="100000"/>
              </a:lnSpc>
              <a:spcBef>
                <a:spcPts val="300"/>
              </a:spcBef>
              <a:buSzPts val="1200"/>
              <a:buFont typeface="DM Sans"/>
              <a:buAutoNum type="arabicPeriod"/>
            </a:pPr>
            <a:r>
              <a:rPr lang="en" sz="1200" b="1"/>
              <a:t>Ingestion</a:t>
            </a:r>
            <a:endParaRPr sz="1200" b="1"/>
          </a:p>
          <a:p>
            <a:pPr lvl="1" indent="-304800">
              <a:lnSpc>
                <a:spcPct val="100000"/>
              </a:lnSpc>
              <a:spcBef>
                <a:spcPts val="300"/>
              </a:spcBef>
              <a:buSzPts val="1200"/>
              <a:buFont typeface="DM Sans"/>
              <a:buAutoNum type="alphaLcPeriod"/>
            </a:pPr>
            <a:r>
              <a:rPr lang="en" sz="1200"/>
              <a:t>Raw data converted to Delta (from Avro, CSV, parquet, XML, JSON format in Landing)</a:t>
            </a:r>
            <a:endParaRPr sz="1200" b="1"/>
          </a:p>
          <a:p>
            <a:pPr indent="-304800">
              <a:lnSpc>
                <a:spcPct val="100000"/>
              </a:lnSpc>
              <a:spcBef>
                <a:spcPts val="300"/>
              </a:spcBef>
              <a:buSzPts val="1200"/>
              <a:buFont typeface="DM Sans"/>
              <a:buAutoNum type="arabicPeriod"/>
            </a:pPr>
            <a:r>
              <a:rPr lang="en" sz="1200" b="1"/>
              <a:t>Integration -Physical data model</a:t>
            </a:r>
            <a:endParaRPr sz="1200" b="1"/>
          </a:p>
          <a:p>
            <a:pPr lvl="1" indent="-304800">
              <a:lnSpc>
                <a:spcPct val="100000"/>
              </a:lnSpc>
              <a:spcBef>
                <a:spcPts val="300"/>
              </a:spcBef>
              <a:buSzPts val="1200"/>
              <a:buFont typeface="DM Sans"/>
              <a:buAutoNum type="alphaLcPeriod"/>
            </a:pPr>
            <a:r>
              <a:rPr lang="en" sz="1200"/>
              <a:t>Detailed information covering multiple subject areas</a:t>
            </a:r>
            <a:endParaRPr sz="1200"/>
          </a:p>
          <a:p>
            <a:pPr lvl="1" indent="-304800">
              <a:lnSpc>
                <a:spcPct val="100000"/>
              </a:lnSpc>
              <a:spcBef>
                <a:spcPts val="300"/>
              </a:spcBef>
              <a:buSzPts val="1200"/>
              <a:buFont typeface="DM Sans"/>
              <a:buAutoNum type="alphaLcPeriod"/>
            </a:pPr>
            <a:r>
              <a:rPr lang="en" sz="1200"/>
              <a:t>Integrates all data sources</a:t>
            </a:r>
            <a:endParaRPr sz="1200"/>
          </a:p>
          <a:p>
            <a:pPr lvl="1" indent="-304800">
              <a:lnSpc>
                <a:spcPct val="100000"/>
              </a:lnSpc>
              <a:spcBef>
                <a:spcPts val="300"/>
              </a:spcBef>
              <a:buSzPts val="1200"/>
              <a:buFont typeface="DM Sans"/>
              <a:buAutoNum type="alphaLcPeriod"/>
            </a:pPr>
            <a:r>
              <a:rPr lang="en" sz="1200"/>
              <a:t>Does not necessarily use a dimensional model but feeds dimensional models.</a:t>
            </a:r>
            <a:endParaRPr sz="1200"/>
          </a:p>
          <a:p>
            <a:pPr indent="-304800">
              <a:lnSpc>
                <a:spcPct val="100000"/>
              </a:lnSpc>
              <a:spcBef>
                <a:spcPts val="300"/>
              </a:spcBef>
              <a:buSzPts val="1200"/>
              <a:buFont typeface="DM Sans"/>
              <a:buAutoNum type="arabicPeriod"/>
            </a:pPr>
            <a:r>
              <a:rPr lang="en" sz="1200" b="1"/>
              <a:t>Data Mart</a:t>
            </a:r>
            <a:endParaRPr sz="1200" b="1"/>
          </a:p>
          <a:p>
            <a:pPr lvl="1" indent="-304800">
              <a:lnSpc>
                <a:spcPct val="100000"/>
              </a:lnSpc>
              <a:spcBef>
                <a:spcPts val="300"/>
              </a:spcBef>
              <a:buSzPts val="1200"/>
              <a:buFont typeface="DM Sans"/>
              <a:buAutoNum type="alphaLcPeriod"/>
            </a:pPr>
            <a:r>
              <a:rPr lang="en" sz="1200"/>
              <a:t>Subset of the Integrated layer, sometimes or aggregated data</a:t>
            </a:r>
            <a:endParaRPr sz="1200"/>
          </a:p>
          <a:p>
            <a:pPr lvl="1" indent="-304800">
              <a:lnSpc>
                <a:spcPct val="100000"/>
              </a:lnSpc>
              <a:spcBef>
                <a:spcPts val="300"/>
              </a:spcBef>
              <a:buSzPts val="1200"/>
              <a:buFont typeface="DM Sans"/>
              <a:buAutoNum type="alphaLcPeriod"/>
            </a:pPr>
            <a:r>
              <a:rPr lang="en" sz="1200"/>
              <a:t>Focus on dimensional modeling with star schema</a:t>
            </a:r>
            <a:endParaRPr sz="1200"/>
          </a:p>
          <a:p>
            <a:pPr lvl="1" indent="-304800">
              <a:lnSpc>
                <a:spcPct val="100000"/>
              </a:lnSpc>
              <a:spcBef>
                <a:spcPts val="300"/>
              </a:spcBef>
              <a:spcAft>
                <a:spcPts val="300"/>
              </a:spcAft>
              <a:buSzPts val="1200"/>
              <a:buFont typeface="DM Sans"/>
              <a:buAutoNum type="alphaLcPeriod"/>
            </a:pPr>
            <a:r>
              <a:rPr lang="en" sz="1200"/>
              <a:t>Typically oriented to a specific business line or team</a:t>
            </a:r>
            <a:endParaRPr sz="1100" b="1"/>
          </a:p>
        </p:txBody>
      </p:sp>
      <p:sp>
        <p:nvSpPr>
          <p:cNvPr id="3502" name="Google Shape;3502;p478"/>
          <p:cNvSpPr/>
          <p:nvPr/>
        </p:nvSpPr>
        <p:spPr>
          <a:xfrm>
            <a:off x="9878238" y="1661400"/>
            <a:ext cx="1545300" cy="2334300"/>
          </a:xfrm>
          <a:prstGeom prst="rect">
            <a:avLst/>
          </a:prstGeom>
          <a:solidFill>
            <a:srgbClr val="FFE599">
              <a:alpha val="40220"/>
            </a:srgbClr>
          </a:solidFill>
          <a:ln>
            <a:noFill/>
          </a:ln>
        </p:spPr>
        <p:txBody>
          <a:bodyPr spcFirstLastPara="1" wrap="square" lIns="91425" tIns="0" rIns="91425" bIns="45700" anchor="b" anchorCtr="0">
            <a:noAutofit/>
          </a:bodyPr>
          <a:lstStyle/>
          <a:p>
            <a:pPr algn="ctr"/>
            <a:r>
              <a:rPr lang="en" sz="1000" i="1">
                <a:solidFill>
                  <a:schemeClr val="accent1"/>
                </a:solidFill>
                <a:latin typeface="DM Sans Medium"/>
                <a:ea typeface="DM Sans Medium"/>
                <a:cs typeface="DM Sans Medium"/>
                <a:sym typeface="DM Sans Medium"/>
              </a:rPr>
              <a:t>gold</a:t>
            </a:r>
            <a:endParaRPr sz="1000" i="1">
              <a:solidFill>
                <a:schemeClr val="accent1"/>
              </a:solidFill>
              <a:latin typeface="DM Sans Medium"/>
              <a:ea typeface="DM Sans Medium"/>
              <a:cs typeface="DM Sans Medium"/>
              <a:sym typeface="DM Sans Medium"/>
            </a:endParaRPr>
          </a:p>
        </p:txBody>
      </p:sp>
      <p:sp>
        <p:nvSpPr>
          <p:cNvPr id="3503" name="Google Shape;3503;p478"/>
          <p:cNvSpPr/>
          <p:nvPr/>
        </p:nvSpPr>
        <p:spPr>
          <a:xfrm>
            <a:off x="6750263" y="1661768"/>
            <a:ext cx="2997000" cy="2334300"/>
          </a:xfrm>
          <a:prstGeom prst="rect">
            <a:avLst/>
          </a:prstGeom>
          <a:solidFill>
            <a:srgbClr val="C4CCD6">
              <a:alpha val="37430"/>
            </a:srgbClr>
          </a:solidFill>
          <a:ln>
            <a:noFill/>
          </a:ln>
        </p:spPr>
        <p:txBody>
          <a:bodyPr spcFirstLastPara="1" wrap="square" lIns="91425" tIns="0" rIns="91425" bIns="45700" anchor="b" anchorCtr="0">
            <a:noAutofit/>
          </a:bodyPr>
          <a:lstStyle/>
          <a:p>
            <a:pPr algn="ctr"/>
            <a:r>
              <a:rPr lang="en" sz="1000" i="1">
                <a:solidFill>
                  <a:schemeClr val="accent1"/>
                </a:solidFill>
                <a:latin typeface="DM Sans Medium"/>
                <a:ea typeface="DM Sans Medium"/>
                <a:cs typeface="DM Sans Medium"/>
                <a:sym typeface="DM Sans Medium"/>
              </a:rPr>
              <a:t>silver</a:t>
            </a:r>
            <a:endParaRPr sz="1000" i="1">
              <a:solidFill>
                <a:schemeClr val="accent1"/>
              </a:solidFill>
              <a:latin typeface="DM Sans Medium"/>
              <a:ea typeface="DM Sans Medium"/>
              <a:cs typeface="DM Sans Medium"/>
              <a:sym typeface="DM Sans Medium"/>
            </a:endParaRPr>
          </a:p>
        </p:txBody>
      </p:sp>
      <p:grpSp>
        <p:nvGrpSpPr>
          <p:cNvPr id="3504" name="Google Shape;3504;p478"/>
          <p:cNvGrpSpPr/>
          <p:nvPr/>
        </p:nvGrpSpPr>
        <p:grpSpPr>
          <a:xfrm>
            <a:off x="10035933" y="1770534"/>
            <a:ext cx="1262525" cy="1952691"/>
            <a:chOff x="8924709" y="4740375"/>
            <a:chExt cx="1137000" cy="451135"/>
          </a:xfrm>
        </p:grpSpPr>
        <p:sp>
          <p:nvSpPr>
            <p:cNvPr id="3505" name="Google Shape;3505;p478"/>
            <p:cNvSpPr/>
            <p:nvPr/>
          </p:nvSpPr>
          <p:spPr>
            <a:xfrm>
              <a:off x="8924709" y="4742409"/>
              <a:ext cx="1137000" cy="449100"/>
            </a:xfrm>
            <a:prstGeom prst="rect">
              <a:avLst/>
            </a:prstGeom>
            <a:solidFill>
              <a:srgbClr val="FFFFFF"/>
            </a:solidFill>
            <a:ln w="9525" cap="flat" cmpd="sng">
              <a:solidFill>
                <a:schemeClr val="accent1"/>
              </a:solidFill>
              <a:prstDash val="solid"/>
              <a:round/>
              <a:headEnd type="none" w="sm" len="sm"/>
              <a:tailEnd type="none" w="sm" len="sm"/>
            </a:ln>
          </p:spPr>
          <p:txBody>
            <a:bodyPr spcFirstLastPara="1" wrap="square" lIns="0" tIns="45700" rIns="0" bIns="0" anchor="t" anchorCtr="0">
              <a:noAutofit/>
            </a:bodyPr>
            <a:lstStyle/>
            <a:p>
              <a:pPr algn="ctr">
                <a:lnSpc>
                  <a:spcPct val="85000"/>
                </a:lnSpc>
              </a:pPr>
              <a:r>
                <a:rPr lang="en">
                  <a:solidFill>
                    <a:schemeClr val="accent1"/>
                  </a:solidFill>
                  <a:latin typeface="DM Sans Medium"/>
                  <a:ea typeface="DM Sans Medium"/>
                  <a:cs typeface="DM Sans Medium"/>
                  <a:sym typeface="DM Sans Medium"/>
                </a:rPr>
                <a:t>Presentation</a:t>
              </a:r>
              <a:endParaRPr>
                <a:solidFill>
                  <a:schemeClr val="accent1"/>
                </a:solidFill>
                <a:latin typeface="DM Sans Medium"/>
                <a:ea typeface="DM Sans Medium"/>
                <a:cs typeface="DM Sans Medium"/>
                <a:sym typeface="DM Sans Medium"/>
              </a:endParaRPr>
            </a:p>
          </p:txBody>
        </p:sp>
        <p:grpSp>
          <p:nvGrpSpPr>
            <p:cNvPr id="3506" name="Google Shape;3506;p478"/>
            <p:cNvGrpSpPr/>
            <p:nvPr/>
          </p:nvGrpSpPr>
          <p:grpSpPr>
            <a:xfrm>
              <a:off x="9280338" y="4740375"/>
              <a:ext cx="441300" cy="128700"/>
              <a:chOff x="6026857" y="4740375"/>
              <a:chExt cx="441300" cy="128700"/>
            </a:xfrm>
          </p:grpSpPr>
          <p:sp>
            <p:nvSpPr>
              <p:cNvPr id="3507" name="Google Shape;3507;p478"/>
              <p:cNvSpPr/>
              <p:nvPr/>
            </p:nvSpPr>
            <p:spPr>
              <a:xfrm>
                <a:off x="6026857" y="4740375"/>
                <a:ext cx="136500" cy="128700"/>
              </a:xfrm>
              <a:prstGeom prst="rect">
                <a:avLst/>
              </a:prstGeom>
              <a:noFill/>
              <a:ln>
                <a:noFill/>
              </a:ln>
            </p:spPr>
            <p:txBody>
              <a:bodyPr spcFirstLastPara="1" wrap="square" lIns="0" tIns="45700" rIns="0" bIns="0" anchor="t" anchorCtr="0">
                <a:noAutofit/>
              </a:bodyPr>
              <a:lstStyle/>
              <a:p>
                <a:pPr>
                  <a:lnSpc>
                    <a:spcPct val="85000"/>
                  </a:lnSpc>
                </a:pPr>
                <a:endParaRPr>
                  <a:latin typeface="DM Sans Medium"/>
                  <a:ea typeface="DM Sans Medium"/>
                  <a:cs typeface="DM Sans Medium"/>
                  <a:sym typeface="DM Sans Medium"/>
                </a:endParaRPr>
              </a:p>
            </p:txBody>
          </p:sp>
          <p:sp>
            <p:nvSpPr>
              <p:cNvPr id="3508" name="Google Shape;3508;p478"/>
              <p:cNvSpPr/>
              <p:nvPr/>
            </p:nvSpPr>
            <p:spPr>
              <a:xfrm>
                <a:off x="6331657" y="4740375"/>
                <a:ext cx="136500" cy="128700"/>
              </a:xfrm>
              <a:prstGeom prst="rect">
                <a:avLst/>
              </a:prstGeom>
              <a:noFill/>
              <a:ln>
                <a:noFill/>
              </a:ln>
            </p:spPr>
            <p:txBody>
              <a:bodyPr spcFirstLastPara="1" wrap="square" lIns="0" tIns="45700" rIns="0" bIns="0" anchor="t" anchorCtr="0">
                <a:noAutofit/>
              </a:bodyPr>
              <a:lstStyle/>
              <a:p>
                <a:pPr>
                  <a:lnSpc>
                    <a:spcPct val="85000"/>
                  </a:lnSpc>
                </a:pPr>
                <a:endParaRPr>
                  <a:latin typeface="DM Sans Medium"/>
                  <a:ea typeface="DM Sans Medium"/>
                  <a:cs typeface="DM Sans Medium"/>
                  <a:sym typeface="DM Sans Medium"/>
                </a:endParaRPr>
              </a:p>
            </p:txBody>
          </p:sp>
        </p:grpSp>
      </p:grpSp>
      <p:sp>
        <p:nvSpPr>
          <p:cNvPr id="3509" name="Google Shape;3509;p478"/>
          <p:cNvSpPr/>
          <p:nvPr/>
        </p:nvSpPr>
        <p:spPr>
          <a:xfrm>
            <a:off x="6866889" y="1772184"/>
            <a:ext cx="2785500" cy="1952700"/>
          </a:xfrm>
          <a:prstGeom prst="rect">
            <a:avLst/>
          </a:prstGeom>
          <a:solidFill>
            <a:srgbClr val="FFFFFF"/>
          </a:solidFill>
          <a:ln w="9525" cap="flat" cmpd="sng">
            <a:solidFill>
              <a:schemeClr val="accent1"/>
            </a:solidFill>
            <a:prstDash val="solid"/>
            <a:round/>
            <a:headEnd type="none" w="sm" len="sm"/>
            <a:tailEnd type="none" w="sm" len="sm"/>
          </a:ln>
        </p:spPr>
        <p:txBody>
          <a:bodyPr spcFirstLastPara="1" wrap="square" lIns="0" tIns="45700" rIns="0" bIns="0" anchor="t" anchorCtr="0">
            <a:noAutofit/>
          </a:bodyPr>
          <a:lstStyle/>
          <a:p>
            <a:pPr algn="ctr"/>
            <a:r>
              <a:rPr lang="en">
                <a:solidFill>
                  <a:schemeClr val="accent1"/>
                </a:solidFill>
                <a:latin typeface="DM Sans Medium"/>
                <a:ea typeface="DM Sans Medium"/>
                <a:cs typeface="DM Sans Medium"/>
                <a:sym typeface="DM Sans Medium"/>
              </a:rPr>
              <a:t>Enterprise ODS/ Integration</a:t>
            </a:r>
            <a:endParaRPr sz="1000">
              <a:solidFill>
                <a:schemeClr val="accent1"/>
              </a:solidFill>
              <a:latin typeface="DM Sans Medium"/>
              <a:ea typeface="DM Sans Medium"/>
              <a:cs typeface="DM Sans Medium"/>
              <a:sym typeface="DM Sans Medium"/>
            </a:endParaRPr>
          </a:p>
        </p:txBody>
      </p:sp>
      <p:sp>
        <p:nvSpPr>
          <p:cNvPr id="3510" name="Google Shape;3510;p478"/>
          <p:cNvSpPr/>
          <p:nvPr/>
        </p:nvSpPr>
        <p:spPr>
          <a:xfrm>
            <a:off x="5167288" y="2895938"/>
            <a:ext cx="1452000" cy="1100100"/>
          </a:xfrm>
          <a:prstGeom prst="rect">
            <a:avLst/>
          </a:prstGeom>
          <a:solidFill>
            <a:srgbClr val="E69138">
              <a:alpha val="32960"/>
            </a:srgbClr>
          </a:solidFill>
          <a:ln>
            <a:noFill/>
          </a:ln>
        </p:spPr>
        <p:txBody>
          <a:bodyPr spcFirstLastPara="1" wrap="square" lIns="91425" tIns="0" rIns="91425" bIns="45700" anchor="b" anchorCtr="0">
            <a:noAutofit/>
          </a:bodyPr>
          <a:lstStyle/>
          <a:p>
            <a:pPr indent="457200"/>
            <a:r>
              <a:rPr lang="en" sz="1000" i="1">
                <a:solidFill>
                  <a:schemeClr val="accent1"/>
                </a:solidFill>
                <a:latin typeface="DM Sans Medium"/>
                <a:ea typeface="DM Sans Medium"/>
                <a:cs typeface="DM Sans Medium"/>
                <a:sym typeface="DM Sans Medium"/>
              </a:rPr>
              <a:t>bronze</a:t>
            </a:r>
            <a:endParaRPr sz="1000" i="1">
              <a:solidFill>
                <a:schemeClr val="accent1"/>
              </a:solidFill>
              <a:latin typeface="DM Sans Medium"/>
              <a:ea typeface="DM Sans Medium"/>
              <a:cs typeface="DM Sans Medium"/>
              <a:sym typeface="DM Sans Medium"/>
            </a:endParaRPr>
          </a:p>
        </p:txBody>
      </p:sp>
      <p:sp>
        <p:nvSpPr>
          <p:cNvPr id="3511" name="Google Shape;3511;p478"/>
          <p:cNvSpPr/>
          <p:nvPr/>
        </p:nvSpPr>
        <p:spPr>
          <a:xfrm>
            <a:off x="5324788" y="2982850"/>
            <a:ext cx="1137000" cy="741900"/>
          </a:xfrm>
          <a:prstGeom prst="rect">
            <a:avLst/>
          </a:prstGeom>
          <a:solidFill>
            <a:srgbClr val="FFFFFF"/>
          </a:solidFill>
          <a:ln w="9525" cap="flat" cmpd="sng">
            <a:solidFill>
              <a:schemeClr val="accent1"/>
            </a:solidFill>
            <a:prstDash val="solid"/>
            <a:round/>
            <a:headEnd type="none" w="sm" len="sm"/>
            <a:tailEnd type="none" w="sm" len="sm"/>
          </a:ln>
        </p:spPr>
        <p:txBody>
          <a:bodyPr spcFirstLastPara="1" wrap="square" lIns="0" tIns="45700" rIns="0" bIns="0" anchor="t" anchorCtr="0">
            <a:noAutofit/>
          </a:bodyPr>
          <a:lstStyle/>
          <a:p>
            <a:pPr algn="ctr"/>
            <a:r>
              <a:rPr lang="en">
                <a:solidFill>
                  <a:schemeClr val="accent1"/>
                </a:solidFill>
                <a:latin typeface="DM Sans Medium"/>
                <a:ea typeface="DM Sans Medium"/>
                <a:cs typeface="DM Sans Medium"/>
                <a:sym typeface="DM Sans Medium"/>
              </a:rPr>
              <a:t>Ingestion</a:t>
            </a:r>
            <a:endParaRPr>
              <a:solidFill>
                <a:schemeClr val="accent1"/>
              </a:solidFill>
              <a:latin typeface="DM Sans Medium"/>
              <a:ea typeface="DM Sans Medium"/>
              <a:cs typeface="DM Sans Medium"/>
              <a:sym typeface="DM Sans Medium"/>
            </a:endParaRPr>
          </a:p>
        </p:txBody>
      </p:sp>
      <p:sp>
        <p:nvSpPr>
          <p:cNvPr id="3512" name="Google Shape;3512;p478"/>
          <p:cNvSpPr/>
          <p:nvPr/>
        </p:nvSpPr>
        <p:spPr>
          <a:xfrm>
            <a:off x="5603000" y="3305012"/>
            <a:ext cx="626700" cy="342900"/>
          </a:xfrm>
          <a:prstGeom prst="roundRect">
            <a:avLst>
              <a:gd name="adj" fmla="val 16667"/>
            </a:avLst>
          </a:prstGeom>
          <a:solidFill>
            <a:srgbClr val="FFFFFF"/>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algn="ctr"/>
            <a:r>
              <a:rPr lang="en" sz="1000">
                <a:solidFill>
                  <a:schemeClr val="accent1"/>
                </a:solidFill>
                <a:latin typeface="DM Sans"/>
                <a:ea typeface="DM Sans"/>
                <a:cs typeface="DM Sans"/>
                <a:sym typeface="DM Sans"/>
              </a:rPr>
              <a:t>raw</a:t>
            </a:r>
            <a:br>
              <a:rPr lang="en" sz="1000">
                <a:solidFill>
                  <a:schemeClr val="accent1"/>
                </a:solidFill>
                <a:latin typeface="DM Sans"/>
                <a:ea typeface="DM Sans"/>
                <a:cs typeface="DM Sans"/>
                <a:sym typeface="DM Sans"/>
              </a:rPr>
            </a:br>
            <a:r>
              <a:rPr lang="en" sz="1000">
                <a:solidFill>
                  <a:schemeClr val="accent1"/>
                </a:solidFill>
                <a:latin typeface="DM Sans"/>
                <a:ea typeface="DM Sans"/>
                <a:cs typeface="DM Sans"/>
                <a:sym typeface="DM Sans"/>
              </a:rPr>
              <a:t>data</a:t>
            </a:r>
            <a:endParaRPr sz="1000">
              <a:solidFill>
                <a:schemeClr val="accent1"/>
              </a:solidFill>
              <a:latin typeface="DM Sans"/>
              <a:ea typeface="DM Sans"/>
              <a:cs typeface="DM Sans"/>
              <a:sym typeface="DM Sans"/>
            </a:endParaRPr>
          </a:p>
        </p:txBody>
      </p:sp>
      <p:grpSp>
        <p:nvGrpSpPr>
          <p:cNvPr id="3513" name="Google Shape;3513;p478"/>
          <p:cNvGrpSpPr/>
          <p:nvPr/>
        </p:nvGrpSpPr>
        <p:grpSpPr>
          <a:xfrm>
            <a:off x="10137422" y="2161904"/>
            <a:ext cx="1059570" cy="677018"/>
            <a:chOff x="8924709" y="4740375"/>
            <a:chExt cx="1137000" cy="451135"/>
          </a:xfrm>
        </p:grpSpPr>
        <p:sp>
          <p:nvSpPr>
            <p:cNvPr id="3514" name="Google Shape;3514;p478"/>
            <p:cNvSpPr/>
            <p:nvPr/>
          </p:nvSpPr>
          <p:spPr>
            <a:xfrm>
              <a:off x="8924709" y="4742409"/>
              <a:ext cx="1137000" cy="449100"/>
            </a:xfrm>
            <a:prstGeom prst="rect">
              <a:avLst/>
            </a:prstGeom>
            <a:solidFill>
              <a:srgbClr val="FFFFFF"/>
            </a:solidFill>
            <a:ln w="9525" cap="flat" cmpd="sng">
              <a:solidFill>
                <a:schemeClr val="accent1"/>
              </a:solidFill>
              <a:prstDash val="solid"/>
              <a:round/>
              <a:headEnd type="none" w="sm" len="sm"/>
              <a:tailEnd type="none" w="sm" len="sm"/>
            </a:ln>
          </p:spPr>
          <p:txBody>
            <a:bodyPr spcFirstLastPara="1" wrap="square" lIns="0" tIns="45700" rIns="0" bIns="91425" anchor="t" anchorCtr="0">
              <a:noAutofit/>
            </a:bodyPr>
            <a:lstStyle/>
            <a:p>
              <a:pPr algn="ctr">
                <a:lnSpc>
                  <a:spcPct val="85000"/>
                </a:lnSpc>
              </a:pPr>
              <a:r>
                <a:rPr lang="en" sz="1200">
                  <a:solidFill>
                    <a:schemeClr val="accent1"/>
                  </a:solidFill>
                  <a:latin typeface="DM Sans"/>
                  <a:ea typeface="DM Sans"/>
                  <a:cs typeface="DM Sans"/>
                  <a:sym typeface="DM Sans"/>
                </a:rPr>
                <a:t>Data Mart</a:t>
              </a:r>
              <a:endParaRPr sz="1200">
                <a:solidFill>
                  <a:schemeClr val="accent1"/>
                </a:solidFill>
                <a:latin typeface="DM Sans"/>
                <a:ea typeface="DM Sans"/>
                <a:cs typeface="DM Sans"/>
                <a:sym typeface="DM Sans"/>
              </a:endParaRPr>
            </a:p>
          </p:txBody>
        </p:sp>
        <p:sp>
          <p:nvSpPr>
            <p:cNvPr id="3515" name="Google Shape;3515;p478"/>
            <p:cNvSpPr/>
            <p:nvPr/>
          </p:nvSpPr>
          <p:spPr>
            <a:xfrm>
              <a:off x="9585138" y="4740375"/>
              <a:ext cx="136500" cy="128700"/>
            </a:xfrm>
            <a:prstGeom prst="rect">
              <a:avLst/>
            </a:prstGeom>
            <a:noFill/>
            <a:ln>
              <a:noFill/>
            </a:ln>
          </p:spPr>
          <p:txBody>
            <a:bodyPr spcFirstLastPara="1" wrap="square" lIns="0" tIns="45700" rIns="0" bIns="91425" anchor="t" anchorCtr="0">
              <a:noAutofit/>
            </a:bodyPr>
            <a:lstStyle/>
            <a:p>
              <a:pPr>
                <a:lnSpc>
                  <a:spcPct val="85000"/>
                </a:lnSpc>
              </a:pPr>
              <a:endParaRPr sz="1200"/>
            </a:p>
          </p:txBody>
        </p:sp>
      </p:grpSp>
      <p:pic>
        <p:nvPicPr>
          <p:cNvPr id="3516" name="Google Shape;3516;p478"/>
          <p:cNvPicPr preferRelativeResize="0"/>
          <p:nvPr/>
        </p:nvPicPr>
        <p:blipFill rotWithShape="1">
          <a:blip r:embed="rId3">
            <a:alphaModFix/>
          </a:blip>
          <a:srcRect b="17850"/>
          <a:stretch/>
        </p:blipFill>
        <p:spPr>
          <a:xfrm>
            <a:off x="7759424" y="3764758"/>
            <a:ext cx="324301" cy="206938"/>
          </a:xfrm>
          <a:prstGeom prst="rect">
            <a:avLst/>
          </a:prstGeom>
          <a:noFill/>
          <a:ln>
            <a:noFill/>
          </a:ln>
        </p:spPr>
      </p:pic>
      <p:pic>
        <p:nvPicPr>
          <p:cNvPr id="3517" name="Google Shape;3517;p478"/>
          <p:cNvPicPr preferRelativeResize="0"/>
          <p:nvPr/>
        </p:nvPicPr>
        <p:blipFill rotWithShape="1">
          <a:blip r:embed="rId3">
            <a:alphaModFix/>
          </a:blip>
          <a:srcRect b="17850"/>
          <a:stretch/>
        </p:blipFill>
        <p:spPr>
          <a:xfrm>
            <a:off x="10190261" y="3764758"/>
            <a:ext cx="324301" cy="206938"/>
          </a:xfrm>
          <a:prstGeom prst="rect">
            <a:avLst/>
          </a:prstGeom>
          <a:noFill/>
          <a:ln>
            <a:noFill/>
          </a:ln>
        </p:spPr>
      </p:pic>
      <p:sp>
        <p:nvSpPr>
          <p:cNvPr id="3518" name="Google Shape;3518;p478"/>
          <p:cNvSpPr/>
          <p:nvPr/>
        </p:nvSpPr>
        <p:spPr>
          <a:xfrm>
            <a:off x="6594190" y="3188175"/>
            <a:ext cx="198600" cy="247800"/>
          </a:xfrm>
          <a:prstGeom prst="rightArrow">
            <a:avLst>
              <a:gd name="adj1" fmla="val 50000"/>
              <a:gd name="adj2" fmla="val 50000"/>
            </a:avLst>
          </a:prstGeom>
          <a:solidFill>
            <a:schemeClr val="accent5"/>
          </a:solidFill>
          <a:ln>
            <a:noFill/>
          </a:ln>
        </p:spPr>
        <p:txBody>
          <a:bodyPr spcFirstLastPara="1" wrap="square" lIns="91425" tIns="91425" rIns="91425" bIns="91425" anchor="ctr" anchorCtr="0">
            <a:noAutofit/>
          </a:bodyPr>
          <a:lstStyle/>
          <a:p>
            <a:endParaRPr/>
          </a:p>
        </p:txBody>
      </p:sp>
      <p:sp>
        <p:nvSpPr>
          <p:cNvPr id="3519" name="Google Shape;3519;p478"/>
          <p:cNvSpPr/>
          <p:nvPr/>
        </p:nvSpPr>
        <p:spPr>
          <a:xfrm>
            <a:off x="9715375" y="2807175"/>
            <a:ext cx="198600" cy="247800"/>
          </a:xfrm>
          <a:prstGeom prst="rightArrow">
            <a:avLst>
              <a:gd name="adj1" fmla="val 50000"/>
              <a:gd name="adj2" fmla="val 50000"/>
            </a:avLst>
          </a:prstGeom>
          <a:solidFill>
            <a:schemeClr val="accent5"/>
          </a:solidFill>
          <a:ln>
            <a:noFill/>
          </a:ln>
        </p:spPr>
        <p:txBody>
          <a:bodyPr spcFirstLastPara="1" wrap="square" lIns="91425" tIns="91425" rIns="91425" bIns="91425" anchor="ctr" anchorCtr="0">
            <a:noAutofit/>
          </a:bodyPr>
          <a:lstStyle/>
          <a:p>
            <a:endParaRPr/>
          </a:p>
        </p:txBody>
      </p:sp>
      <p:sp>
        <p:nvSpPr>
          <p:cNvPr id="3520" name="Google Shape;3520;p478"/>
          <p:cNvSpPr/>
          <p:nvPr/>
        </p:nvSpPr>
        <p:spPr>
          <a:xfrm>
            <a:off x="7315788" y="5201541"/>
            <a:ext cx="525300" cy="247800"/>
          </a:xfrm>
          <a:prstGeom prst="roundRect">
            <a:avLst>
              <a:gd name="adj" fmla="val 16667"/>
            </a:avLst>
          </a:prstGeom>
          <a:solidFill>
            <a:srgbClr val="FFFFFF"/>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algn="ctr"/>
            <a:r>
              <a:rPr lang="en" sz="1000">
                <a:solidFill>
                  <a:schemeClr val="accent1"/>
                </a:solidFill>
                <a:latin typeface="DM Sans"/>
                <a:ea typeface="DM Sans"/>
                <a:cs typeface="DM Sans"/>
                <a:sym typeface="DM Sans"/>
              </a:rPr>
              <a:t>Dim</a:t>
            </a:r>
            <a:endParaRPr sz="1000">
              <a:solidFill>
                <a:schemeClr val="accent1"/>
              </a:solidFill>
              <a:latin typeface="DM Sans"/>
              <a:ea typeface="DM Sans"/>
              <a:cs typeface="DM Sans"/>
              <a:sym typeface="DM Sans"/>
            </a:endParaRPr>
          </a:p>
        </p:txBody>
      </p:sp>
      <p:sp>
        <p:nvSpPr>
          <p:cNvPr id="3521" name="Google Shape;3521;p478"/>
          <p:cNvSpPr/>
          <p:nvPr/>
        </p:nvSpPr>
        <p:spPr>
          <a:xfrm>
            <a:off x="8676738" y="5201541"/>
            <a:ext cx="525300" cy="247800"/>
          </a:xfrm>
          <a:prstGeom prst="roundRect">
            <a:avLst>
              <a:gd name="adj" fmla="val 16667"/>
            </a:avLst>
          </a:prstGeom>
          <a:solidFill>
            <a:srgbClr val="FFFFFF"/>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algn="ctr"/>
            <a:r>
              <a:rPr lang="en" sz="1000">
                <a:solidFill>
                  <a:schemeClr val="accent1"/>
                </a:solidFill>
                <a:latin typeface="DM Sans"/>
                <a:ea typeface="DM Sans"/>
                <a:cs typeface="DM Sans"/>
                <a:sym typeface="DM Sans"/>
              </a:rPr>
              <a:t>Dim</a:t>
            </a:r>
            <a:endParaRPr sz="1000">
              <a:solidFill>
                <a:schemeClr val="accent1"/>
              </a:solidFill>
              <a:latin typeface="DM Sans"/>
              <a:ea typeface="DM Sans"/>
              <a:cs typeface="DM Sans"/>
              <a:sym typeface="DM Sans"/>
            </a:endParaRPr>
          </a:p>
        </p:txBody>
      </p:sp>
      <p:sp>
        <p:nvSpPr>
          <p:cNvPr id="3522" name="Google Shape;3522;p478"/>
          <p:cNvSpPr/>
          <p:nvPr/>
        </p:nvSpPr>
        <p:spPr>
          <a:xfrm>
            <a:off x="8001969" y="5772691"/>
            <a:ext cx="525300" cy="247800"/>
          </a:xfrm>
          <a:prstGeom prst="roundRect">
            <a:avLst>
              <a:gd name="adj" fmla="val 16667"/>
            </a:avLst>
          </a:prstGeom>
          <a:solidFill>
            <a:srgbClr val="FFFFFF"/>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algn="ctr"/>
            <a:r>
              <a:rPr lang="en" sz="1000">
                <a:solidFill>
                  <a:schemeClr val="accent1"/>
                </a:solidFill>
                <a:latin typeface="DM Sans"/>
                <a:ea typeface="DM Sans"/>
                <a:cs typeface="DM Sans"/>
                <a:sym typeface="DM Sans"/>
              </a:rPr>
              <a:t>Dim</a:t>
            </a:r>
            <a:endParaRPr sz="1000">
              <a:solidFill>
                <a:schemeClr val="accent1"/>
              </a:solidFill>
              <a:latin typeface="DM Sans"/>
              <a:ea typeface="DM Sans"/>
              <a:cs typeface="DM Sans"/>
              <a:sym typeface="DM Sans"/>
            </a:endParaRPr>
          </a:p>
        </p:txBody>
      </p:sp>
      <p:sp>
        <p:nvSpPr>
          <p:cNvPr id="3523" name="Google Shape;3523;p478"/>
          <p:cNvSpPr/>
          <p:nvPr/>
        </p:nvSpPr>
        <p:spPr>
          <a:xfrm>
            <a:off x="8001969" y="5201541"/>
            <a:ext cx="525300" cy="247800"/>
          </a:xfrm>
          <a:prstGeom prst="roundRect">
            <a:avLst>
              <a:gd name="adj" fmla="val 16667"/>
            </a:avLst>
          </a:prstGeom>
          <a:solidFill>
            <a:srgbClr val="FFFFFF"/>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algn="ctr"/>
            <a:r>
              <a:rPr lang="en" sz="1000">
                <a:solidFill>
                  <a:schemeClr val="accent1"/>
                </a:solidFill>
                <a:latin typeface="DM Sans"/>
                <a:ea typeface="DM Sans"/>
                <a:cs typeface="DM Sans"/>
                <a:sym typeface="DM Sans"/>
              </a:rPr>
              <a:t>Fact</a:t>
            </a:r>
            <a:endParaRPr sz="1000">
              <a:solidFill>
                <a:schemeClr val="accent1"/>
              </a:solidFill>
              <a:latin typeface="DM Sans"/>
              <a:ea typeface="DM Sans"/>
              <a:cs typeface="DM Sans"/>
              <a:sym typeface="DM Sans"/>
            </a:endParaRPr>
          </a:p>
        </p:txBody>
      </p:sp>
      <p:cxnSp>
        <p:nvCxnSpPr>
          <p:cNvPr id="3524" name="Google Shape;3524;p478"/>
          <p:cNvCxnSpPr>
            <a:stCxn id="3523" idx="2"/>
            <a:endCxn id="3522" idx="0"/>
          </p:cNvCxnSpPr>
          <p:nvPr/>
        </p:nvCxnSpPr>
        <p:spPr>
          <a:xfrm>
            <a:off x="8264619" y="5449341"/>
            <a:ext cx="0" cy="323400"/>
          </a:xfrm>
          <a:prstGeom prst="straightConnector1">
            <a:avLst/>
          </a:prstGeom>
          <a:noFill/>
          <a:ln w="9525" cap="flat" cmpd="sng">
            <a:solidFill>
              <a:schemeClr val="accent5"/>
            </a:solidFill>
            <a:prstDash val="solid"/>
            <a:round/>
            <a:headEnd type="none" w="med" len="med"/>
            <a:tailEnd type="none" w="med" len="med"/>
          </a:ln>
        </p:spPr>
      </p:cxnSp>
      <p:cxnSp>
        <p:nvCxnSpPr>
          <p:cNvPr id="3525" name="Google Shape;3525;p478"/>
          <p:cNvCxnSpPr>
            <a:stCxn id="3523" idx="1"/>
            <a:endCxn id="3520" idx="3"/>
          </p:cNvCxnSpPr>
          <p:nvPr/>
        </p:nvCxnSpPr>
        <p:spPr>
          <a:xfrm rot="10800000">
            <a:off x="7841169" y="5325441"/>
            <a:ext cx="160800" cy="0"/>
          </a:xfrm>
          <a:prstGeom prst="straightConnector1">
            <a:avLst/>
          </a:prstGeom>
          <a:noFill/>
          <a:ln w="9525" cap="flat" cmpd="sng">
            <a:solidFill>
              <a:schemeClr val="accent5"/>
            </a:solidFill>
            <a:prstDash val="solid"/>
            <a:round/>
            <a:headEnd type="none" w="med" len="med"/>
            <a:tailEnd type="none" w="med" len="med"/>
          </a:ln>
        </p:spPr>
      </p:cxnSp>
      <p:cxnSp>
        <p:nvCxnSpPr>
          <p:cNvPr id="3526" name="Google Shape;3526;p478"/>
          <p:cNvCxnSpPr>
            <a:stCxn id="3521" idx="1"/>
            <a:endCxn id="3523" idx="3"/>
          </p:cNvCxnSpPr>
          <p:nvPr/>
        </p:nvCxnSpPr>
        <p:spPr>
          <a:xfrm rot="10800000">
            <a:off x="8527338" y="5325441"/>
            <a:ext cx="149400" cy="0"/>
          </a:xfrm>
          <a:prstGeom prst="straightConnector1">
            <a:avLst/>
          </a:prstGeom>
          <a:noFill/>
          <a:ln w="9525" cap="flat" cmpd="sng">
            <a:solidFill>
              <a:schemeClr val="accent5"/>
            </a:solidFill>
            <a:prstDash val="solid"/>
            <a:round/>
            <a:headEnd type="none" w="med" len="med"/>
            <a:tailEnd type="none" w="med" len="med"/>
          </a:ln>
        </p:spPr>
      </p:cxnSp>
      <p:sp>
        <p:nvSpPr>
          <p:cNvPr id="3527" name="Google Shape;3527;p478"/>
          <p:cNvSpPr txBox="1"/>
          <p:nvPr/>
        </p:nvSpPr>
        <p:spPr>
          <a:xfrm>
            <a:off x="6484648" y="5156088"/>
            <a:ext cx="875100" cy="338700"/>
          </a:xfrm>
          <a:prstGeom prst="rect">
            <a:avLst/>
          </a:prstGeom>
          <a:noFill/>
          <a:ln>
            <a:noFill/>
          </a:ln>
        </p:spPr>
        <p:txBody>
          <a:bodyPr spcFirstLastPara="1" wrap="square" lIns="91425" tIns="91425" rIns="91425" bIns="91425" anchor="t" anchorCtr="0">
            <a:spAutoFit/>
          </a:bodyPr>
          <a:lstStyle/>
          <a:p>
            <a:pPr algn="ctr"/>
            <a:r>
              <a:rPr lang="en" sz="1000" b="1" i="1">
                <a:solidFill>
                  <a:schemeClr val="accent1"/>
                </a:solidFill>
                <a:latin typeface="DM Sans"/>
                <a:ea typeface="DM Sans"/>
                <a:cs typeface="DM Sans"/>
                <a:sym typeface="DM Sans"/>
              </a:rPr>
              <a:t>Customer</a:t>
            </a:r>
            <a:endParaRPr sz="1000" b="1" i="1"/>
          </a:p>
        </p:txBody>
      </p:sp>
      <p:sp>
        <p:nvSpPr>
          <p:cNvPr id="3528" name="Google Shape;3528;p478"/>
          <p:cNvSpPr txBox="1"/>
          <p:nvPr/>
        </p:nvSpPr>
        <p:spPr>
          <a:xfrm>
            <a:off x="9084647" y="5156088"/>
            <a:ext cx="875100" cy="338700"/>
          </a:xfrm>
          <a:prstGeom prst="rect">
            <a:avLst/>
          </a:prstGeom>
          <a:noFill/>
          <a:ln>
            <a:noFill/>
          </a:ln>
        </p:spPr>
        <p:txBody>
          <a:bodyPr spcFirstLastPara="1" wrap="square" lIns="91425" tIns="91425" rIns="91425" bIns="91425" anchor="t" anchorCtr="0">
            <a:spAutoFit/>
          </a:bodyPr>
          <a:lstStyle/>
          <a:p>
            <a:pPr algn="ctr"/>
            <a:r>
              <a:rPr lang="en" sz="1000" b="1" i="1">
                <a:solidFill>
                  <a:schemeClr val="accent1"/>
                </a:solidFill>
                <a:latin typeface="DM Sans"/>
                <a:ea typeface="DM Sans"/>
                <a:cs typeface="DM Sans"/>
                <a:sym typeface="DM Sans"/>
              </a:rPr>
              <a:t>Product</a:t>
            </a:r>
            <a:endParaRPr sz="1000" b="1" i="1"/>
          </a:p>
        </p:txBody>
      </p:sp>
      <p:sp>
        <p:nvSpPr>
          <p:cNvPr id="3529" name="Google Shape;3529;p478"/>
          <p:cNvSpPr txBox="1"/>
          <p:nvPr/>
        </p:nvSpPr>
        <p:spPr>
          <a:xfrm>
            <a:off x="7834860" y="5959165"/>
            <a:ext cx="875100" cy="338700"/>
          </a:xfrm>
          <a:prstGeom prst="rect">
            <a:avLst/>
          </a:prstGeom>
          <a:noFill/>
          <a:ln>
            <a:noFill/>
          </a:ln>
        </p:spPr>
        <p:txBody>
          <a:bodyPr spcFirstLastPara="1" wrap="square" lIns="91425" tIns="91425" rIns="91425" bIns="91425" anchor="t" anchorCtr="0">
            <a:spAutoFit/>
          </a:bodyPr>
          <a:lstStyle/>
          <a:p>
            <a:pPr algn="ctr"/>
            <a:r>
              <a:rPr lang="en" sz="1000" b="1" i="1">
                <a:solidFill>
                  <a:schemeClr val="accent1"/>
                </a:solidFill>
                <a:latin typeface="DM Sans"/>
                <a:ea typeface="DM Sans"/>
                <a:cs typeface="DM Sans"/>
                <a:sym typeface="DM Sans"/>
              </a:rPr>
              <a:t>Time</a:t>
            </a:r>
            <a:endParaRPr sz="1000" b="1" i="1"/>
          </a:p>
        </p:txBody>
      </p:sp>
      <p:sp>
        <p:nvSpPr>
          <p:cNvPr id="3530" name="Google Shape;3530;p478"/>
          <p:cNvSpPr txBox="1"/>
          <p:nvPr/>
        </p:nvSpPr>
        <p:spPr>
          <a:xfrm>
            <a:off x="7813788" y="4924213"/>
            <a:ext cx="875100" cy="338700"/>
          </a:xfrm>
          <a:prstGeom prst="rect">
            <a:avLst/>
          </a:prstGeom>
          <a:noFill/>
          <a:ln>
            <a:noFill/>
          </a:ln>
        </p:spPr>
        <p:txBody>
          <a:bodyPr spcFirstLastPara="1" wrap="square" lIns="91425" tIns="91425" rIns="91425" bIns="91425" anchor="t" anchorCtr="0">
            <a:spAutoFit/>
          </a:bodyPr>
          <a:lstStyle/>
          <a:p>
            <a:pPr algn="ctr"/>
            <a:r>
              <a:rPr lang="en" sz="1000" b="1" i="1">
                <a:solidFill>
                  <a:schemeClr val="accent1"/>
                </a:solidFill>
                <a:latin typeface="DM Sans"/>
                <a:ea typeface="DM Sans"/>
                <a:cs typeface="DM Sans"/>
                <a:sym typeface="DM Sans"/>
              </a:rPr>
              <a:t>Order</a:t>
            </a:r>
            <a:endParaRPr sz="1000" b="1" i="1"/>
          </a:p>
        </p:txBody>
      </p:sp>
      <p:sp>
        <p:nvSpPr>
          <p:cNvPr id="3531" name="Google Shape;3531;p478"/>
          <p:cNvSpPr/>
          <p:nvPr/>
        </p:nvSpPr>
        <p:spPr>
          <a:xfrm>
            <a:off x="10399176" y="2427484"/>
            <a:ext cx="525300" cy="338700"/>
          </a:xfrm>
          <a:prstGeom prst="roundRect">
            <a:avLst>
              <a:gd name="adj" fmla="val 16667"/>
            </a:avLst>
          </a:prstGeom>
          <a:solidFill>
            <a:srgbClr val="FFFFFF"/>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algn="ctr"/>
            <a:r>
              <a:rPr lang="en" sz="1000">
                <a:solidFill>
                  <a:schemeClr val="accent1"/>
                </a:solidFill>
                <a:latin typeface="DM Sans"/>
                <a:ea typeface="DM Sans"/>
                <a:cs typeface="DM Sans"/>
                <a:sym typeface="DM Sans"/>
              </a:rPr>
              <a:t>Dim. Model</a:t>
            </a:r>
            <a:endParaRPr sz="1000">
              <a:solidFill>
                <a:schemeClr val="accent1"/>
              </a:solidFill>
              <a:latin typeface="DM Sans"/>
              <a:ea typeface="DM Sans"/>
              <a:cs typeface="DM Sans"/>
              <a:sym typeface="DM Sans"/>
            </a:endParaRPr>
          </a:p>
        </p:txBody>
      </p:sp>
      <p:grpSp>
        <p:nvGrpSpPr>
          <p:cNvPr id="3532" name="Google Shape;3532;p478"/>
          <p:cNvGrpSpPr/>
          <p:nvPr/>
        </p:nvGrpSpPr>
        <p:grpSpPr>
          <a:xfrm>
            <a:off x="10137422" y="2956376"/>
            <a:ext cx="1059570" cy="677018"/>
            <a:chOff x="8924709" y="4740375"/>
            <a:chExt cx="1137000" cy="451135"/>
          </a:xfrm>
        </p:grpSpPr>
        <p:sp>
          <p:nvSpPr>
            <p:cNvPr id="3533" name="Google Shape;3533;p478"/>
            <p:cNvSpPr/>
            <p:nvPr/>
          </p:nvSpPr>
          <p:spPr>
            <a:xfrm>
              <a:off x="8924709" y="4742409"/>
              <a:ext cx="1137000" cy="449100"/>
            </a:xfrm>
            <a:prstGeom prst="rect">
              <a:avLst/>
            </a:prstGeom>
            <a:solidFill>
              <a:srgbClr val="FFFFFF"/>
            </a:solidFill>
            <a:ln w="9525" cap="flat" cmpd="sng">
              <a:solidFill>
                <a:schemeClr val="accent1"/>
              </a:solidFill>
              <a:prstDash val="solid"/>
              <a:round/>
              <a:headEnd type="none" w="sm" len="sm"/>
              <a:tailEnd type="none" w="sm" len="sm"/>
            </a:ln>
          </p:spPr>
          <p:txBody>
            <a:bodyPr spcFirstLastPara="1" wrap="square" lIns="0" tIns="45700" rIns="0" bIns="91425" anchor="t" anchorCtr="0">
              <a:noAutofit/>
            </a:bodyPr>
            <a:lstStyle/>
            <a:p>
              <a:pPr algn="ctr">
                <a:lnSpc>
                  <a:spcPct val="85000"/>
                </a:lnSpc>
              </a:pPr>
              <a:r>
                <a:rPr lang="en" sz="1200">
                  <a:solidFill>
                    <a:schemeClr val="accent1"/>
                  </a:solidFill>
                  <a:latin typeface="DM Sans"/>
                  <a:ea typeface="DM Sans"/>
                  <a:cs typeface="DM Sans"/>
                  <a:sym typeface="DM Sans"/>
                </a:rPr>
                <a:t>Data Mart</a:t>
              </a:r>
              <a:endParaRPr sz="1200">
                <a:solidFill>
                  <a:schemeClr val="accent1"/>
                </a:solidFill>
                <a:latin typeface="DM Sans"/>
                <a:ea typeface="DM Sans"/>
                <a:cs typeface="DM Sans"/>
                <a:sym typeface="DM Sans"/>
              </a:endParaRPr>
            </a:p>
          </p:txBody>
        </p:sp>
        <p:sp>
          <p:nvSpPr>
            <p:cNvPr id="3534" name="Google Shape;3534;p478"/>
            <p:cNvSpPr/>
            <p:nvPr/>
          </p:nvSpPr>
          <p:spPr>
            <a:xfrm>
              <a:off x="9585138" y="4740375"/>
              <a:ext cx="136500" cy="128700"/>
            </a:xfrm>
            <a:prstGeom prst="rect">
              <a:avLst/>
            </a:prstGeom>
            <a:noFill/>
            <a:ln>
              <a:noFill/>
            </a:ln>
          </p:spPr>
          <p:txBody>
            <a:bodyPr spcFirstLastPara="1" wrap="square" lIns="0" tIns="45700" rIns="0" bIns="91425" anchor="t" anchorCtr="0">
              <a:noAutofit/>
            </a:bodyPr>
            <a:lstStyle/>
            <a:p>
              <a:pPr>
                <a:lnSpc>
                  <a:spcPct val="85000"/>
                </a:lnSpc>
              </a:pPr>
              <a:endParaRPr sz="1200"/>
            </a:p>
          </p:txBody>
        </p:sp>
      </p:grpSp>
      <p:sp>
        <p:nvSpPr>
          <p:cNvPr id="3535" name="Google Shape;3535;p478"/>
          <p:cNvSpPr/>
          <p:nvPr/>
        </p:nvSpPr>
        <p:spPr>
          <a:xfrm>
            <a:off x="10399176" y="3218636"/>
            <a:ext cx="525300" cy="338700"/>
          </a:xfrm>
          <a:prstGeom prst="roundRect">
            <a:avLst>
              <a:gd name="adj" fmla="val 16667"/>
            </a:avLst>
          </a:prstGeom>
          <a:solidFill>
            <a:srgbClr val="FFFFFF"/>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algn="ctr"/>
            <a:r>
              <a:rPr lang="en" sz="1000">
                <a:solidFill>
                  <a:schemeClr val="accent1"/>
                </a:solidFill>
                <a:latin typeface="DM Sans"/>
                <a:ea typeface="DM Sans"/>
                <a:cs typeface="DM Sans"/>
                <a:sym typeface="DM Sans"/>
              </a:rPr>
              <a:t>Dim. Model</a:t>
            </a:r>
            <a:endParaRPr sz="1000">
              <a:solidFill>
                <a:schemeClr val="accent1"/>
              </a:solidFill>
              <a:latin typeface="DM Sans"/>
              <a:ea typeface="DM Sans"/>
              <a:cs typeface="DM Sans"/>
              <a:sym typeface="DM Sans"/>
            </a:endParaRPr>
          </a:p>
        </p:txBody>
      </p:sp>
      <p:sp>
        <p:nvSpPr>
          <p:cNvPr id="3536" name="Google Shape;3536;p478"/>
          <p:cNvSpPr txBox="1"/>
          <p:nvPr/>
        </p:nvSpPr>
        <p:spPr>
          <a:xfrm>
            <a:off x="6542938" y="4543225"/>
            <a:ext cx="3416700" cy="369300"/>
          </a:xfrm>
          <a:prstGeom prst="rect">
            <a:avLst/>
          </a:prstGeom>
          <a:noFill/>
          <a:ln>
            <a:noFill/>
          </a:ln>
        </p:spPr>
        <p:txBody>
          <a:bodyPr spcFirstLastPara="1" wrap="square" lIns="91425" tIns="91425" rIns="91425" bIns="91425" anchor="t" anchorCtr="0">
            <a:spAutoFit/>
          </a:bodyPr>
          <a:lstStyle/>
          <a:p>
            <a:pPr algn="ctr"/>
            <a:r>
              <a:rPr lang="en" sz="1200">
                <a:solidFill>
                  <a:schemeClr val="accent1"/>
                </a:solidFill>
                <a:latin typeface="DM Sans Medium"/>
                <a:ea typeface="DM Sans Medium"/>
                <a:cs typeface="DM Sans Medium"/>
                <a:sym typeface="DM Sans Medium"/>
              </a:rPr>
              <a:t>Dimensional model (star schema)</a:t>
            </a:r>
            <a:endParaRPr sz="1200">
              <a:latin typeface="DM Sans Medium"/>
              <a:ea typeface="DM Sans Medium"/>
              <a:cs typeface="DM Sans Medium"/>
              <a:sym typeface="DM Sans Medium"/>
            </a:endParaRPr>
          </a:p>
        </p:txBody>
      </p:sp>
      <p:sp>
        <p:nvSpPr>
          <p:cNvPr id="3537" name="Google Shape;3537;p478"/>
          <p:cNvSpPr/>
          <p:nvPr/>
        </p:nvSpPr>
        <p:spPr>
          <a:xfrm>
            <a:off x="7199139" y="3171502"/>
            <a:ext cx="2115900" cy="342900"/>
          </a:xfrm>
          <a:prstGeom prst="roundRect">
            <a:avLst>
              <a:gd name="adj" fmla="val 16667"/>
            </a:avLst>
          </a:prstGeom>
          <a:solidFill>
            <a:srgbClr val="FFFFFF"/>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algn="ctr"/>
            <a:r>
              <a:rPr lang="en" sz="1200">
                <a:solidFill>
                  <a:schemeClr val="accent1"/>
                </a:solidFill>
                <a:latin typeface="DM Sans"/>
                <a:ea typeface="DM Sans"/>
                <a:cs typeface="DM Sans"/>
                <a:sym typeface="DM Sans"/>
              </a:rPr>
              <a:t>Physical Data Model</a:t>
            </a:r>
            <a:endParaRPr sz="1200">
              <a:solidFill>
                <a:schemeClr val="accent1"/>
              </a:solidFill>
              <a:latin typeface="DM Sans"/>
              <a:ea typeface="DM Sans"/>
              <a:cs typeface="DM Sans"/>
              <a:sym typeface="DM Sans"/>
            </a:endParaRPr>
          </a:p>
        </p:txBody>
      </p:sp>
      <p:sp>
        <p:nvSpPr>
          <p:cNvPr id="3538" name="Google Shape;3538;p478"/>
          <p:cNvSpPr/>
          <p:nvPr/>
        </p:nvSpPr>
        <p:spPr>
          <a:xfrm>
            <a:off x="7199138" y="2749900"/>
            <a:ext cx="1137000" cy="342900"/>
          </a:xfrm>
          <a:prstGeom prst="roundRect">
            <a:avLst>
              <a:gd name="adj" fmla="val 16667"/>
            </a:avLst>
          </a:prstGeom>
          <a:solidFill>
            <a:srgbClr val="FFFFFF"/>
          </a:solidFill>
          <a:ln w="9525" cap="flat" cmpd="sng">
            <a:solidFill>
              <a:schemeClr val="accent1"/>
            </a:solidFill>
            <a:prstDash val="dot"/>
            <a:round/>
            <a:headEnd type="none" w="sm" len="sm"/>
            <a:tailEnd type="none" w="sm" len="sm"/>
          </a:ln>
        </p:spPr>
        <p:txBody>
          <a:bodyPr spcFirstLastPara="1" wrap="square" lIns="0" tIns="0" rIns="0" bIns="0" anchor="ctr" anchorCtr="0">
            <a:noAutofit/>
          </a:bodyPr>
          <a:lstStyle/>
          <a:p>
            <a:pPr algn="ctr"/>
            <a:r>
              <a:rPr lang="en" sz="1200">
                <a:solidFill>
                  <a:schemeClr val="accent1"/>
                </a:solidFill>
                <a:latin typeface="DM Sans"/>
                <a:ea typeface="DM Sans"/>
                <a:cs typeface="DM Sans"/>
                <a:sym typeface="DM Sans"/>
              </a:rPr>
              <a:t>Customer Domain</a:t>
            </a:r>
            <a:endParaRPr sz="1200">
              <a:solidFill>
                <a:schemeClr val="accent1"/>
              </a:solidFill>
              <a:latin typeface="DM Sans"/>
              <a:ea typeface="DM Sans"/>
              <a:cs typeface="DM Sans"/>
              <a:sym typeface="DM Sans"/>
            </a:endParaRPr>
          </a:p>
        </p:txBody>
      </p:sp>
      <p:sp>
        <p:nvSpPr>
          <p:cNvPr id="3539" name="Google Shape;3539;p478"/>
          <p:cNvSpPr/>
          <p:nvPr/>
        </p:nvSpPr>
        <p:spPr>
          <a:xfrm>
            <a:off x="7199138" y="2328975"/>
            <a:ext cx="1137000" cy="342900"/>
          </a:xfrm>
          <a:prstGeom prst="roundRect">
            <a:avLst>
              <a:gd name="adj" fmla="val 16667"/>
            </a:avLst>
          </a:prstGeom>
          <a:solidFill>
            <a:srgbClr val="FFFFFF"/>
          </a:solidFill>
          <a:ln w="9525" cap="flat" cmpd="sng">
            <a:solidFill>
              <a:schemeClr val="accent1"/>
            </a:solidFill>
            <a:prstDash val="dot"/>
            <a:round/>
            <a:headEnd type="none" w="sm" len="sm"/>
            <a:tailEnd type="none" w="sm" len="sm"/>
          </a:ln>
        </p:spPr>
        <p:txBody>
          <a:bodyPr spcFirstLastPara="1" wrap="square" lIns="0" tIns="0" rIns="0" bIns="0" anchor="ctr" anchorCtr="0">
            <a:noAutofit/>
          </a:bodyPr>
          <a:lstStyle/>
          <a:p>
            <a:pPr algn="ctr"/>
            <a:r>
              <a:rPr lang="en" sz="1200">
                <a:solidFill>
                  <a:schemeClr val="accent1"/>
                </a:solidFill>
                <a:latin typeface="DM Sans"/>
                <a:ea typeface="DM Sans"/>
                <a:cs typeface="DM Sans"/>
                <a:sym typeface="DM Sans"/>
              </a:rPr>
              <a:t>Product Domain</a:t>
            </a:r>
            <a:endParaRPr sz="1200">
              <a:solidFill>
                <a:schemeClr val="accent1"/>
              </a:solidFill>
              <a:latin typeface="DM Sans"/>
              <a:ea typeface="DM Sans"/>
              <a:cs typeface="DM Sans"/>
              <a:sym typeface="DM Sans"/>
            </a:endParaRPr>
          </a:p>
        </p:txBody>
      </p:sp>
      <p:cxnSp>
        <p:nvCxnSpPr>
          <p:cNvPr id="3540" name="Google Shape;3540;p478"/>
          <p:cNvCxnSpPr>
            <a:endCxn id="3514" idx="1"/>
          </p:cNvCxnSpPr>
          <p:nvPr/>
        </p:nvCxnSpPr>
        <p:spPr>
          <a:xfrm>
            <a:off x="9697022" y="2486339"/>
            <a:ext cx="440400" cy="15600"/>
          </a:xfrm>
          <a:prstGeom prst="curvedConnector3">
            <a:avLst>
              <a:gd name="adj1" fmla="val 50000"/>
            </a:avLst>
          </a:prstGeom>
          <a:noFill/>
          <a:ln w="9525" cap="flat" cmpd="sng">
            <a:solidFill>
              <a:schemeClr val="accent1"/>
            </a:solidFill>
            <a:prstDash val="dash"/>
            <a:round/>
            <a:headEnd type="none" w="sm" len="sm"/>
            <a:tailEnd type="triangle" w="sm" len="sm"/>
          </a:ln>
        </p:spPr>
      </p:cxnSp>
      <p:sp>
        <p:nvSpPr>
          <p:cNvPr id="3541" name="Google Shape;3541;p478"/>
          <p:cNvSpPr txBox="1"/>
          <p:nvPr/>
        </p:nvSpPr>
        <p:spPr>
          <a:xfrm>
            <a:off x="6429588" y="4598726"/>
            <a:ext cx="3585600" cy="461635"/>
          </a:xfrm>
          <a:prstGeom prst="rect">
            <a:avLst/>
          </a:prstGeom>
          <a:noFill/>
          <a:ln>
            <a:noFill/>
          </a:ln>
        </p:spPr>
        <p:txBody>
          <a:bodyPr spcFirstLastPara="1" wrap="square" lIns="91425" tIns="91425" rIns="91425" bIns="91425" anchor="t" anchorCtr="0">
            <a:spAutoFit/>
          </a:bodyPr>
          <a:lstStyle/>
          <a:p>
            <a:endParaRPr>
              <a:latin typeface="DM Sans"/>
              <a:ea typeface="DM Sans"/>
              <a:cs typeface="DM Sans"/>
              <a:sym typeface="DM Sans"/>
            </a:endParaRPr>
          </a:p>
        </p:txBody>
      </p:sp>
      <p:sp>
        <p:nvSpPr>
          <p:cNvPr id="3542" name="Google Shape;3542;p478"/>
          <p:cNvSpPr/>
          <p:nvPr/>
        </p:nvSpPr>
        <p:spPr>
          <a:xfrm>
            <a:off x="6415013" y="4423800"/>
            <a:ext cx="3687600" cy="1989600"/>
          </a:xfrm>
          <a:prstGeom prst="rect">
            <a:avLst/>
          </a:prstGeom>
          <a:noFill/>
          <a:ln w="9525"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3543" name="Google Shape;3543;p478"/>
          <p:cNvSpPr/>
          <p:nvPr/>
        </p:nvSpPr>
        <p:spPr>
          <a:xfrm>
            <a:off x="5165288" y="1661775"/>
            <a:ext cx="1452000" cy="1057500"/>
          </a:xfrm>
          <a:prstGeom prst="rect">
            <a:avLst/>
          </a:prstGeom>
          <a:solidFill>
            <a:srgbClr val="F3ECE5">
              <a:alpha val="32960"/>
            </a:srgbClr>
          </a:solidFill>
          <a:ln>
            <a:noFill/>
          </a:ln>
        </p:spPr>
        <p:txBody>
          <a:bodyPr spcFirstLastPara="1" wrap="square" lIns="91425" tIns="0" rIns="91425" bIns="45700" anchor="b" anchorCtr="0">
            <a:noAutofit/>
          </a:bodyPr>
          <a:lstStyle/>
          <a:p>
            <a:pPr algn="ctr"/>
            <a:r>
              <a:rPr lang="en" sz="1000" i="1">
                <a:solidFill>
                  <a:schemeClr val="accent1"/>
                </a:solidFill>
              </a:rPr>
              <a:t>Landing (Autoloader) </a:t>
            </a:r>
            <a:endParaRPr sz="1000" i="1">
              <a:solidFill>
                <a:schemeClr val="accent1"/>
              </a:solidFill>
            </a:endParaRPr>
          </a:p>
        </p:txBody>
      </p:sp>
      <p:sp>
        <p:nvSpPr>
          <p:cNvPr id="3544" name="Google Shape;3544;p478"/>
          <p:cNvSpPr/>
          <p:nvPr/>
        </p:nvSpPr>
        <p:spPr>
          <a:xfrm>
            <a:off x="5347838" y="1725975"/>
            <a:ext cx="1137000" cy="741900"/>
          </a:xfrm>
          <a:prstGeom prst="rect">
            <a:avLst/>
          </a:prstGeom>
          <a:solidFill>
            <a:srgbClr val="FFFFFF"/>
          </a:solidFill>
          <a:ln w="9525" cap="flat" cmpd="sng">
            <a:solidFill>
              <a:schemeClr val="accent1"/>
            </a:solidFill>
            <a:prstDash val="solid"/>
            <a:round/>
            <a:headEnd type="none" w="sm" len="sm"/>
            <a:tailEnd type="none" w="sm" len="sm"/>
          </a:ln>
        </p:spPr>
        <p:txBody>
          <a:bodyPr spcFirstLastPara="1" wrap="square" lIns="0" tIns="45700" rIns="0" bIns="0" anchor="t" anchorCtr="0">
            <a:noAutofit/>
          </a:bodyPr>
          <a:lstStyle/>
          <a:p>
            <a:pPr algn="ctr"/>
            <a:r>
              <a:rPr lang="en">
                <a:solidFill>
                  <a:schemeClr val="accent1"/>
                </a:solidFill>
                <a:latin typeface="DM Sans Medium"/>
                <a:ea typeface="DM Sans Medium"/>
                <a:cs typeface="DM Sans Medium"/>
                <a:sym typeface="DM Sans Medium"/>
              </a:rPr>
              <a:t>Staging</a:t>
            </a:r>
            <a:br>
              <a:rPr lang="en">
                <a:solidFill>
                  <a:schemeClr val="accent1"/>
                </a:solidFill>
                <a:latin typeface="DM Sans Medium"/>
                <a:ea typeface="DM Sans Medium"/>
                <a:cs typeface="DM Sans Medium"/>
                <a:sym typeface="DM Sans Medium"/>
              </a:rPr>
            </a:br>
            <a:endParaRPr>
              <a:solidFill>
                <a:schemeClr val="accent1"/>
              </a:solidFill>
              <a:latin typeface="DM Sans Medium"/>
              <a:ea typeface="DM Sans Medium"/>
              <a:cs typeface="DM Sans Medium"/>
              <a:sym typeface="DM Sans Medium"/>
            </a:endParaRPr>
          </a:p>
        </p:txBody>
      </p:sp>
      <p:sp>
        <p:nvSpPr>
          <p:cNvPr id="3545" name="Google Shape;3545;p478"/>
          <p:cNvSpPr/>
          <p:nvPr/>
        </p:nvSpPr>
        <p:spPr>
          <a:xfrm>
            <a:off x="5603000" y="2048036"/>
            <a:ext cx="626700" cy="342900"/>
          </a:xfrm>
          <a:prstGeom prst="roundRect">
            <a:avLst>
              <a:gd name="adj" fmla="val 16667"/>
            </a:avLst>
          </a:prstGeom>
          <a:solidFill>
            <a:srgbClr val="FFFFFF"/>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algn="ctr"/>
            <a:r>
              <a:rPr lang="en" sz="1000">
                <a:solidFill>
                  <a:schemeClr val="accent1"/>
                </a:solidFill>
                <a:latin typeface="DM Sans"/>
                <a:ea typeface="DM Sans"/>
                <a:cs typeface="DM Sans"/>
                <a:sym typeface="DM Sans"/>
              </a:rPr>
              <a:t>raw data</a:t>
            </a:r>
            <a:br>
              <a:rPr lang="en" sz="1000">
                <a:solidFill>
                  <a:schemeClr val="accent1"/>
                </a:solidFill>
                <a:latin typeface="DM Sans"/>
                <a:ea typeface="DM Sans"/>
                <a:cs typeface="DM Sans"/>
                <a:sym typeface="DM Sans"/>
              </a:rPr>
            </a:br>
            <a:r>
              <a:rPr lang="en" sz="1000">
                <a:solidFill>
                  <a:schemeClr val="accent1"/>
                </a:solidFill>
                <a:latin typeface="DM Sans"/>
                <a:ea typeface="DM Sans"/>
                <a:cs typeface="DM Sans"/>
                <a:sym typeface="DM Sans"/>
              </a:rPr>
              <a:t>(temp.)</a:t>
            </a:r>
            <a:endParaRPr sz="1000">
              <a:solidFill>
                <a:schemeClr val="accent1"/>
              </a:solidFill>
              <a:latin typeface="DM Sans"/>
              <a:ea typeface="DM Sans"/>
              <a:cs typeface="DM Sans"/>
              <a:sym typeface="DM Sans"/>
            </a:endParaRPr>
          </a:p>
        </p:txBody>
      </p:sp>
      <p:sp>
        <p:nvSpPr>
          <p:cNvPr id="3546" name="Google Shape;3546;p478"/>
          <p:cNvSpPr/>
          <p:nvPr/>
        </p:nvSpPr>
        <p:spPr>
          <a:xfrm>
            <a:off x="8457251" y="2732450"/>
            <a:ext cx="1137000" cy="342900"/>
          </a:xfrm>
          <a:prstGeom prst="roundRect">
            <a:avLst>
              <a:gd name="adj" fmla="val 16667"/>
            </a:avLst>
          </a:prstGeom>
          <a:solidFill>
            <a:srgbClr val="FFFFFF"/>
          </a:solidFill>
          <a:ln w="9525" cap="flat" cmpd="sng">
            <a:solidFill>
              <a:schemeClr val="accent1"/>
            </a:solidFill>
            <a:prstDash val="dot"/>
            <a:round/>
            <a:headEnd type="none" w="sm" len="sm"/>
            <a:tailEnd type="none" w="sm" len="sm"/>
          </a:ln>
        </p:spPr>
        <p:txBody>
          <a:bodyPr spcFirstLastPara="1" wrap="square" lIns="0" tIns="0" rIns="0" bIns="0" anchor="ctr" anchorCtr="0">
            <a:noAutofit/>
          </a:bodyPr>
          <a:lstStyle/>
          <a:p>
            <a:pPr algn="ctr"/>
            <a:r>
              <a:rPr lang="en" sz="1200">
                <a:solidFill>
                  <a:schemeClr val="accent1"/>
                </a:solidFill>
                <a:latin typeface="DM Sans"/>
                <a:ea typeface="DM Sans"/>
                <a:cs typeface="DM Sans"/>
                <a:sym typeface="DM Sans"/>
              </a:rPr>
              <a:t>Sales </a:t>
            </a:r>
            <a:endParaRPr sz="1200">
              <a:solidFill>
                <a:schemeClr val="accent1"/>
              </a:solidFill>
              <a:latin typeface="DM Sans"/>
              <a:ea typeface="DM Sans"/>
              <a:cs typeface="DM Sans"/>
              <a:sym typeface="DM Sans"/>
            </a:endParaRPr>
          </a:p>
        </p:txBody>
      </p:sp>
      <p:sp>
        <p:nvSpPr>
          <p:cNvPr id="3547" name="Google Shape;3547;p478"/>
          <p:cNvSpPr/>
          <p:nvPr/>
        </p:nvSpPr>
        <p:spPr>
          <a:xfrm>
            <a:off x="8448076" y="2293400"/>
            <a:ext cx="1137000" cy="342900"/>
          </a:xfrm>
          <a:prstGeom prst="roundRect">
            <a:avLst>
              <a:gd name="adj" fmla="val 16667"/>
            </a:avLst>
          </a:prstGeom>
          <a:solidFill>
            <a:srgbClr val="FFFFFF"/>
          </a:solidFill>
          <a:ln w="9525" cap="flat" cmpd="sng">
            <a:solidFill>
              <a:schemeClr val="accent1"/>
            </a:solidFill>
            <a:prstDash val="dot"/>
            <a:round/>
            <a:headEnd type="none" w="sm" len="sm"/>
            <a:tailEnd type="none" w="sm" len="sm"/>
          </a:ln>
        </p:spPr>
        <p:txBody>
          <a:bodyPr spcFirstLastPara="1" wrap="square" lIns="0" tIns="0" rIns="0" bIns="0" anchor="ctr" anchorCtr="0">
            <a:noAutofit/>
          </a:bodyPr>
          <a:lstStyle/>
          <a:p>
            <a:pPr algn="ctr"/>
            <a:r>
              <a:rPr lang="en" sz="1200">
                <a:solidFill>
                  <a:schemeClr val="accent1"/>
                </a:solidFill>
                <a:latin typeface="DM Sans"/>
                <a:ea typeface="DM Sans"/>
                <a:cs typeface="DM Sans"/>
                <a:sym typeface="DM Sans"/>
              </a:rPr>
              <a:t>IoT, Social Media Data</a:t>
            </a:r>
            <a:endParaRPr sz="1200">
              <a:solidFill>
                <a:schemeClr val="accent1"/>
              </a:solidFill>
              <a:latin typeface="DM Sans"/>
              <a:ea typeface="DM Sans"/>
              <a:cs typeface="DM Sans"/>
              <a:sym typeface="DM Sans"/>
            </a:endParaRPr>
          </a:p>
        </p:txBody>
      </p:sp>
      <p:sp>
        <p:nvSpPr>
          <p:cNvPr id="3548" name="Google Shape;3548;p478"/>
          <p:cNvSpPr txBox="1"/>
          <p:nvPr/>
        </p:nvSpPr>
        <p:spPr>
          <a:xfrm>
            <a:off x="495313" y="5759075"/>
            <a:ext cx="5530500" cy="738900"/>
          </a:xfrm>
          <a:prstGeom prst="rect">
            <a:avLst/>
          </a:prstGeom>
          <a:noFill/>
          <a:ln>
            <a:noFill/>
          </a:ln>
        </p:spPr>
        <p:txBody>
          <a:bodyPr spcFirstLastPara="1" wrap="square" lIns="91425" tIns="91425" rIns="91425" bIns="91425" anchor="t" anchorCtr="0">
            <a:spAutoFit/>
          </a:bodyPr>
          <a:lstStyle/>
          <a:p>
            <a:r>
              <a:rPr lang="en" sz="1200" u="sng">
                <a:solidFill>
                  <a:schemeClr val="hlink"/>
                </a:solidFill>
                <a:hlinkClick r:id="rId4"/>
              </a:rPr>
              <a:t>Implementing Data Modeling Techniques in the Databricks Lakehouse Platform</a:t>
            </a:r>
            <a:endParaRPr sz="1200"/>
          </a:p>
          <a:p>
            <a:endParaRPr sz="1200"/>
          </a:p>
          <a:p>
            <a:r>
              <a:rPr lang="en" sz="1200" u="sng">
                <a:solidFill>
                  <a:schemeClr val="hlink"/>
                </a:solidFill>
                <a:latin typeface="DM Sans"/>
                <a:ea typeface="DM Sans"/>
                <a:cs typeface="DM Sans"/>
                <a:sym typeface="DM Sans"/>
                <a:hlinkClick r:id="rId5"/>
              </a:rPr>
              <a:t>Data Modeling Best Practices in the Databricks Lakehouse Platform</a:t>
            </a:r>
            <a:endParaRPr sz="1200">
              <a:latin typeface="DM Sans"/>
              <a:ea typeface="DM Sans"/>
              <a:cs typeface="DM Sans"/>
              <a:sym typeface="DM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52"/>
        <p:cNvGrpSpPr/>
        <p:nvPr/>
      </p:nvGrpSpPr>
      <p:grpSpPr>
        <a:xfrm>
          <a:off x="0" y="0"/>
          <a:ext cx="0" cy="0"/>
          <a:chOff x="0" y="0"/>
          <a:chExt cx="0" cy="0"/>
        </a:xfrm>
      </p:grpSpPr>
      <p:sp>
        <p:nvSpPr>
          <p:cNvPr id="3553" name="Google Shape;3553;p479"/>
          <p:cNvSpPr txBox="1">
            <a:spLocks noGrp="1"/>
          </p:cNvSpPr>
          <p:nvPr>
            <p:ph type="sldNum" idx="12"/>
          </p:nvPr>
        </p:nvSpPr>
        <p:spPr>
          <a:xfrm>
            <a:off x="11099257" y="6473300"/>
            <a:ext cx="324300" cy="186600"/>
          </a:xfrm>
          <a:prstGeom prst="rect">
            <a:avLst/>
          </a:prstGeom>
        </p:spPr>
        <p:txBody>
          <a:bodyPr spcFirstLastPara="1" vert="horz" wrap="square" lIns="0" tIns="0" rIns="0" bIns="0" rtlCol="0" anchor="t" anchorCtr="0">
            <a:noAutofit/>
          </a:bodyPr>
          <a:lstStyle/>
          <a:p>
            <a:fld id="{00000000-1234-1234-1234-123412341234}" type="slidenum">
              <a:rPr lang="en"/>
              <a:pPr/>
              <a:t>21</a:t>
            </a:fld>
            <a:endParaRPr/>
          </a:p>
        </p:txBody>
      </p:sp>
      <p:sp>
        <p:nvSpPr>
          <p:cNvPr id="3554" name="Google Shape;3554;p479"/>
          <p:cNvSpPr txBox="1">
            <a:spLocks noGrp="1"/>
          </p:cNvSpPr>
          <p:nvPr>
            <p:ph type="title"/>
          </p:nvPr>
        </p:nvSpPr>
        <p:spPr>
          <a:xfrm>
            <a:off x="750833" y="535597"/>
            <a:ext cx="10659300" cy="583500"/>
          </a:xfrm>
          <a:prstGeom prst="rect">
            <a:avLst/>
          </a:prstGeom>
        </p:spPr>
        <p:txBody>
          <a:bodyPr spcFirstLastPara="1" vert="horz" wrap="square" lIns="0" tIns="0" rIns="0" bIns="0" rtlCol="0" anchor="ctr" anchorCtr="0">
            <a:noAutofit/>
          </a:bodyPr>
          <a:lstStyle/>
          <a:p>
            <a:r>
              <a:rPr lang="en"/>
              <a:t>A Well Architected Lakehouse</a:t>
            </a:r>
            <a:endParaRPr/>
          </a:p>
        </p:txBody>
      </p:sp>
      <p:sp>
        <p:nvSpPr>
          <p:cNvPr id="3555" name="Google Shape;3555;p479"/>
          <p:cNvSpPr txBox="1"/>
          <p:nvPr/>
        </p:nvSpPr>
        <p:spPr>
          <a:xfrm>
            <a:off x="11649088" y="0"/>
            <a:ext cx="541500" cy="215400"/>
          </a:xfrm>
          <a:prstGeom prst="rect">
            <a:avLst/>
          </a:prstGeom>
          <a:noFill/>
          <a:ln>
            <a:noFill/>
          </a:ln>
        </p:spPr>
        <p:txBody>
          <a:bodyPr spcFirstLastPara="1" wrap="square" lIns="45700" tIns="45700" rIns="45700" bIns="45700" anchor="t" anchorCtr="0">
            <a:spAutoFit/>
          </a:bodyPr>
          <a:lstStyle/>
          <a:p>
            <a:r>
              <a:rPr lang="en" sz="800" i="1">
                <a:latin typeface="DM Sans"/>
                <a:ea typeface="DM Sans"/>
                <a:cs typeface="DM Sans"/>
                <a:sym typeface="DM Sans"/>
              </a:rPr>
              <a:t>animated</a:t>
            </a:r>
            <a:endParaRPr sz="800" i="1">
              <a:latin typeface="DM Sans"/>
              <a:ea typeface="DM Sans"/>
              <a:cs typeface="DM Sans"/>
              <a:sym typeface="DM Sans"/>
            </a:endParaRPr>
          </a:p>
        </p:txBody>
      </p:sp>
      <p:sp>
        <p:nvSpPr>
          <p:cNvPr id="3556" name="Google Shape;3556;p479"/>
          <p:cNvSpPr txBox="1">
            <a:spLocks noGrp="1"/>
          </p:cNvSpPr>
          <p:nvPr>
            <p:ph type="subTitle" idx="1"/>
          </p:nvPr>
        </p:nvSpPr>
        <p:spPr>
          <a:xfrm>
            <a:off x="766397" y="1174702"/>
            <a:ext cx="10659300" cy="583500"/>
          </a:xfrm>
          <a:prstGeom prst="rect">
            <a:avLst/>
          </a:prstGeom>
        </p:spPr>
        <p:txBody>
          <a:bodyPr spcFirstLastPara="1" vert="horz" wrap="square" lIns="0" tIns="0" rIns="0" bIns="0" rtlCol="0" anchor="t" anchorCtr="0">
            <a:noAutofit/>
          </a:bodyPr>
          <a:lstStyle/>
          <a:p>
            <a:pPr marL="0" indent="0"/>
            <a:r>
              <a:rPr lang="en"/>
              <a:t>The Data Vault 2.0</a:t>
            </a:r>
            <a:endParaRPr/>
          </a:p>
        </p:txBody>
      </p:sp>
      <p:sp>
        <p:nvSpPr>
          <p:cNvPr id="3557" name="Google Shape;3557;p479"/>
          <p:cNvSpPr txBox="1">
            <a:spLocks noGrp="1"/>
          </p:cNvSpPr>
          <p:nvPr>
            <p:ph type="body" idx="2"/>
          </p:nvPr>
        </p:nvSpPr>
        <p:spPr>
          <a:xfrm>
            <a:off x="763394" y="1836425"/>
            <a:ext cx="3963600" cy="4149900"/>
          </a:xfrm>
          <a:prstGeom prst="rect">
            <a:avLst/>
          </a:prstGeom>
        </p:spPr>
        <p:txBody>
          <a:bodyPr spcFirstLastPara="1" vert="horz" wrap="square" lIns="0" tIns="0" rIns="0" bIns="0" rtlCol="0" anchor="t" anchorCtr="0">
            <a:noAutofit/>
          </a:bodyPr>
          <a:lstStyle/>
          <a:p>
            <a:pPr indent="-304800">
              <a:lnSpc>
                <a:spcPct val="100000"/>
              </a:lnSpc>
              <a:spcBef>
                <a:spcPts val="0"/>
              </a:spcBef>
              <a:buSzPts val="1200"/>
              <a:buFont typeface="DM Sans"/>
              <a:buAutoNum type="arabicPeriod"/>
            </a:pPr>
            <a:r>
              <a:rPr lang="en" sz="1200" b="1"/>
              <a:t>Staging</a:t>
            </a:r>
            <a:endParaRPr sz="1200" b="1"/>
          </a:p>
          <a:p>
            <a:pPr lvl="1" indent="-304800">
              <a:lnSpc>
                <a:spcPct val="100000"/>
              </a:lnSpc>
              <a:spcBef>
                <a:spcPts val="300"/>
              </a:spcBef>
              <a:buSzPts val="1200"/>
              <a:buFont typeface="DM Sans"/>
              <a:buAutoNum type="alphaLcPeriod"/>
            </a:pPr>
            <a:r>
              <a:rPr lang="en" sz="1200"/>
              <a:t>Raw data in its original format (temporarily)</a:t>
            </a:r>
            <a:endParaRPr sz="1200" b="1"/>
          </a:p>
          <a:p>
            <a:pPr indent="-304800">
              <a:lnSpc>
                <a:spcPct val="100000"/>
              </a:lnSpc>
              <a:spcBef>
                <a:spcPts val="300"/>
              </a:spcBef>
              <a:buSzPts val="1200"/>
              <a:buFont typeface="DM Sans"/>
              <a:buAutoNum type="arabicPeriod"/>
            </a:pPr>
            <a:r>
              <a:rPr lang="en" sz="1200" b="1"/>
              <a:t>Ingestion</a:t>
            </a:r>
            <a:r>
              <a:rPr lang="en" sz="1200"/>
              <a:t>: </a:t>
            </a:r>
            <a:endParaRPr sz="1200"/>
          </a:p>
          <a:p>
            <a:pPr lvl="1" indent="-304800">
              <a:lnSpc>
                <a:spcPct val="100000"/>
              </a:lnSpc>
              <a:spcBef>
                <a:spcPts val="300"/>
              </a:spcBef>
              <a:buSzPts val="1200"/>
              <a:buFont typeface="DM Sans"/>
              <a:buAutoNum type="alphaLcPeriod"/>
            </a:pPr>
            <a:r>
              <a:rPr lang="en" sz="1200"/>
              <a:t>Raw data converted to Delta (from Avro, CSV, parquet, XML, JSON format in Landing)</a:t>
            </a:r>
            <a:endParaRPr sz="1200"/>
          </a:p>
          <a:p>
            <a:pPr indent="-304800">
              <a:lnSpc>
                <a:spcPct val="100000"/>
              </a:lnSpc>
              <a:spcBef>
                <a:spcPts val="300"/>
              </a:spcBef>
              <a:buSzPts val="1200"/>
              <a:buFont typeface="DM Sans"/>
              <a:buAutoNum type="arabicPeriod"/>
            </a:pPr>
            <a:r>
              <a:rPr lang="en" sz="1200" b="1"/>
              <a:t>Integration - Raw Vault:</a:t>
            </a:r>
            <a:r>
              <a:rPr lang="en" sz="1200"/>
              <a:t> Data is modeled as </a:t>
            </a:r>
            <a:endParaRPr sz="1200"/>
          </a:p>
          <a:p>
            <a:pPr lvl="1" indent="-304800">
              <a:lnSpc>
                <a:spcPct val="100000"/>
              </a:lnSpc>
              <a:spcBef>
                <a:spcPts val="300"/>
              </a:spcBef>
              <a:buSzPts val="1200"/>
              <a:buFont typeface="DM Sans"/>
              <a:buAutoNum type="alphaLcPeriod"/>
            </a:pPr>
            <a:r>
              <a:rPr lang="en" sz="1200"/>
              <a:t>Hubs (unique business keys)</a:t>
            </a:r>
            <a:endParaRPr sz="1200"/>
          </a:p>
          <a:p>
            <a:pPr lvl="1" indent="-304800">
              <a:lnSpc>
                <a:spcPct val="100000"/>
              </a:lnSpc>
              <a:spcBef>
                <a:spcPts val="300"/>
              </a:spcBef>
              <a:buSzPts val="1200"/>
              <a:buFont typeface="DM Sans"/>
              <a:buAutoNum type="alphaLcPeriod"/>
            </a:pPr>
            <a:r>
              <a:rPr lang="en" sz="1200"/>
              <a:t>Links (relationship and associations) </a:t>
            </a:r>
            <a:endParaRPr sz="1200"/>
          </a:p>
          <a:p>
            <a:pPr lvl="1" indent="-304800">
              <a:lnSpc>
                <a:spcPct val="100000"/>
              </a:lnSpc>
              <a:spcBef>
                <a:spcPts val="300"/>
              </a:spcBef>
              <a:buSzPts val="1200"/>
              <a:buFont typeface="DM Sans"/>
              <a:buAutoNum type="alphaLcPeriod"/>
            </a:pPr>
            <a:r>
              <a:rPr lang="en" sz="1200"/>
              <a:t>Satellites (descriptive data)</a:t>
            </a:r>
            <a:endParaRPr sz="1200"/>
          </a:p>
          <a:p>
            <a:pPr indent="-304800">
              <a:lnSpc>
                <a:spcPct val="100000"/>
              </a:lnSpc>
              <a:spcBef>
                <a:spcPts val="300"/>
              </a:spcBef>
              <a:buSzPts val="1200"/>
              <a:buFont typeface="DM Sans"/>
              <a:buAutoNum type="arabicPeriod"/>
            </a:pPr>
            <a:r>
              <a:rPr lang="en" sz="1200" b="1"/>
              <a:t>Integration - Business Vault:</a:t>
            </a:r>
            <a:r>
              <a:rPr lang="en" sz="1200"/>
              <a:t> </a:t>
            </a:r>
            <a:br>
              <a:rPr lang="en" sz="1200"/>
            </a:br>
            <a:r>
              <a:rPr lang="en" sz="1200"/>
              <a:t>Tables with applied business rules, data quality rules, cleansing and conforming rules</a:t>
            </a:r>
            <a:endParaRPr sz="1200"/>
          </a:p>
          <a:p>
            <a:pPr lvl="1" indent="-304800">
              <a:lnSpc>
                <a:spcPct val="100000"/>
              </a:lnSpc>
              <a:spcBef>
                <a:spcPts val="300"/>
              </a:spcBef>
              <a:buSzPts val="1200"/>
              <a:buFont typeface="DM Sans"/>
              <a:buAutoNum type="alphaLcPeriod"/>
            </a:pPr>
            <a:r>
              <a:rPr lang="en" sz="1200"/>
              <a:t>Business views</a:t>
            </a:r>
            <a:endParaRPr sz="1200"/>
          </a:p>
          <a:p>
            <a:pPr lvl="1" indent="-304800">
              <a:lnSpc>
                <a:spcPct val="100000"/>
              </a:lnSpc>
              <a:spcBef>
                <a:spcPts val="300"/>
              </a:spcBef>
              <a:buSzPts val="1200"/>
              <a:buFont typeface="DM Sans"/>
              <a:buAutoNum type="alphaLcPeriod"/>
            </a:pPr>
            <a:r>
              <a:rPr lang="en" sz="1200"/>
              <a:t>Point-in-Time (PIT) tables (opt.)</a:t>
            </a:r>
            <a:endParaRPr sz="1200"/>
          </a:p>
          <a:p>
            <a:pPr lvl="1" indent="-304800">
              <a:lnSpc>
                <a:spcPct val="100000"/>
              </a:lnSpc>
              <a:spcBef>
                <a:spcPts val="300"/>
              </a:spcBef>
              <a:buSzPts val="1200"/>
              <a:buFont typeface="DM Sans"/>
              <a:buAutoNum type="alphaLcPeriod"/>
            </a:pPr>
            <a:r>
              <a:rPr lang="en" sz="1200"/>
              <a:t>Bridge tables are created  on top of the business vault (opt.)</a:t>
            </a:r>
            <a:endParaRPr sz="1200"/>
          </a:p>
          <a:p>
            <a:pPr indent="-304800">
              <a:lnSpc>
                <a:spcPct val="100000"/>
              </a:lnSpc>
              <a:spcBef>
                <a:spcPts val="300"/>
              </a:spcBef>
              <a:buSzPts val="1200"/>
              <a:buFont typeface="DM Sans"/>
              <a:buAutoNum type="arabicPeriod"/>
            </a:pPr>
            <a:r>
              <a:rPr lang="en" sz="1200" b="1"/>
              <a:t>Presentation - Information Marts</a:t>
            </a:r>
            <a:endParaRPr sz="1200"/>
          </a:p>
          <a:p>
            <a:pPr lvl="1" indent="-304800">
              <a:lnSpc>
                <a:spcPct val="100000"/>
              </a:lnSpc>
              <a:spcBef>
                <a:spcPts val="300"/>
              </a:spcBef>
              <a:buSzPts val="1200"/>
              <a:buFont typeface="DM Sans"/>
              <a:buAutoNum type="alphaLcPeriod"/>
            </a:pPr>
            <a:r>
              <a:rPr lang="en" sz="1200"/>
              <a:t>Similar to a classical Data Mart with data that has been cleansed and harmonized</a:t>
            </a:r>
            <a:endParaRPr sz="1200"/>
          </a:p>
          <a:p>
            <a:pPr lvl="1" indent="-304800">
              <a:lnSpc>
                <a:spcPct val="100000"/>
              </a:lnSpc>
              <a:spcBef>
                <a:spcPts val="300"/>
              </a:spcBef>
              <a:spcAft>
                <a:spcPts val="300"/>
              </a:spcAft>
              <a:buSzPts val="1200"/>
              <a:buFont typeface="DM Sans"/>
              <a:buAutoNum type="alphaLcPeriod"/>
            </a:pPr>
            <a:r>
              <a:rPr lang="en" sz="1200"/>
              <a:t>Consumer-oriented models (typically views)</a:t>
            </a:r>
            <a:endParaRPr sz="1250" b="1"/>
          </a:p>
        </p:txBody>
      </p:sp>
      <p:sp>
        <p:nvSpPr>
          <p:cNvPr id="3558" name="Google Shape;3558;p479"/>
          <p:cNvSpPr txBox="1">
            <a:spLocks noGrp="1"/>
          </p:cNvSpPr>
          <p:nvPr>
            <p:ph type="sldNum" idx="12"/>
          </p:nvPr>
        </p:nvSpPr>
        <p:spPr>
          <a:xfrm>
            <a:off x="11099257" y="6473300"/>
            <a:ext cx="324300" cy="186300"/>
          </a:xfrm>
          <a:prstGeom prst="rect">
            <a:avLst/>
          </a:prstGeom>
        </p:spPr>
        <p:txBody>
          <a:bodyPr spcFirstLastPara="1" vert="horz" wrap="square" lIns="0" tIns="0" rIns="0" bIns="0" rtlCol="0" anchor="t" anchorCtr="0">
            <a:noAutofit/>
          </a:bodyPr>
          <a:lstStyle/>
          <a:p>
            <a:fld id="{00000000-1234-1234-1234-123412341234}" type="slidenum">
              <a:rPr lang="en"/>
              <a:pPr/>
              <a:t>21</a:t>
            </a:fld>
            <a:endParaRPr/>
          </a:p>
        </p:txBody>
      </p:sp>
      <p:sp>
        <p:nvSpPr>
          <p:cNvPr id="3559" name="Google Shape;3559;p479"/>
          <p:cNvSpPr/>
          <p:nvPr/>
        </p:nvSpPr>
        <p:spPr>
          <a:xfrm>
            <a:off x="9878238" y="1661400"/>
            <a:ext cx="1545300" cy="2334300"/>
          </a:xfrm>
          <a:prstGeom prst="rect">
            <a:avLst/>
          </a:prstGeom>
          <a:solidFill>
            <a:srgbClr val="FFE599">
              <a:alpha val="40220"/>
            </a:srgbClr>
          </a:solidFill>
          <a:ln>
            <a:noFill/>
          </a:ln>
        </p:spPr>
        <p:txBody>
          <a:bodyPr spcFirstLastPara="1" wrap="square" lIns="91425" tIns="0" rIns="91425" bIns="45700" anchor="b" anchorCtr="0">
            <a:noAutofit/>
          </a:bodyPr>
          <a:lstStyle/>
          <a:p>
            <a:pPr algn="ctr"/>
            <a:r>
              <a:rPr lang="en" sz="1000" i="1">
                <a:solidFill>
                  <a:schemeClr val="accent1"/>
                </a:solidFill>
                <a:latin typeface="DM Sans Medium"/>
                <a:ea typeface="DM Sans Medium"/>
                <a:cs typeface="DM Sans Medium"/>
                <a:sym typeface="DM Sans Medium"/>
              </a:rPr>
              <a:t>gold</a:t>
            </a:r>
            <a:endParaRPr sz="1000" i="1">
              <a:solidFill>
                <a:schemeClr val="accent1"/>
              </a:solidFill>
              <a:latin typeface="DM Sans Medium"/>
              <a:ea typeface="DM Sans Medium"/>
              <a:cs typeface="DM Sans Medium"/>
              <a:sym typeface="DM Sans Medium"/>
            </a:endParaRPr>
          </a:p>
        </p:txBody>
      </p:sp>
      <p:sp>
        <p:nvSpPr>
          <p:cNvPr id="3560" name="Google Shape;3560;p479"/>
          <p:cNvSpPr/>
          <p:nvPr/>
        </p:nvSpPr>
        <p:spPr>
          <a:xfrm>
            <a:off x="6750263" y="1661768"/>
            <a:ext cx="2997000" cy="2334300"/>
          </a:xfrm>
          <a:prstGeom prst="rect">
            <a:avLst/>
          </a:prstGeom>
          <a:solidFill>
            <a:srgbClr val="C4CCD6">
              <a:alpha val="37430"/>
            </a:srgbClr>
          </a:solidFill>
          <a:ln>
            <a:noFill/>
          </a:ln>
        </p:spPr>
        <p:txBody>
          <a:bodyPr spcFirstLastPara="1" wrap="square" lIns="91425" tIns="0" rIns="91425" bIns="45700" anchor="b" anchorCtr="0">
            <a:noAutofit/>
          </a:bodyPr>
          <a:lstStyle/>
          <a:p>
            <a:pPr algn="ctr"/>
            <a:r>
              <a:rPr lang="en" sz="1000" i="1">
                <a:solidFill>
                  <a:schemeClr val="accent1"/>
                </a:solidFill>
                <a:latin typeface="DM Sans Medium"/>
                <a:ea typeface="DM Sans Medium"/>
                <a:cs typeface="DM Sans Medium"/>
                <a:sym typeface="DM Sans Medium"/>
              </a:rPr>
              <a:t>silver</a:t>
            </a:r>
            <a:endParaRPr sz="1000" i="1">
              <a:solidFill>
                <a:schemeClr val="accent1"/>
              </a:solidFill>
              <a:latin typeface="DM Sans Medium"/>
              <a:ea typeface="DM Sans Medium"/>
              <a:cs typeface="DM Sans Medium"/>
              <a:sym typeface="DM Sans Medium"/>
            </a:endParaRPr>
          </a:p>
        </p:txBody>
      </p:sp>
      <p:pic>
        <p:nvPicPr>
          <p:cNvPr id="3561" name="Google Shape;3561;p479"/>
          <p:cNvPicPr preferRelativeResize="0"/>
          <p:nvPr/>
        </p:nvPicPr>
        <p:blipFill rotWithShape="1">
          <a:blip r:embed="rId3">
            <a:alphaModFix/>
          </a:blip>
          <a:srcRect b="17850"/>
          <a:stretch/>
        </p:blipFill>
        <p:spPr>
          <a:xfrm>
            <a:off x="7759424" y="3764758"/>
            <a:ext cx="324301" cy="206938"/>
          </a:xfrm>
          <a:prstGeom prst="rect">
            <a:avLst/>
          </a:prstGeom>
          <a:noFill/>
          <a:ln>
            <a:noFill/>
          </a:ln>
        </p:spPr>
      </p:pic>
      <p:pic>
        <p:nvPicPr>
          <p:cNvPr id="3562" name="Google Shape;3562;p479"/>
          <p:cNvPicPr preferRelativeResize="0"/>
          <p:nvPr/>
        </p:nvPicPr>
        <p:blipFill rotWithShape="1">
          <a:blip r:embed="rId3">
            <a:alphaModFix/>
          </a:blip>
          <a:srcRect b="17850"/>
          <a:stretch/>
        </p:blipFill>
        <p:spPr>
          <a:xfrm>
            <a:off x="10190261" y="3764758"/>
            <a:ext cx="324301" cy="206938"/>
          </a:xfrm>
          <a:prstGeom prst="rect">
            <a:avLst/>
          </a:prstGeom>
          <a:noFill/>
          <a:ln>
            <a:noFill/>
          </a:ln>
        </p:spPr>
      </p:pic>
      <p:grpSp>
        <p:nvGrpSpPr>
          <p:cNvPr id="3563" name="Google Shape;3563;p479"/>
          <p:cNvGrpSpPr/>
          <p:nvPr/>
        </p:nvGrpSpPr>
        <p:grpSpPr>
          <a:xfrm>
            <a:off x="10035933" y="1770534"/>
            <a:ext cx="1262525" cy="1952691"/>
            <a:chOff x="8924709" y="4740375"/>
            <a:chExt cx="1137000" cy="451135"/>
          </a:xfrm>
        </p:grpSpPr>
        <p:sp>
          <p:nvSpPr>
            <p:cNvPr id="3564" name="Google Shape;3564;p479"/>
            <p:cNvSpPr/>
            <p:nvPr/>
          </p:nvSpPr>
          <p:spPr>
            <a:xfrm>
              <a:off x="8924709" y="4742409"/>
              <a:ext cx="1137000" cy="449100"/>
            </a:xfrm>
            <a:prstGeom prst="rect">
              <a:avLst/>
            </a:prstGeom>
            <a:solidFill>
              <a:srgbClr val="FFFFFF"/>
            </a:solidFill>
            <a:ln w="9525" cap="flat" cmpd="sng">
              <a:solidFill>
                <a:schemeClr val="accent1"/>
              </a:solidFill>
              <a:prstDash val="solid"/>
              <a:round/>
              <a:headEnd type="none" w="sm" len="sm"/>
              <a:tailEnd type="none" w="sm" len="sm"/>
            </a:ln>
          </p:spPr>
          <p:txBody>
            <a:bodyPr spcFirstLastPara="1" wrap="square" lIns="0" tIns="45700" rIns="0" bIns="0" anchor="t" anchorCtr="0">
              <a:noAutofit/>
            </a:bodyPr>
            <a:lstStyle/>
            <a:p>
              <a:pPr algn="ctr">
                <a:lnSpc>
                  <a:spcPct val="85000"/>
                </a:lnSpc>
              </a:pPr>
              <a:r>
                <a:rPr lang="en">
                  <a:solidFill>
                    <a:schemeClr val="accent1"/>
                  </a:solidFill>
                  <a:latin typeface="DM Sans Medium"/>
                  <a:ea typeface="DM Sans Medium"/>
                  <a:cs typeface="DM Sans Medium"/>
                  <a:sym typeface="DM Sans Medium"/>
                </a:rPr>
                <a:t>Presentation</a:t>
              </a:r>
              <a:endParaRPr>
                <a:solidFill>
                  <a:schemeClr val="accent1"/>
                </a:solidFill>
                <a:latin typeface="DM Sans Medium"/>
                <a:ea typeface="DM Sans Medium"/>
                <a:cs typeface="DM Sans Medium"/>
                <a:sym typeface="DM Sans Medium"/>
              </a:endParaRPr>
            </a:p>
          </p:txBody>
        </p:sp>
        <p:grpSp>
          <p:nvGrpSpPr>
            <p:cNvPr id="3565" name="Google Shape;3565;p479"/>
            <p:cNvGrpSpPr/>
            <p:nvPr/>
          </p:nvGrpSpPr>
          <p:grpSpPr>
            <a:xfrm>
              <a:off x="9280338" y="4740375"/>
              <a:ext cx="441300" cy="128700"/>
              <a:chOff x="6026857" y="4740375"/>
              <a:chExt cx="441300" cy="128700"/>
            </a:xfrm>
          </p:grpSpPr>
          <p:sp>
            <p:nvSpPr>
              <p:cNvPr id="3566" name="Google Shape;3566;p479"/>
              <p:cNvSpPr/>
              <p:nvPr/>
            </p:nvSpPr>
            <p:spPr>
              <a:xfrm>
                <a:off x="6026857" y="4740375"/>
                <a:ext cx="136500" cy="128700"/>
              </a:xfrm>
              <a:prstGeom prst="rect">
                <a:avLst/>
              </a:prstGeom>
              <a:noFill/>
              <a:ln>
                <a:noFill/>
              </a:ln>
            </p:spPr>
            <p:txBody>
              <a:bodyPr spcFirstLastPara="1" wrap="square" lIns="0" tIns="45700" rIns="0" bIns="0" anchor="t" anchorCtr="0">
                <a:noAutofit/>
              </a:bodyPr>
              <a:lstStyle/>
              <a:p>
                <a:pPr>
                  <a:lnSpc>
                    <a:spcPct val="85000"/>
                  </a:lnSpc>
                </a:pPr>
                <a:endParaRPr>
                  <a:latin typeface="DM Sans Medium"/>
                  <a:ea typeface="DM Sans Medium"/>
                  <a:cs typeface="DM Sans Medium"/>
                  <a:sym typeface="DM Sans Medium"/>
                </a:endParaRPr>
              </a:p>
            </p:txBody>
          </p:sp>
          <p:sp>
            <p:nvSpPr>
              <p:cNvPr id="3567" name="Google Shape;3567;p479"/>
              <p:cNvSpPr/>
              <p:nvPr/>
            </p:nvSpPr>
            <p:spPr>
              <a:xfrm>
                <a:off x="6331657" y="4740375"/>
                <a:ext cx="136500" cy="128700"/>
              </a:xfrm>
              <a:prstGeom prst="rect">
                <a:avLst/>
              </a:prstGeom>
              <a:noFill/>
              <a:ln>
                <a:noFill/>
              </a:ln>
            </p:spPr>
            <p:txBody>
              <a:bodyPr spcFirstLastPara="1" wrap="square" lIns="0" tIns="45700" rIns="0" bIns="0" anchor="t" anchorCtr="0">
                <a:noAutofit/>
              </a:bodyPr>
              <a:lstStyle/>
              <a:p>
                <a:pPr>
                  <a:lnSpc>
                    <a:spcPct val="85000"/>
                  </a:lnSpc>
                </a:pPr>
                <a:endParaRPr>
                  <a:latin typeface="DM Sans Medium"/>
                  <a:ea typeface="DM Sans Medium"/>
                  <a:cs typeface="DM Sans Medium"/>
                  <a:sym typeface="DM Sans Medium"/>
                </a:endParaRPr>
              </a:p>
            </p:txBody>
          </p:sp>
        </p:grpSp>
      </p:grpSp>
      <p:sp>
        <p:nvSpPr>
          <p:cNvPr id="3568" name="Google Shape;3568;p479"/>
          <p:cNvSpPr/>
          <p:nvPr/>
        </p:nvSpPr>
        <p:spPr>
          <a:xfrm>
            <a:off x="6866889" y="1772184"/>
            <a:ext cx="2785500" cy="1952700"/>
          </a:xfrm>
          <a:prstGeom prst="rect">
            <a:avLst/>
          </a:prstGeom>
          <a:solidFill>
            <a:srgbClr val="FFFFFF"/>
          </a:solidFill>
          <a:ln w="9525" cap="flat" cmpd="sng">
            <a:solidFill>
              <a:schemeClr val="accent1"/>
            </a:solidFill>
            <a:prstDash val="solid"/>
            <a:round/>
            <a:headEnd type="none" w="sm" len="sm"/>
            <a:tailEnd type="none" w="sm" len="sm"/>
          </a:ln>
        </p:spPr>
        <p:txBody>
          <a:bodyPr spcFirstLastPara="1" wrap="square" lIns="0" tIns="45700" rIns="0" bIns="0" anchor="t" anchorCtr="0">
            <a:noAutofit/>
          </a:bodyPr>
          <a:lstStyle/>
          <a:p>
            <a:pPr algn="ctr"/>
            <a:r>
              <a:rPr lang="en">
                <a:solidFill>
                  <a:schemeClr val="accent1"/>
                </a:solidFill>
                <a:latin typeface="DM Sans Medium"/>
                <a:ea typeface="DM Sans Medium"/>
                <a:cs typeface="DM Sans Medium"/>
                <a:sym typeface="DM Sans Medium"/>
              </a:rPr>
              <a:t>Enterprise ODS/ Integration</a:t>
            </a:r>
            <a:endParaRPr sz="1000">
              <a:solidFill>
                <a:schemeClr val="accent1"/>
              </a:solidFill>
              <a:latin typeface="DM Sans Medium"/>
              <a:ea typeface="DM Sans Medium"/>
              <a:cs typeface="DM Sans Medium"/>
              <a:sym typeface="DM Sans Medium"/>
            </a:endParaRPr>
          </a:p>
          <a:p>
            <a:pPr algn="ctr"/>
            <a:endParaRPr>
              <a:solidFill>
                <a:schemeClr val="accent1"/>
              </a:solidFill>
              <a:latin typeface="DM Sans Medium"/>
              <a:ea typeface="DM Sans Medium"/>
              <a:cs typeface="DM Sans Medium"/>
              <a:sym typeface="DM Sans Medium"/>
            </a:endParaRPr>
          </a:p>
        </p:txBody>
      </p:sp>
      <p:sp>
        <p:nvSpPr>
          <p:cNvPr id="3569" name="Google Shape;3569;p479"/>
          <p:cNvSpPr/>
          <p:nvPr/>
        </p:nvSpPr>
        <p:spPr>
          <a:xfrm>
            <a:off x="6976213" y="2194325"/>
            <a:ext cx="1137000" cy="1450200"/>
          </a:xfrm>
          <a:prstGeom prst="rect">
            <a:avLst/>
          </a:prstGeom>
          <a:solidFill>
            <a:srgbClr val="FFFFFF"/>
          </a:solid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algn="ctr"/>
            <a:r>
              <a:rPr lang="en" sz="1200">
                <a:solidFill>
                  <a:schemeClr val="accent1"/>
                </a:solidFill>
                <a:latin typeface="DM Sans"/>
                <a:ea typeface="DM Sans"/>
                <a:cs typeface="DM Sans"/>
                <a:sym typeface="DM Sans"/>
              </a:rPr>
              <a:t>Raw</a:t>
            </a:r>
            <a:br>
              <a:rPr lang="en" sz="1200">
                <a:solidFill>
                  <a:schemeClr val="accent1"/>
                </a:solidFill>
                <a:latin typeface="DM Sans"/>
                <a:ea typeface="DM Sans"/>
                <a:cs typeface="DM Sans"/>
                <a:sym typeface="DM Sans"/>
              </a:rPr>
            </a:br>
            <a:r>
              <a:rPr lang="en" sz="1200">
                <a:solidFill>
                  <a:schemeClr val="accent1"/>
                </a:solidFill>
                <a:latin typeface="DM Sans"/>
                <a:ea typeface="DM Sans"/>
                <a:cs typeface="DM Sans"/>
                <a:sym typeface="DM Sans"/>
              </a:rPr>
              <a:t>Vault</a:t>
            </a:r>
            <a:endParaRPr sz="1200">
              <a:solidFill>
                <a:schemeClr val="accent1"/>
              </a:solidFill>
              <a:latin typeface="DM Sans"/>
              <a:ea typeface="DM Sans"/>
              <a:cs typeface="DM Sans"/>
              <a:sym typeface="DM Sans"/>
            </a:endParaRPr>
          </a:p>
        </p:txBody>
      </p:sp>
      <p:sp>
        <p:nvSpPr>
          <p:cNvPr id="3570" name="Google Shape;3570;p479"/>
          <p:cNvSpPr/>
          <p:nvPr/>
        </p:nvSpPr>
        <p:spPr>
          <a:xfrm>
            <a:off x="8398113" y="2194325"/>
            <a:ext cx="1137000" cy="1450200"/>
          </a:xfrm>
          <a:prstGeom prst="rect">
            <a:avLst/>
          </a:prstGeom>
          <a:solidFill>
            <a:srgbClr val="FFFFFF"/>
          </a:solidFill>
          <a:ln w="9525" cap="flat" cmpd="sng">
            <a:solidFill>
              <a:schemeClr val="accent1"/>
            </a:solidFill>
            <a:prstDash val="solid"/>
            <a:round/>
            <a:headEnd type="none" w="sm" len="sm"/>
            <a:tailEnd type="none" w="sm" len="sm"/>
          </a:ln>
        </p:spPr>
        <p:txBody>
          <a:bodyPr spcFirstLastPara="1" wrap="square" lIns="0" tIns="0" rIns="0" bIns="0" anchor="t" anchorCtr="0">
            <a:noAutofit/>
          </a:bodyPr>
          <a:lstStyle/>
          <a:p>
            <a:pPr algn="ctr"/>
            <a:r>
              <a:rPr lang="en" sz="1200">
                <a:solidFill>
                  <a:schemeClr val="accent1"/>
                </a:solidFill>
                <a:latin typeface="DM Sans"/>
                <a:ea typeface="DM Sans"/>
                <a:cs typeface="DM Sans"/>
                <a:sym typeface="DM Sans"/>
              </a:rPr>
              <a:t>Business</a:t>
            </a:r>
            <a:br>
              <a:rPr lang="en" sz="1200">
                <a:solidFill>
                  <a:schemeClr val="accent1"/>
                </a:solidFill>
                <a:latin typeface="DM Sans"/>
                <a:ea typeface="DM Sans"/>
                <a:cs typeface="DM Sans"/>
                <a:sym typeface="DM Sans"/>
              </a:rPr>
            </a:br>
            <a:r>
              <a:rPr lang="en" sz="1200">
                <a:solidFill>
                  <a:schemeClr val="accent1"/>
                </a:solidFill>
                <a:latin typeface="DM Sans"/>
                <a:ea typeface="DM Sans"/>
                <a:cs typeface="DM Sans"/>
                <a:sym typeface="DM Sans"/>
              </a:rPr>
              <a:t>Vault</a:t>
            </a:r>
            <a:endParaRPr sz="1200">
              <a:solidFill>
                <a:schemeClr val="accent1"/>
              </a:solidFill>
              <a:latin typeface="DM Sans"/>
              <a:ea typeface="DM Sans"/>
              <a:cs typeface="DM Sans"/>
              <a:sym typeface="DM Sans"/>
            </a:endParaRPr>
          </a:p>
        </p:txBody>
      </p:sp>
      <p:grpSp>
        <p:nvGrpSpPr>
          <p:cNvPr id="3571" name="Google Shape;3571;p479"/>
          <p:cNvGrpSpPr/>
          <p:nvPr/>
        </p:nvGrpSpPr>
        <p:grpSpPr>
          <a:xfrm>
            <a:off x="10137422" y="2162050"/>
            <a:ext cx="1059570" cy="1482789"/>
            <a:chOff x="8924709" y="4740375"/>
            <a:chExt cx="1137000" cy="451135"/>
          </a:xfrm>
        </p:grpSpPr>
        <p:sp>
          <p:nvSpPr>
            <p:cNvPr id="3572" name="Google Shape;3572;p479"/>
            <p:cNvSpPr/>
            <p:nvPr/>
          </p:nvSpPr>
          <p:spPr>
            <a:xfrm>
              <a:off x="8924709" y="4742409"/>
              <a:ext cx="1137000" cy="449100"/>
            </a:xfrm>
            <a:prstGeom prst="rect">
              <a:avLst/>
            </a:prstGeom>
            <a:solidFill>
              <a:srgbClr val="FFFFFF"/>
            </a:solidFill>
            <a:ln w="9525" cap="flat" cmpd="sng">
              <a:solidFill>
                <a:schemeClr val="accent1"/>
              </a:solidFill>
              <a:prstDash val="solid"/>
              <a:round/>
              <a:headEnd type="none" w="sm" len="sm"/>
              <a:tailEnd type="none" w="sm" len="sm"/>
            </a:ln>
          </p:spPr>
          <p:txBody>
            <a:bodyPr spcFirstLastPara="1" wrap="square" lIns="0" tIns="0" rIns="0" bIns="91425" anchor="t" anchorCtr="0">
              <a:noAutofit/>
            </a:bodyPr>
            <a:lstStyle/>
            <a:p>
              <a:pPr algn="ctr">
                <a:lnSpc>
                  <a:spcPct val="85000"/>
                </a:lnSpc>
              </a:pPr>
              <a:r>
                <a:rPr lang="en" sz="1200">
                  <a:solidFill>
                    <a:schemeClr val="accent1"/>
                  </a:solidFill>
                  <a:latin typeface="DM Sans"/>
                  <a:ea typeface="DM Sans"/>
                  <a:cs typeface="DM Sans"/>
                  <a:sym typeface="DM Sans"/>
                </a:rPr>
                <a:t>Information Mart</a:t>
              </a:r>
              <a:endParaRPr sz="1200">
                <a:solidFill>
                  <a:schemeClr val="accent1"/>
                </a:solidFill>
                <a:latin typeface="DM Sans"/>
                <a:ea typeface="DM Sans"/>
                <a:cs typeface="DM Sans"/>
                <a:sym typeface="DM Sans"/>
              </a:endParaRPr>
            </a:p>
          </p:txBody>
        </p:sp>
        <p:grpSp>
          <p:nvGrpSpPr>
            <p:cNvPr id="3573" name="Google Shape;3573;p479"/>
            <p:cNvGrpSpPr/>
            <p:nvPr/>
          </p:nvGrpSpPr>
          <p:grpSpPr>
            <a:xfrm>
              <a:off x="9280338" y="4740375"/>
              <a:ext cx="441300" cy="128700"/>
              <a:chOff x="6026857" y="4740375"/>
              <a:chExt cx="441300" cy="128700"/>
            </a:xfrm>
          </p:grpSpPr>
          <p:sp>
            <p:nvSpPr>
              <p:cNvPr id="3574" name="Google Shape;3574;p479"/>
              <p:cNvSpPr/>
              <p:nvPr/>
            </p:nvSpPr>
            <p:spPr>
              <a:xfrm>
                <a:off x="6026857" y="4740375"/>
                <a:ext cx="136500" cy="128700"/>
              </a:xfrm>
              <a:prstGeom prst="rect">
                <a:avLst/>
              </a:prstGeom>
              <a:noFill/>
              <a:ln>
                <a:noFill/>
              </a:ln>
            </p:spPr>
            <p:txBody>
              <a:bodyPr spcFirstLastPara="1" wrap="square" lIns="0" tIns="0" rIns="0" bIns="91425" anchor="t" anchorCtr="0">
                <a:noAutofit/>
              </a:bodyPr>
              <a:lstStyle/>
              <a:p>
                <a:pPr>
                  <a:lnSpc>
                    <a:spcPct val="85000"/>
                  </a:lnSpc>
                </a:pPr>
                <a:endParaRPr sz="1200"/>
              </a:p>
            </p:txBody>
          </p:sp>
          <p:sp>
            <p:nvSpPr>
              <p:cNvPr id="3575" name="Google Shape;3575;p479"/>
              <p:cNvSpPr/>
              <p:nvPr/>
            </p:nvSpPr>
            <p:spPr>
              <a:xfrm>
                <a:off x="6331657" y="4740375"/>
                <a:ext cx="136500" cy="128700"/>
              </a:xfrm>
              <a:prstGeom prst="rect">
                <a:avLst/>
              </a:prstGeom>
              <a:noFill/>
              <a:ln>
                <a:noFill/>
              </a:ln>
            </p:spPr>
            <p:txBody>
              <a:bodyPr spcFirstLastPara="1" wrap="square" lIns="0" tIns="0" rIns="0" bIns="91425" anchor="t" anchorCtr="0">
                <a:noAutofit/>
              </a:bodyPr>
              <a:lstStyle/>
              <a:p>
                <a:pPr>
                  <a:lnSpc>
                    <a:spcPct val="85000"/>
                  </a:lnSpc>
                </a:pPr>
                <a:endParaRPr sz="1200"/>
              </a:p>
            </p:txBody>
          </p:sp>
        </p:grpSp>
      </p:grpSp>
      <p:sp>
        <p:nvSpPr>
          <p:cNvPr id="3576" name="Google Shape;3576;p479"/>
          <p:cNvSpPr/>
          <p:nvPr/>
        </p:nvSpPr>
        <p:spPr>
          <a:xfrm>
            <a:off x="8156361" y="2807175"/>
            <a:ext cx="198600" cy="247800"/>
          </a:xfrm>
          <a:prstGeom prst="rightArrow">
            <a:avLst>
              <a:gd name="adj1" fmla="val 50000"/>
              <a:gd name="adj2" fmla="val 50000"/>
            </a:avLst>
          </a:prstGeom>
          <a:solidFill>
            <a:schemeClr val="accent5"/>
          </a:solidFill>
          <a:ln>
            <a:noFill/>
          </a:ln>
        </p:spPr>
        <p:txBody>
          <a:bodyPr spcFirstLastPara="1" wrap="square" lIns="91425" tIns="91425" rIns="91425" bIns="91425" anchor="ctr" anchorCtr="0">
            <a:noAutofit/>
          </a:bodyPr>
          <a:lstStyle/>
          <a:p>
            <a:endParaRPr/>
          </a:p>
        </p:txBody>
      </p:sp>
      <p:sp>
        <p:nvSpPr>
          <p:cNvPr id="3577" name="Google Shape;3577;p479"/>
          <p:cNvSpPr/>
          <p:nvPr/>
        </p:nvSpPr>
        <p:spPr>
          <a:xfrm>
            <a:off x="9715375" y="2807175"/>
            <a:ext cx="198600" cy="247800"/>
          </a:xfrm>
          <a:prstGeom prst="rightArrow">
            <a:avLst>
              <a:gd name="adj1" fmla="val 50000"/>
              <a:gd name="adj2" fmla="val 50000"/>
            </a:avLst>
          </a:prstGeom>
          <a:solidFill>
            <a:schemeClr val="accent5"/>
          </a:solidFill>
          <a:ln>
            <a:noFill/>
          </a:ln>
        </p:spPr>
        <p:txBody>
          <a:bodyPr spcFirstLastPara="1" wrap="square" lIns="91425" tIns="91425" rIns="91425" bIns="91425" anchor="ctr" anchorCtr="0">
            <a:noAutofit/>
          </a:bodyPr>
          <a:lstStyle/>
          <a:p>
            <a:endParaRPr/>
          </a:p>
        </p:txBody>
      </p:sp>
      <p:sp>
        <p:nvSpPr>
          <p:cNvPr id="3578" name="Google Shape;3578;p479"/>
          <p:cNvSpPr/>
          <p:nvPr/>
        </p:nvSpPr>
        <p:spPr>
          <a:xfrm>
            <a:off x="11196700" y="4115050"/>
            <a:ext cx="198600" cy="247800"/>
          </a:xfrm>
          <a:prstGeom prst="rightArrow">
            <a:avLst>
              <a:gd name="adj1" fmla="val 50000"/>
              <a:gd name="adj2" fmla="val 50000"/>
            </a:avLst>
          </a:prstGeom>
          <a:solidFill>
            <a:schemeClr val="accent5"/>
          </a:solidFill>
          <a:ln>
            <a:noFill/>
          </a:ln>
        </p:spPr>
        <p:txBody>
          <a:bodyPr spcFirstLastPara="1" wrap="square" lIns="91425" tIns="91425" rIns="91425" bIns="91425" anchor="ctr" anchorCtr="0">
            <a:noAutofit/>
          </a:bodyPr>
          <a:lstStyle/>
          <a:p>
            <a:endParaRPr/>
          </a:p>
        </p:txBody>
      </p:sp>
      <p:sp>
        <p:nvSpPr>
          <p:cNvPr id="3579" name="Google Shape;3579;p479"/>
          <p:cNvSpPr/>
          <p:nvPr/>
        </p:nvSpPr>
        <p:spPr>
          <a:xfrm>
            <a:off x="7329138" y="2654766"/>
            <a:ext cx="525300" cy="247800"/>
          </a:xfrm>
          <a:prstGeom prst="roundRect">
            <a:avLst>
              <a:gd name="adj" fmla="val 16667"/>
            </a:avLst>
          </a:prstGeom>
          <a:solidFill>
            <a:srgbClr val="FFFFFF"/>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algn="ctr"/>
            <a:r>
              <a:rPr lang="en" sz="1000">
                <a:solidFill>
                  <a:schemeClr val="accent1"/>
                </a:solidFill>
                <a:latin typeface="DM Sans"/>
                <a:ea typeface="DM Sans"/>
                <a:cs typeface="DM Sans"/>
                <a:sym typeface="DM Sans"/>
              </a:rPr>
              <a:t>Hub</a:t>
            </a:r>
            <a:endParaRPr sz="1000">
              <a:solidFill>
                <a:schemeClr val="accent1"/>
              </a:solidFill>
              <a:latin typeface="DM Sans"/>
              <a:ea typeface="DM Sans"/>
              <a:cs typeface="DM Sans"/>
              <a:sym typeface="DM Sans"/>
            </a:endParaRPr>
          </a:p>
        </p:txBody>
      </p:sp>
      <p:sp>
        <p:nvSpPr>
          <p:cNvPr id="3580" name="Google Shape;3580;p479"/>
          <p:cNvSpPr/>
          <p:nvPr/>
        </p:nvSpPr>
        <p:spPr>
          <a:xfrm>
            <a:off x="7334777" y="3264366"/>
            <a:ext cx="525300" cy="247800"/>
          </a:xfrm>
          <a:prstGeom prst="roundRect">
            <a:avLst>
              <a:gd name="adj" fmla="val 16667"/>
            </a:avLst>
          </a:prstGeom>
          <a:solidFill>
            <a:srgbClr val="FFFFFF"/>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algn="ctr"/>
            <a:r>
              <a:rPr lang="en" sz="1000">
                <a:solidFill>
                  <a:schemeClr val="accent1"/>
                </a:solidFill>
                <a:latin typeface="DM Sans"/>
                <a:ea typeface="DM Sans"/>
                <a:cs typeface="DM Sans"/>
                <a:sym typeface="DM Sans"/>
              </a:rPr>
              <a:t>Satellite</a:t>
            </a:r>
            <a:endParaRPr sz="1000">
              <a:solidFill>
                <a:schemeClr val="accent1"/>
              </a:solidFill>
              <a:latin typeface="DM Sans"/>
              <a:ea typeface="DM Sans"/>
              <a:cs typeface="DM Sans"/>
              <a:sym typeface="DM Sans"/>
            </a:endParaRPr>
          </a:p>
        </p:txBody>
      </p:sp>
      <p:sp>
        <p:nvSpPr>
          <p:cNvPr id="3581" name="Google Shape;3581;p479"/>
          <p:cNvSpPr/>
          <p:nvPr/>
        </p:nvSpPr>
        <p:spPr>
          <a:xfrm>
            <a:off x="7332801" y="2959566"/>
            <a:ext cx="525300" cy="247800"/>
          </a:xfrm>
          <a:prstGeom prst="roundRect">
            <a:avLst>
              <a:gd name="adj" fmla="val 16667"/>
            </a:avLst>
          </a:prstGeom>
          <a:solidFill>
            <a:srgbClr val="FFFFFF"/>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algn="ctr"/>
            <a:r>
              <a:rPr lang="en" sz="1000">
                <a:solidFill>
                  <a:schemeClr val="accent1"/>
                </a:solidFill>
                <a:latin typeface="DM Sans"/>
                <a:ea typeface="DM Sans"/>
                <a:cs typeface="DM Sans"/>
                <a:sym typeface="DM Sans"/>
              </a:rPr>
              <a:t>Link</a:t>
            </a:r>
            <a:endParaRPr sz="1000">
              <a:solidFill>
                <a:schemeClr val="accent1"/>
              </a:solidFill>
              <a:latin typeface="DM Sans"/>
              <a:ea typeface="DM Sans"/>
              <a:cs typeface="DM Sans"/>
              <a:sym typeface="DM Sans"/>
            </a:endParaRPr>
          </a:p>
        </p:txBody>
      </p:sp>
      <p:sp>
        <p:nvSpPr>
          <p:cNvPr id="3582" name="Google Shape;3582;p479"/>
          <p:cNvSpPr/>
          <p:nvPr/>
        </p:nvSpPr>
        <p:spPr>
          <a:xfrm>
            <a:off x="8721776" y="2654766"/>
            <a:ext cx="525300" cy="247800"/>
          </a:xfrm>
          <a:prstGeom prst="roundRect">
            <a:avLst>
              <a:gd name="adj" fmla="val 16667"/>
            </a:avLst>
          </a:prstGeom>
          <a:solidFill>
            <a:srgbClr val="FFFFFF"/>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algn="ctr"/>
            <a:r>
              <a:rPr lang="en" sz="1000">
                <a:solidFill>
                  <a:schemeClr val="accent1"/>
                </a:solidFill>
                <a:latin typeface="DM Sans"/>
                <a:ea typeface="DM Sans"/>
                <a:cs typeface="DM Sans"/>
                <a:sym typeface="DM Sans"/>
              </a:rPr>
              <a:t>PIT</a:t>
            </a:r>
            <a:endParaRPr sz="1000">
              <a:solidFill>
                <a:schemeClr val="accent1"/>
              </a:solidFill>
              <a:latin typeface="DM Sans"/>
              <a:ea typeface="DM Sans"/>
              <a:cs typeface="DM Sans"/>
              <a:sym typeface="DM Sans"/>
            </a:endParaRPr>
          </a:p>
        </p:txBody>
      </p:sp>
      <p:sp>
        <p:nvSpPr>
          <p:cNvPr id="3583" name="Google Shape;3583;p479"/>
          <p:cNvSpPr/>
          <p:nvPr/>
        </p:nvSpPr>
        <p:spPr>
          <a:xfrm>
            <a:off x="8721763" y="2959566"/>
            <a:ext cx="525300" cy="247800"/>
          </a:xfrm>
          <a:prstGeom prst="roundRect">
            <a:avLst>
              <a:gd name="adj" fmla="val 16667"/>
            </a:avLst>
          </a:prstGeom>
          <a:solidFill>
            <a:srgbClr val="FFFFFF"/>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algn="ctr"/>
            <a:r>
              <a:rPr lang="en" sz="1000">
                <a:solidFill>
                  <a:schemeClr val="accent1"/>
                </a:solidFill>
                <a:latin typeface="DM Sans"/>
                <a:ea typeface="DM Sans"/>
                <a:cs typeface="DM Sans"/>
                <a:sym typeface="DM Sans"/>
              </a:rPr>
              <a:t>Bridge</a:t>
            </a:r>
            <a:endParaRPr sz="1000">
              <a:solidFill>
                <a:schemeClr val="accent1"/>
              </a:solidFill>
              <a:latin typeface="DM Sans"/>
              <a:ea typeface="DM Sans"/>
              <a:cs typeface="DM Sans"/>
              <a:sym typeface="DM Sans"/>
            </a:endParaRPr>
          </a:p>
        </p:txBody>
      </p:sp>
      <p:sp>
        <p:nvSpPr>
          <p:cNvPr id="3584" name="Google Shape;3584;p479"/>
          <p:cNvSpPr/>
          <p:nvPr/>
        </p:nvSpPr>
        <p:spPr>
          <a:xfrm>
            <a:off x="8733063" y="3264366"/>
            <a:ext cx="525300" cy="247800"/>
          </a:xfrm>
          <a:prstGeom prst="roundRect">
            <a:avLst>
              <a:gd name="adj" fmla="val 16667"/>
            </a:avLst>
          </a:prstGeom>
          <a:solidFill>
            <a:srgbClr val="FFFFFF"/>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algn="ctr"/>
            <a:r>
              <a:rPr lang="en" sz="1000">
                <a:solidFill>
                  <a:schemeClr val="accent1"/>
                </a:solidFill>
                <a:latin typeface="DM Sans"/>
                <a:ea typeface="DM Sans"/>
                <a:cs typeface="DM Sans"/>
                <a:sym typeface="DM Sans"/>
              </a:rPr>
              <a:t>Views</a:t>
            </a:r>
            <a:endParaRPr sz="1000">
              <a:solidFill>
                <a:schemeClr val="accent1"/>
              </a:solidFill>
              <a:latin typeface="DM Sans"/>
              <a:ea typeface="DM Sans"/>
              <a:cs typeface="DM Sans"/>
              <a:sym typeface="DM Sans"/>
            </a:endParaRPr>
          </a:p>
        </p:txBody>
      </p:sp>
      <p:grpSp>
        <p:nvGrpSpPr>
          <p:cNvPr id="3585" name="Google Shape;3585;p479"/>
          <p:cNvGrpSpPr/>
          <p:nvPr/>
        </p:nvGrpSpPr>
        <p:grpSpPr>
          <a:xfrm>
            <a:off x="6575602" y="4681478"/>
            <a:ext cx="3346300" cy="1816012"/>
            <a:chOff x="5865864" y="4832578"/>
            <a:chExt cx="3346300" cy="1816012"/>
          </a:xfrm>
        </p:grpSpPr>
        <p:sp>
          <p:nvSpPr>
            <p:cNvPr id="3586" name="Google Shape;3586;p479"/>
            <p:cNvSpPr/>
            <p:nvPr/>
          </p:nvSpPr>
          <p:spPr>
            <a:xfrm>
              <a:off x="6606050" y="5352641"/>
              <a:ext cx="525300" cy="247800"/>
            </a:xfrm>
            <a:prstGeom prst="roundRect">
              <a:avLst>
                <a:gd name="adj" fmla="val 16667"/>
              </a:avLst>
            </a:prstGeom>
            <a:solidFill>
              <a:srgbClr val="FFFFFF"/>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algn="ctr"/>
              <a:r>
                <a:rPr lang="en" sz="1000">
                  <a:solidFill>
                    <a:schemeClr val="accent1"/>
                  </a:solidFill>
                  <a:latin typeface="DM Sans"/>
                  <a:ea typeface="DM Sans"/>
                  <a:cs typeface="DM Sans"/>
                  <a:sym typeface="DM Sans"/>
                </a:rPr>
                <a:t>Hub</a:t>
              </a:r>
              <a:endParaRPr sz="1000">
                <a:solidFill>
                  <a:schemeClr val="accent1"/>
                </a:solidFill>
                <a:latin typeface="DM Sans"/>
                <a:ea typeface="DM Sans"/>
                <a:cs typeface="DM Sans"/>
                <a:sym typeface="DM Sans"/>
              </a:endParaRPr>
            </a:p>
          </p:txBody>
        </p:sp>
        <p:sp>
          <p:nvSpPr>
            <p:cNvPr id="3587" name="Google Shape;3587;p479"/>
            <p:cNvSpPr/>
            <p:nvPr/>
          </p:nvSpPr>
          <p:spPr>
            <a:xfrm>
              <a:off x="5865864" y="5047841"/>
              <a:ext cx="525300" cy="247800"/>
            </a:xfrm>
            <a:prstGeom prst="roundRect">
              <a:avLst>
                <a:gd name="adj" fmla="val 16667"/>
              </a:avLst>
            </a:prstGeom>
            <a:solidFill>
              <a:srgbClr val="FFFFFF"/>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algn="ctr"/>
              <a:r>
                <a:rPr lang="en" sz="1000">
                  <a:solidFill>
                    <a:schemeClr val="accent1"/>
                  </a:solidFill>
                  <a:latin typeface="DM Sans"/>
                  <a:ea typeface="DM Sans"/>
                  <a:cs typeface="DM Sans"/>
                  <a:sym typeface="DM Sans"/>
                </a:rPr>
                <a:t>Satellite</a:t>
              </a:r>
              <a:endParaRPr sz="1000">
                <a:solidFill>
                  <a:schemeClr val="accent1"/>
                </a:solidFill>
                <a:latin typeface="DM Sans"/>
                <a:ea typeface="DM Sans"/>
                <a:cs typeface="DM Sans"/>
                <a:sym typeface="DM Sans"/>
              </a:endParaRPr>
            </a:p>
          </p:txBody>
        </p:sp>
        <p:sp>
          <p:nvSpPr>
            <p:cNvPr id="3588" name="Google Shape;3588;p479"/>
            <p:cNvSpPr/>
            <p:nvPr/>
          </p:nvSpPr>
          <p:spPr>
            <a:xfrm>
              <a:off x="5865864" y="5352641"/>
              <a:ext cx="525300" cy="247800"/>
            </a:xfrm>
            <a:prstGeom prst="roundRect">
              <a:avLst>
                <a:gd name="adj" fmla="val 16667"/>
              </a:avLst>
            </a:prstGeom>
            <a:solidFill>
              <a:srgbClr val="FFFFFF"/>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algn="ctr"/>
              <a:r>
                <a:rPr lang="en" sz="1000">
                  <a:solidFill>
                    <a:schemeClr val="accent1"/>
                  </a:solidFill>
                  <a:latin typeface="DM Sans"/>
                  <a:ea typeface="DM Sans"/>
                  <a:cs typeface="DM Sans"/>
                  <a:sym typeface="DM Sans"/>
                </a:rPr>
                <a:t>Satellite</a:t>
              </a:r>
              <a:endParaRPr sz="1000">
                <a:solidFill>
                  <a:schemeClr val="accent1"/>
                </a:solidFill>
                <a:latin typeface="DM Sans"/>
                <a:ea typeface="DM Sans"/>
                <a:cs typeface="DM Sans"/>
                <a:sym typeface="DM Sans"/>
              </a:endParaRPr>
            </a:p>
          </p:txBody>
        </p:sp>
        <p:sp>
          <p:nvSpPr>
            <p:cNvPr id="3589" name="Google Shape;3589;p479"/>
            <p:cNvSpPr/>
            <p:nvPr/>
          </p:nvSpPr>
          <p:spPr>
            <a:xfrm>
              <a:off x="5865864" y="5657441"/>
              <a:ext cx="525300" cy="247800"/>
            </a:xfrm>
            <a:prstGeom prst="roundRect">
              <a:avLst>
                <a:gd name="adj" fmla="val 16667"/>
              </a:avLst>
            </a:prstGeom>
            <a:solidFill>
              <a:srgbClr val="FFFFFF"/>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algn="ctr"/>
              <a:r>
                <a:rPr lang="en" sz="1000">
                  <a:solidFill>
                    <a:schemeClr val="accent1"/>
                  </a:solidFill>
                  <a:latin typeface="DM Sans"/>
                  <a:ea typeface="DM Sans"/>
                  <a:cs typeface="DM Sans"/>
                  <a:sym typeface="DM Sans"/>
                </a:rPr>
                <a:t>Satellite</a:t>
              </a:r>
              <a:endParaRPr sz="1000">
                <a:solidFill>
                  <a:schemeClr val="accent1"/>
                </a:solidFill>
                <a:latin typeface="DM Sans"/>
                <a:ea typeface="DM Sans"/>
                <a:cs typeface="DM Sans"/>
                <a:sym typeface="DM Sans"/>
              </a:endParaRPr>
            </a:p>
          </p:txBody>
        </p:sp>
        <p:sp>
          <p:nvSpPr>
            <p:cNvPr id="3590" name="Google Shape;3590;p479"/>
            <p:cNvSpPr/>
            <p:nvPr/>
          </p:nvSpPr>
          <p:spPr>
            <a:xfrm>
              <a:off x="7967000" y="5352641"/>
              <a:ext cx="525300" cy="247800"/>
            </a:xfrm>
            <a:prstGeom prst="roundRect">
              <a:avLst>
                <a:gd name="adj" fmla="val 16667"/>
              </a:avLst>
            </a:prstGeom>
            <a:solidFill>
              <a:srgbClr val="FFFFFF"/>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algn="ctr"/>
              <a:r>
                <a:rPr lang="en" sz="1000">
                  <a:solidFill>
                    <a:schemeClr val="accent1"/>
                  </a:solidFill>
                  <a:latin typeface="DM Sans"/>
                  <a:ea typeface="DM Sans"/>
                  <a:cs typeface="DM Sans"/>
                  <a:sym typeface="DM Sans"/>
                </a:rPr>
                <a:t>Hub</a:t>
              </a:r>
              <a:endParaRPr sz="1000">
                <a:solidFill>
                  <a:schemeClr val="accent1"/>
                </a:solidFill>
                <a:latin typeface="DM Sans"/>
                <a:ea typeface="DM Sans"/>
                <a:cs typeface="DM Sans"/>
                <a:sym typeface="DM Sans"/>
              </a:endParaRPr>
            </a:p>
          </p:txBody>
        </p:sp>
        <p:sp>
          <p:nvSpPr>
            <p:cNvPr id="3591" name="Google Shape;3591;p479"/>
            <p:cNvSpPr/>
            <p:nvPr/>
          </p:nvSpPr>
          <p:spPr>
            <a:xfrm>
              <a:off x="8686864" y="5200241"/>
              <a:ext cx="525300" cy="247800"/>
            </a:xfrm>
            <a:prstGeom prst="roundRect">
              <a:avLst>
                <a:gd name="adj" fmla="val 16667"/>
              </a:avLst>
            </a:prstGeom>
            <a:solidFill>
              <a:srgbClr val="FFFFFF"/>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algn="ctr"/>
              <a:r>
                <a:rPr lang="en" sz="1000">
                  <a:solidFill>
                    <a:schemeClr val="accent1"/>
                  </a:solidFill>
                  <a:latin typeface="DM Sans"/>
                  <a:ea typeface="DM Sans"/>
                  <a:cs typeface="DM Sans"/>
                  <a:sym typeface="DM Sans"/>
                </a:rPr>
                <a:t>Satellite</a:t>
              </a:r>
              <a:endParaRPr sz="1000">
                <a:solidFill>
                  <a:schemeClr val="accent1"/>
                </a:solidFill>
                <a:latin typeface="DM Sans"/>
                <a:ea typeface="DM Sans"/>
                <a:cs typeface="DM Sans"/>
                <a:sym typeface="DM Sans"/>
              </a:endParaRPr>
            </a:p>
          </p:txBody>
        </p:sp>
        <p:sp>
          <p:nvSpPr>
            <p:cNvPr id="3592" name="Google Shape;3592;p479"/>
            <p:cNvSpPr/>
            <p:nvPr/>
          </p:nvSpPr>
          <p:spPr>
            <a:xfrm>
              <a:off x="8686864" y="5505041"/>
              <a:ext cx="525300" cy="247800"/>
            </a:xfrm>
            <a:prstGeom prst="roundRect">
              <a:avLst>
                <a:gd name="adj" fmla="val 16667"/>
              </a:avLst>
            </a:prstGeom>
            <a:solidFill>
              <a:srgbClr val="FFFFFF"/>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algn="ctr"/>
              <a:r>
                <a:rPr lang="en" sz="1000">
                  <a:solidFill>
                    <a:schemeClr val="accent1"/>
                  </a:solidFill>
                  <a:latin typeface="DM Sans"/>
                  <a:ea typeface="DM Sans"/>
                  <a:cs typeface="DM Sans"/>
                  <a:sym typeface="DM Sans"/>
                </a:rPr>
                <a:t>Satellite</a:t>
              </a:r>
              <a:endParaRPr sz="1000">
                <a:solidFill>
                  <a:schemeClr val="accent1"/>
                </a:solidFill>
                <a:latin typeface="DM Sans"/>
                <a:ea typeface="DM Sans"/>
                <a:cs typeface="DM Sans"/>
                <a:sym typeface="DM Sans"/>
              </a:endParaRPr>
            </a:p>
          </p:txBody>
        </p:sp>
        <p:sp>
          <p:nvSpPr>
            <p:cNvPr id="3593" name="Google Shape;3593;p479"/>
            <p:cNvSpPr/>
            <p:nvPr/>
          </p:nvSpPr>
          <p:spPr>
            <a:xfrm>
              <a:off x="7292231" y="5923791"/>
              <a:ext cx="525300" cy="247800"/>
            </a:xfrm>
            <a:prstGeom prst="roundRect">
              <a:avLst>
                <a:gd name="adj" fmla="val 16667"/>
              </a:avLst>
            </a:prstGeom>
            <a:solidFill>
              <a:srgbClr val="FFFFFF"/>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algn="ctr"/>
              <a:r>
                <a:rPr lang="en" sz="1000">
                  <a:solidFill>
                    <a:schemeClr val="accent1"/>
                  </a:solidFill>
                  <a:latin typeface="DM Sans"/>
                  <a:ea typeface="DM Sans"/>
                  <a:cs typeface="DM Sans"/>
                  <a:sym typeface="DM Sans"/>
                </a:rPr>
                <a:t>Hub</a:t>
              </a:r>
              <a:endParaRPr sz="1000">
                <a:solidFill>
                  <a:schemeClr val="accent1"/>
                </a:solidFill>
                <a:latin typeface="DM Sans"/>
                <a:ea typeface="DM Sans"/>
                <a:cs typeface="DM Sans"/>
                <a:sym typeface="DM Sans"/>
              </a:endParaRPr>
            </a:p>
          </p:txBody>
        </p:sp>
        <p:sp>
          <p:nvSpPr>
            <p:cNvPr id="3594" name="Google Shape;3594;p479"/>
            <p:cNvSpPr/>
            <p:nvPr/>
          </p:nvSpPr>
          <p:spPr>
            <a:xfrm>
              <a:off x="7600802" y="6400791"/>
              <a:ext cx="525300" cy="247800"/>
            </a:xfrm>
            <a:prstGeom prst="roundRect">
              <a:avLst>
                <a:gd name="adj" fmla="val 16667"/>
              </a:avLst>
            </a:prstGeom>
            <a:solidFill>
              <a:srgbClr val="FFFFFF"/>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algn="ctr"/>
              <a:r>
                <a:rPr lang="en" sz="1000">
                  <a:solidFill>
                    <a:schemeClr val="accent1"/>
                  </a:solidFill>
                  <a:latin typeface="DM Sans"/>
                  <a:ea typeface="DM Sans"/>
                  <a:cs typeface="DM Sans"/>
                  <a:sym typeface="DM Sans"/>
                </a:rPr>
                <a:t>Satellite</a:t>
              </a:r>
              <a:endParaRPr sz="1000">
                <a:solidFill>
                  <a:schemeClr val="accent1"/>
                </a:solidFill>
                <a:latin typeface="DM Sans"/>
                <a:ea typeface="DM Sans"/>
                <a:cs typeface="DM Sans"/>
                <a:sym typeface="DM Sans"/>
              </a:endParaRPr>
            </a:p>
          </p:txBody>
        </p:sp>
        <p:sp>
          <p:nvSpPr>
            <p:cNvPr id="3595" name="Google Shape;3595;p479"/>
            <p:cNvSpPr/>
            <p:nvPr/>
          </p:nvSpPr>
          <p:spPr>
            <a:xfrm>
              <a:off x="6960127" y="6400791"/>
              <a:ext cx="525300" cy="247800"/>
            </a:xfrm>
            <a:prstGeom prst="roundRect">
              <a:avLst>
                <a:gd name="adj" fmla="val 16667"/>
              </a:avLst>
            </a:prstGeom>
            <a:solidFill>
              <a:srgbClr val="FFFFFF"/>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algn="ctr"/>
              <a:r>
                <a:rPr lang="en" sz="1000">
                  <a:solidFill>
                    <a:schemeClr val="accent1"/>
                  </a:solidFill>
                  <a:latin typeface="DM Sans"/>
                  <a:ea typeface="DM Sans"/>
                  <a:cs typeface="DM Sans"/>
                  <a:sym typeface="DM Sans"/>
                </a:rPr>
                <a:t>Satellite</a:t>
              </a:r>
              <a:endParaRPr sz="1000">
                <a:solidFill>
                  <a:schemeClr val="accent1"/>
                </a:solidFill>
                <a:latin typeface="DM Sans"/>
                <a:ea typeface="DM Sans"/>
                <a:cs typeface="DM Sans"/>
                <a:sym typeface="DM Sans"/>
              </a:endParaRPr>
            </a:p>
          </p:txBody>
        </p:sp>
        <p:sp>
          <p:nvSpPr>
            <p:cNvPr id="3596" name="Google Shape;3596;p479"/>
            <p:cNvSpPr/>
            <p:nvPr/>
          </p:nvSpPr>
          <p:spPr>
            <a:xfrm>
              <a:off x="7292231" y="5352641"/>
              <a:ext cx="525300" cy="247800"/>
            </a:xfrm>
            <a:prstGeom prst="roundRect">
              <a:avLst>
                <a:gd name="adj" fmla="val 16667"/>
              </a:avLst>
            </a:prstGeom>
            <a:solidFill>
              <a:srgbClr val="FFFFFF"/>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algn="ctr"/>
              <a:r>
                <a:rPr lang="en" sz="1000">
                  <a:solidFill>
                    <a:schemeClr val="accent1"/>
                  </a:solidFill>
                  <a:latin typeface="DM Sans"/>
                  <a:ea typeface="DM Sans"/>
                  <a:cs typeface="DM Sans"/>
                  <a:sym typeface="DM Sans"/>
                </a:rPr>
                <a:t>Link</a:t>
              </a:r>
              <a:endParaRPr sz="1000">
                <a:solidFill>
                  <a:schemeClr val="accent1"/>
                </a:solidFill>
                <a:latin typeface="DM Sans"/>
                <a:ea typeface="DM Sans"/>
                <a:cs typeface="DM Sans"/>
                <a:sym typeface="DM Sans"/>
              </a:endParaRPr>
            </a:p>
          </p:txBody>
        </p:sp>
        <p:sp>
          <p:nvSpPr>
            <p:cNvPr id="3597" name="Google Shape;3597;p479"/>
            <p:cNvSpPr/>
            <p:nvPr/>
          </p:nvSpPr>
          <p:spPr>
            <a:xfrm>
              <a:off x="7292231" y="4832578"/>
              <a:ext cx="525300" cy="247800"/>
            </a:xfrm>
            <a:prstGeom prst="roundRect">
              <a:avLst>
                <a:gd name="adj" fmla="val 16667"/>
              </a:avLst>
            </a:prstGeom>
            <a:solidFill>
              <a:srgbClr val="FFFFFF"/>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algn="ctr"/>
              <a:r>
                <a:rPr lang="en" sz="1000">
                  <a:solidFill>
                    <a:schemeClr val="accent1"/>
                  </a:solidFill>
                  <a:latin typeface="DM Sans"/>
                  <a:ea typeface="DM Sans"/>
                  <a:cs typeface="DM Sans"/>
                  <a:sym typeface="DM Sans"/>
                </a:rPr>
                <a:t>Satellite</a:t>
              </a:r>
              <a:endParaRPr sz="1000">
                <a:solidFill>
                  <a:schemeClr val="accent1"/>
                </a:solidFill>
                <a:latin typeface="DM Sans"/>
                <a:ea typeface="DM Sans"/>
                <a:cs typeface="DM Sans"/>
                <a:sym typeface="DM Sans"/>
              </a:endParaRPr>
            </a:p>
          </p:txBody>
        </p:sp>
        <p:cxnSp>
          <p:nvCxnSpPr>
            <p:cNvPr id="3598" name="Google Shape;3598;p479"/>
            <p:cNvCxnSpPr>
              <a:stCxn id="3586" idx="1"/>
              <a:endCxn id="3587" idx="3"/>
            </p:cNvCxnSpPr>
            <p:nvPr/>
          </p:nvCxnSpPr>
          <p:spPr>
            <a:xfrm rot="10800000">
              <a:off x="6391250" y="5171741"/>
              <a:ext cx="214800" cy="304800"/>
            </a:xfrm>
            <a:prstGeom prst="bentConnector3">
              <a:avLst>
                <a:gd name="adj1" fmla="val 50020"/>
              </a:avLst>
            </a:prstGeom>
            <a:noFill/>
            <a:ln w="9525" cap="flat" cmpd="sng">
              <a:solidFill>
                <a:schemeClr val="accent5"/>
              </a:solidFill>
              <a:prstDash val="solid"/>
              <a:round/>
              <a:headEnd type="none" w="med" len="med"/>
              <a:tailEnd type="none" w="med" len="med"/>
            </a:ln>
          </p:spPr>
        </p:cxnSp>
        <p:cxnSp>
          <p:nvCxnSpPr>
            <p:cNvPr id="3599" name="Google Shape;3599;p479"/>
            <p:cNvCxnSpPr>
              <a:stCxn id="3586" idx="1"/>
              <a:endCxn id="3588" idx="3"/>
            </p:cNvCxnSpPr>
            <p:nvPr/>
          </p:nvCxnSpPr>
          <p:spPr>
            <a:xfrm rot="10800000">
              <a:off x="6391250" y="5476541"/>
              <a:ext cx="214800" cy="0"/>
            </a:xfrm>
            <a:prstGeom prst="straightConnector1">
              <a:avLst/>
            </a:prstGeom>
            <a:noFill/>
            <a:ln w="9525" cap="flat" cmpd="sng">
              <a:solidFill>
                <a:schemeClr val="accent5"/>
              </a:solidFill>
              <a:prstDash val="solid"/>
              <a:round/>
              <a:headEnd type="none" w="med" len="med"/>
              <a:tailEnd type="none" w="med" len="med"/>
            </a:ln>
          </p:spPr>
        </p:cxnSp>
        <p:cxnSp>
          <p:nvCxnSpPr>
            <p:cNvPr id="3600" name="Google Shape;3600;p479"/>
            <p:cNvCxnSpPr>
              <a:stCxn id="3586" idx="1"/>
              <a:endCxn id="3589" idx="3"/>
            </p:cNvCxnSpPr>
            <p:nvPr/>
          </p:nvCxnSpPr>
          <p:spPr>
            <a:xfrm flipH="1">
              <a:off x="6391250" y="5476541"/>
              <a:ext cx="214800" cy="304800"/>
            </a:xfrm>
            <a:prstGeom prst="bentConnector3">
              <a:avLst>
                <a:gd name="adj1" fmla="val 50020"/>
              </a:avLst>
            </a:prstGeom>
            <a:noFill/>
            <a:ln w="9525" cap="flat" cmpd="sng">
              <a:solidFill>
                <a:schemeClr val="accent5"/>
              </a:solidFill>
              <a:prstDash val="solid"/>
              <a:round/>
              <a:headEnd type="none" w="med" len="med"/>
              <a:tailEnd type="none" w="med" len="med"/>
            </a:ln>
          </p:spPr>
        </p:cxnSp>
        <p:cxnSp>
          <p:nvCxnSpPr>
            <p:cNvPr id="3601" name="Google Shape;3601;p479"/>
            <p:cNvCxnSpPr>
              <a:stCxn id="3590" idx="3"/>
              <a:endCxn id="3591" idx="1"/>
            </p:cNvCxnSpPr>
            <p:nvPr/>
          </p:nvCxnSpPr>
          <p:spPr>
            <a:xfrm rot="10800000" flipH="1">
              <a:off x="8492300" y="5324141"/>
              <a:ext cx="194700" cy="152400"/>
            </a:xfrm>
            <a:prstGeom prst="bentConnector3">
              <a:avLst>
                <a:gd name="adj1" fmla="val 49965"/>
              </a:avLst>
            </a:prstGeom>
            <a:noFill/>
            <a:ln w="9525" cap="flat" cmpd="sng">
              <a:solidFill>
                <a:schemeClr val="accent5"/>
              </a:solidFill>
              <a:prstDash val="solid"/>
              <a:round/>
              <a:headEnd type="none" w="med" len="med"/>
              <a:tailEnd type="none" w="med" len="med"/>
            </a:ln>
          </p:spPr>
        </p:cxnSp>
        <p:cxnSp>
          <p:nvCxnSpPr>
            <p:cNvPr id="3602" name="Google Shape;3602;p479"/>
            <p:cNvCxnSpPr>
              <a:stCxn id="3590" idx="3"/>
              <a:endCxn id="3592" idx="1"/>
            </p:cNvCxnSpPr>
            <p:nvPr/>
          </p:nvCxnSpPr>
          <p:spPr>
            <a:xfrm>
              <a:off x="8492300" y="5476541"/>
              <a:ext cx="194700" cy="152400"/>
            </a:xfrm>
            <a:prstGeom prst="bentConnector3">
              <a:avLst>
                <a:gd name="adj1" fmla="val 49965"/>
              </a:avLst>
            </a:prstGeom>
            <a:noFill/>
            <a:ln w="9525" cap="flat" cmpd="sng">
              <a:solidFill>
                <a:schemeClr val="accent5"/>
              </a:solidFill>
              <a:prstDash val="solid"/>
              <a:round/>
              <a:headEnd type="none" w="med" len="med"/>
              <a:tailEnd type="none" w="med" len="med"/>
            </a:ln>
          </p:spPr>
        </p:cxnSp>
        <p:cxnSp>
          <p:nvCxnSpPr>
            <p:cNvPr id="3603" name="Google Shape;3603;p479"/>
            <p:cNvCxnSpPr>
              <a:stCxn id="3593" idx="2"/>
              <a:endCxn id="3595" idx="0"/>
            </p:cNvCxnSpPr>
            <p:nvPr/>
          </p:nvCxnSpPr>
          <p:spPr>
            <a:xfrm rot="5400000">
              <a:off x="7274231" y="6120141"/>
              <a:ext cx="229200" cy="332100"/>
            </a:xfrm>
            <a:prstGeom prst="bentConnector3">
              <a:avLst>
                <a:gd name="adj1" fmla="val 50000"/>
              </a:avLst>
            </a:prstGeom>
            <a:noFill/>
            <a:ln w="9525" cap="flat" cmpd="sng">
              <a:solidFill>
                <a:schemeClr val="accent5"/>
              </a:solidFill>
              <a:prstDash val="solid"/>
              <a:round/>
              <a:headEnd type="none" w="med" len="med"/>
              <a:tailEnd type="none" w="med" len="med"/>
            </a:ln>
          </p:spPr>
        </p:cxnSp>
        <p:cxnSp>
          <p:nvCxnSpPr>
            <p:cNvPr id="3604" name="Google Shape;3604;p479"/>
            <p:cNvCxnSpPr>
              <a:stCxn id="3593" idx="2"/>
              <a:endCxn id="3594" idx="0"/>
            </p:cNvCxnSpPr>
            <p:nvPr/>
          </p:nvCxnSpPr>
          <p:spPr>
            <a:xfrm rot="-5400000" flipH="1">
              <a:off x="7594631" y="6131841"/>
              <a:ext cx="229200" cy="308700"/>
            </a:xfrm>
            <a:prstGeom prst="bentConnector3">
              <a:avLst>
                <a:gd name="adj1" fmla="val 50000"/>
              </a:avLst>
            </a:prstGeom>
            <a:noFill/>
            <a:ln w="9525" cap="flat" cmpd="sng">
              <a:solidFill>
                <a:schemeClr val="accent5"/>
              </a:solidFill>
              <a:prstDash val="solid"/>
              <a:round/>
              <a:headEnd type="none" w="med" len="med"/>
              <a:tailEnd type="none" w="med" len="med"/>
            </a:ln>
          </p:spPr>
        </p:cxnSp>
        <p:cxnSp>
          <p:nvCxnSpPr>
            <p:cNvPr id="3605" name="Google Shape;3605;p479"/>
            <p:cNvCxnSpPr>
              <a:stCxn id="3596" idx="2"/>
              <a:endCxn id="3593" idx="0"/>
            </p:cNvCxnSpPr>
            <p:nvPr/>
          </p:nvCxnSpPr>
          <p:spPr>
            <a:xfrm>
              <a:off x="7554881" y="5600441"/>
              <a:ext cx="0" cy="323400"/>
            </a:xfrm>
            <a:prstGeom prst="straightConnector1">
              <a:avLst/>
            </a:prstGeom>
            <a:noFill/>
            <a:ln w="9525" cap="flat" cmpd="sng">
              <a:solidFill>
                <a:schemeClr val="accent5"/>
              </a:solidFill>
              <a:prstDash val="solid"/>
              <a:round/>
              <a:headEnd type="none" w="med" len="med"/>
              <a:tailEnd type="none" w="med" len="med"/>
            </a:ln>
          </p:spPr>
        </p:cxnSp>
        <p:cxnSp>
          <p:nvCxnSpPr>
            <p:cNvPr id="3606" name="Google Shape;3606;p479"/>
            <p:cNvCxnSpPr>
              <a:stCxn id="3597" idx="2"/>
              <a:endCxn id="3596" idx="0"/>
            </p:cNvCxnSpPr>
            <p:nvPr/>
          </p:nvCxnSpPr>
          <p:spPr>
            <a:xfrm>
              <a:off x="7554881" y="5080378"/>
              <a:ext cx="0" cy="272400"/>
            </a:xfrm>
            <a:prstGeom prst="straightConnector1">
              <a:avLst/>
            </a:prstGeom>
            <a:noFill/>
            <a:ln w="9525" cap="flat" cmpd="sng">
              <a:solidFill>
                <a:schemeClr val="accent5"/>
              </a:solidFill>
              <a:prstDash val="solid"/>
              <a:round/>
              <a:headEnd type="none" w="med" len="med"/>
              <a:tailEnd type="none" w="med" len="med"/>
            </a:ln>
          </p:spPr>
        </p:cxnSp>
        <p:cxnSp>
          <p:nvCxnSpPr>
            <p:cNvPr id="3607" name="Google Shape;3607;p479"/>
            <p:cNvCxnSpPr>
              <a:stCxn id="3596" idx="1"/>
              <a:endCxn id="3586" idx="3"/>
            </p:cNvCxnSpPr>
            <p:nvPr/>
          </p:nvCxnSpPr>
          <p:spPr>
            <a:xfrm rot="10800000">
              <a:off x="7131431" y="5476541"/>
              <a:ext cx="160800" cy="0"/>
            </a:xfrm>
            <a:prstGeom prst="straightConnector1">
              <a:avLst/>
            </a:prstGeom>
            <a:noFill/>
            <a:ln w="9525" cap="flat" cmpd="sng">
              <a:solidFill>
                <a:schemeClr val="accent5"/>
              </a:solidFill>
              <a:prstDash val="solid"/>
              <a:round/>
              <a:headEnd type="none" w="med" len="med"/>
              <a:tailEnd type="none" w="med" len="med"/>
            </a:ln>
          </p:spPr>
        </p:cxnSp>
        <p:cxnSp>
          <p:nvCxnSpPr>
            <p:cNvPr id="3608" name="Google Shape;3608;p479"/>
            <p:cNvCxnSpPr>
              <a:stCxn id="3590" idx="1"/>
              <a:endCxn id="3596" idx="3"/>
            </p:cNvCxnSpPr>
            <p:nvPr/>
          </p:nvCxnSpPr>
          <p:spPr>
            <a:xfrm rot="10800000">
              <a:off x="7817600" y="5476541"/>
              <a:ext cx="149400" cy="0"/>
            </a:xfrm>
            <a:prstGeom prst="straightConnector1">
              <a:avLst/>
            </a:prstGeom>
            <a:noFill/>
            <a:ln w="9525" cap="flat" cmpd="sng">
              <a:solidFill>
                <a:schemeClr val="accent5"/>
              </a:solidFill>
              <a:prstDash val="solid"/>
              <a:round/>
              <a:headEnd type="none" w="med" len="med"/>
              <a:tailEnd type="none" w="med" len="med"/>
            </a:ln>
          </p:spPr>
        </p:cxnSp>
        <p:sp>
          <p:nvSpPr>
            <p:cNvPr id="3609" name="Google Shape;3609;p479"/>
            <p:cNvSpPr txBox="1"/>
            <p:nvPr/>
          </p:nvSpPr>
          <p:spPr>
            <a:xfrm>
              <a:off x="6446610" y="5533138"/>
              <a:ext cx="875100" cy="338700"/>
            </a:xfrm>
            <a:prstGeom prst="rect">
              <a:avLst/>
            </a:prstGeom>
            <a:noFill/>
            <a:ln>
              <a:noFill/>
            </a:ln>
          </p:spPr>
          <p:txBody>
            <a:bodyPr spcFirstLastPara="1" wrap="square" lIns="91425" tIns="91425" rIns="91425" bIns="91425" anchor="t" anchorCtr="0">
              <a:spAutoFit/>
            </a:bodyPr>
            <a:lstStyle/>
            <a:p>
              <a:pPr algn="ctr"/>
              <a:r>
                <a:rPr lang="en" sz="1000" b="1" i="1">
                  <a:solidFill>
                    <a:schemeClr val="accent1"/>
                  </a:solidFill>
                  <a:latin typeface="DM Sans"/>
                  <a:ea typeface="DM Sans"/>
                  <a:cs typeface="DM Sans"/>
                  <a:sym typeface="DM Sans"/>
                </a:rPr>
                <a:t>Customer</a:t>
              </a:r>
              <a:endParaRPr sz="1000" b="1" i="1"/>
            </a:p>
          </p:txBody>
        </p:sp>
        <p:sp>
          <p:nvSpPr>
            <p:cNvPr id="3610" name="Google Shape;3610;p479"/>
            <p:cNvSpPr txBox="1"/>
            <p:nvPr/>
          </p:nvSpPr>
          <p:spPr>
            <a:xfrm>
              <a:off x="7803634" y="5533138"/>
              <a:ext cx="875100" cy="338700"/>
            </a:xfrm>
            <a:prstGeom prst="rect">
              <a:avLst/>
            </a:prstGeom>
            <a:noFill/>
            <a:ln>
              <a:noFill/>
            </a:ln>
          </p:spPr>
          <p:txBody>
            <a:bodyPr spcFirstLastPara="1" wrap="square" lIns="91425" tIns="91425" rIns="91425" bIns="91425" anchor="t" anchorCtr="0">
              <a:spAutoFit/>
            </a:bodyPr>
            <a:lstStyle/>
            <a:p>
              <a:pPr algn="ctr"/>
              <a:r>
                <a:rPr lang="en" sz="1000" b="1" i="1">
                  <a:solidFill>
                    <a:schemeClr val="accent1"/>
                  </a:solidFill>
                  <a:latin typeface="DM Sans"/>
                  <a:ea typeface="DM Sans"/>
                  <a:cs typeface="DM Sans"/>
                  <a:sym typeface="DM Sans"/>
                </a:rPr>
                <a:t>Product</a:t>
              </a:r>
              <a:endParaRPr sz="1000" b="1" i="1"/>
            </a:p>
          </p:txBody>
        </p:sp>
        <p:sp>
          <p:nvSpPr>
            <p:cNvPr id="3611" name="Google Shape;3611;p479"/>
            <p:cNvSpPr txBox="1"/>
            <p:nvPr/>
          </p:nvSpPr>
          <p:spPr>
            <a:xfrm>
              <a:off x="7604186" y="5881665"/>
              <a:ext cx="875100" cy="338700"/>
            </a:xfrm>
            <a:prstGeom prst="rect">
              <a:avLst/>
            </a:prstGeom>
            <a:noFill/>
            <a:ln>
              <a:noFill/>
            </a:ln>
          </p:spPr>
          <p:txBody>
            <a:bodyPr spcFirstLastPara="1" wrap="square" lIns="91425" tIns="91425" rIns="91425" bIns="91425" anchor="t" anchorCtr="0">
              <a:spAutoFit/>
            </a:bodyPr>
            <a:lstStyle/>
            <a:p>
              <a:pPr algn="ctr"/>
              <a:r>
                <a:rPr lang="en" sz="1000" b="1" i="1">
                  <a:solidFill>
                    <a:schemeClr val="accent1"/>
                  </a:solidFill>
                  <a:latin typeface="DM Sans"/>
                  <a:ea typeface="DM Sans"/>
                  <a:cs typeface="DM Sans"/>
                  <a:sym typeface="DM Sans"/>
                </a:rPr>
                <a:t>Order</a:t>
              </a:r>
              <a:endParaRPr sz="1000" b="1" i="1"/>
            </a:p>
          </p:txBody>
        </p:sp>
      </p:grpSp>
      <p:sp>
        <p:nvSpPr>
          <p:cNvPr id="3612" name="Google Shape;3612;p479"/>
          <p:cNvSpPr/>
          <p:nvPr/>
        </p:nvSpPr>
        <p:spPr>
          <a:xfrm rot="10800000">
            <a:off x="11395334" y="2795328"/>
            <a:ext cx="198300" cy="247800"/>
          </a:xfrm>
          <a:prstGeom prst="rightArrow">
            <a:avLst>
              <a:gd name="adj1" fmla="val 50000"/>
              <a:gd name="adj2" fmla="val 50000"/>
            </a:avLst>
          </a:prstGeom>
          <a:no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3613" name="Google Shape;3613;p479"/>
          <p:cNvSpPr txBox="1"/>
          <p:nvPr/>
        </p:nvSpPr>
        <p:spPr>
          <a:xfrm>
            <a:off x="11576377" y="2719134"/>
            <a:ext cx="583800" cy="738633"/>
          </a:xfrm>
          <a:prstGeom prst="rect">
            <a:avLst/>
          </a:prstGeom>
          <a:noFill/>
          <a:ln>
            <a:noFill/>
          </a:ln>
        </p:spPr>
        <p:txBody>
          <a:bodyPr spcFirstLastPara="1" wrap="square" lIns="91425" tIns="91425" rIns="91425" bIns="91425" anchor="t" anchorCtr="0">
            <a:spAutoFit/>
          </a:bodyPr>
          <a:lstStyle/>
          <a:p>
            <a:r>
              <a:rPr lang="en" b="1">
                <a:solidFill>
                  <a:schemeClr val="accent1"/>
                </a:solidFill>
                <a:latin typeface="DM Sans"/>
                <a:ea typeface="DM Sans"/>
                <a:cs typeface="DM Sans"/>
                <a:sym typeface="DM Sans"/>
              </a:rPr>
              <a:t>SQL</a:t>
            </a:r>
            <a:endParaRPr sz="1000" b="1">
              <a:solidFill>
                <a:schemeClr val="accent1"/>
              </a:solidFill>
              <a:latin typeface="DM Sans"/>
              <a:ea typeface="DM Sans"/>
              <a:cs typeface="DM Sans"/>
              <a:sym typeface="DM Sans"/>
            </a:endParaRPr>
          </a:p>
        </p:txBody>
      </p:sp>
      <p:sp>
        <p:nvSpPr>
          <p:cNvPr id="3614" name="Google Shape;3614;p479"/>
          <p:cNvSpPr txBox="1"/>
          <p:nvPr/>
        </p:nvSpPr>
        <p:spPr>
          <a:xfrm>
            <a:off x="6542938" y="4238425"/>
            <a:ext cx="3416700" cy="369300"/>
          </a:xfrm>
          <a:prstGeom prst="rect">
            <a:avLst/>
          </a:prstGeom>
          <a:noFill/>
          <a:ln>
            <a:noFill/>
          </a:ln>
        </p:spPr>
        <p:txBody>
          <a:bodyPr spcFirstLastPara="1" wrap="square" lIns="91425" tIns="91425" rIns="91425" bIns="91425" anchor="t" anchorCtr="0">
            <a:spAutoFit/>
          </a:bodyPr>
          <a:lstStyle/>
          <a:p>
            <a:pPr algn="ctr"/>
            <a:r>
              <a:rPr lang="en" sz="1200">
                <a:solidFill>
                  <a:schemeClr val="accent1"/>
                </a:solidFill>
                <a:latin typeface="DM Sans Medium"/>
                <a:ea typeface="DM Sans Medium"/>
                <a:cs typeface="DM Sans Medium"/>
                <a:sym typeface="DM Sans Medium"/>
              </a:rPr>
              <a:t>Data Vault 2.0 model</a:t>
            </a:r>
            <a:endParaRPr sz="1200">
              <a:latin typeface="DM Sans Medium"/>
              <a:ea typeface="DM Sans Medium"/>
              <a:cs typeface="DM Sans Medium"/>
              <a:sym typeface="DM Sans Medium"/>
            </a:endParaRPr>
          </a:p>
        </p:txBody>
      </p:sp>
      <p:sp>
        <p:nvSpPr>
          <p:cNvPr id="3615" name="Google Shape;3615;p479"/>
          <p:cNvSpPr/>
          <p:nvPr/>
        </p:nvSpPr>
        <p:spPr>
          <a:xfrm>
            <a:off x="6415013" y="4251450"/>
            <a:ext cx="3687600" cy="2334300"/>
          </a:xfrm>
          <a:prstGeom prst="rect">
            <a:avLst/>
          </a:prstGeom>
          <a:noFill/>
          <a:ln w="9525"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3616" name="Google Shape;3616;p479"/>
          <p:cNvSpPr txBox="1"/>
          <p:nvPr/>
        </p:nvSpPr>
        <p:spPr>
          <a:xfrm>
            <a:off x="11341038" y="4038851"/>
            <a:ext cx="911700" cy="738633"/>
          </a:xfrm>
          <a:prstGeom prst="rect">
            <a:avLst/>
          </a:prstGeom>
          <a:noFill/>
          <a:ln>
            <a:noFill/>
          </a:ln>
        </p:spPr>
        <p:txBody>
          <a:bodyPr spcFirstLastPara="1" wrap="square" lIns="91425" tIns="91425" rIns="91425" bIns="91425" anchor="t" anchorCtr="0">
            <a:spAutoFit/>
          </a:bodyPr>
          <a:lstStyle/>
          <a:p>
            <a:r>
              <a:rPr lang="en" b="1">
                <a:solidFill>
                  <a:schemeClr val="accent1"/>
                </a:solidFill>
                <a:latin typeface="DM Sans"/>
                <a:ea typeface="DM Sans"/>
                <a:cs typeface="DM Sans"/>
                <a:sym typeface="DM Sans"/>
              </a:rPr>
              <a:t>ETL/ELT</a:t>
            </a:r>
            <a:endParaRPr sz="1000" b="1">
              <a:solidFill>
                <a:schemeClr val="accent1"/>
              </a:solidFill>
              <a:latin typeface="DM Sans"/>
              <a:ea typeface="DM Sans"/>
              <a:cs typeface="DM Sans"/>
              <a:sym typeface="DM Sans"/>
            </a:endParaRPr>
          </a:p>
        </p:txBody>
      </p:sp>
      <p:sp>
        <p:nvSpPr>
          <p:cNvPr id="3617" name="Google Shape;3617;p479"/>
          <p:cNvSpPr/>
          <p:nvPr/>
        </p:nvSpPr>
        <p:spPr>
          <a:xfrm>
            <a:off x="10369926" y="2761725"/>
            <a:ext cx="583800" cy="338700"/>
          </a:xfrm>
          <a:prstGeom prst="roundRect">
            <a:avLst>
              <a:gd name="adj" fmla="val 16667"/>
            </a:avLst>
          </a:prstGeom>
          <a:solidFill>
            <a:srgbClr val="FFFFFF"/>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algn="ctr"/>
            <a:r>
              <a:rPr lang="en" sz="1000">
                <a:solidFill>
                  <a:schemeClr val="accent1"/>
                </a:solidFill>
                <a:latin typeface="DM Sans"/>
                <a:ea typeface="DM Sans"/>
                <a:cs typeface="DM Sans"/>
                <a:sym typeface="DM Sans"/>
              </a:rPr>
              <a:t>Business Views</a:t>
            </a:r>
            <a:endParaRPr sz="1000">
              <a:solidFill>
                <a:schemeClr val="accent1"/>
              </a:solidFill>
              <a:latin typeface="DM Sans"/>
              <a:ea typeface="DM Sans"/>
              <a:cs typeface="DM Sans"/>
              <a:sym typeface="DM Sans"/>
            </a:endParaRPr>
          </a:p>
        </p:txBody>
      </p:sp>
      <p:sp>
        <p:nvSpPr>
          <p:cNvPr id="3618" name="Google Shape;3618;p479"/>
          <p:cNvSpPr/>
          <p:nvPr/>
        </p:nvSpPr>
        <p:spPr>
          <a:xfrm>
            <a:off x="5167288" y="2895938"/>
            <a:ext cx="1452000" cy="1100100"/>
          </a:xfrm>
          <a:prstGeom prst="rect">
            <a:avLst/>
          </a:prstGeom>
          <a:solidFill>
            <a:srgbClr val="E69138">
              <a:alpha val="32960"/>
            </a:srgbClr>
          </a:solidFill>
          <a:ln>
            <a:noFill/>
          </a:ln>
        </p:spPr>
        <p:txBody>
          <a:bodyPr spcFirstLastPara="1" wrap="square" lIns="91425" tIns="0" rIns="91425" bIns="45700" anchor="b" anchorCtr="0">
            <a:noAutofit/>
          </a:bodyPr>
          <a:lstStyle/>
          <a:p>
            <a:pPr indent="457200"/>
            <a:r>
              <a:rPr lang="en" sz="1000" i="1">
                <a:solidFill>
                  <a:schemeClr val="accent1"/>
                </a:solidFill>
                <a:latin typeface="DM Sans Medium"/>
                <a:ea typeface="DM Sans Medium"/>
                <a:cs typeface="DM Sans Medium"/>
                <a:sym typeface="DM Sans Medium"/>
              </a:rPr>
              <a:t>bronze</a:t>
            </a:r>
            <a:endParaRPr sz="1000" i="1">
              <a:solidFill>
                <a:schemeClr val="accent1"/>
              </a:solidFill>
              <a:latin typeface="DM Sans Medium"/>
              <a:ea typeface="DM Sans Medium"/>
              <a:cs typeface="DM Sans Medium"/>
              <a:sym typeface="DM Sans Medium"/>
            </a:endParaRPr>
          </a:p>
        </p:txBody>
      </p:sp>
      <p:sp>
        <p:nvSpPr>
          <p:cNvPr id="3619" name="Google Shape;3619;p479"/>
          <p:cNvSpPr/>
          <p:nvPr/>
        </p:nvSpPr>
        <p:spPr>
          <a:xfrm>
            <a:off x="5324788" y="2982850"/>
            <a:ext cx="1137000" cy="741900"/>
          </a:xfrm>
          <a:prstGeom prst="rect">
            <a:avLst/>
          </a:prstGeom>
          <a:solidFill>
            <a:srgbClr val="FFFFFF"/>
          </a:solidFill>
          <a:ln w="9525" cap="flat" cmpd="sng">
            <a:solidFill>
              <a:schemeClr val="accent1"/>
            </a:solidFill>
            <a:prstDash val="solid"/>
            <a:round/>
            <a:headEnd type="none" w="sm" len="sm"/>
            <a:tailEnd type="none" w="sm" len="sm"/>
          </a:ln>
        </p:spPr>
        <p:txBody>
          <a:bodyPr spcFirstLastPara="1" wrap="square" lIns="0" tIns="45700" rIns="0" bIns="0" anchor="t" anchorCtr="0">
            <a:noAutofit/>
          </a:bodyPr>
          <a:lstStyle/>
          <a:p>
            <a:pPr algn="ctr"/>
            <a:r>
              <a:rPr lang="en">
                <a:solidFill>
                  <a:schemeClr val="accent1"/>
                </a:solidFill>
                <a:latin typeface="DM Sans Medium"/>
                <a:ea typeface="DM Sans Medium"/>
                <a:cs typeface="DM Sans Medium"/>
                <a:sym typeface="DM Sans Medium"/>
              </a:rPr>
              <a:t>Ingestion</a:t>
            </a:r>
            <a:endParaRPr>
              <a:solidFill>
                <a:schemeClr val="accent1"/>
              </a:solidFill>
              <a:latin typeface="DM Sans Medium"/>
              <a:ea typeface="DM Sans Medium"/>
              <a:cs typeface="DM Sans Medium"/>
              <a:sym typeface="DM Sans Medium"/>
            </a:endParaRPr>
          </a:p>
        </p:txBody>
      </p:sp>
      <p:sp>
        <p:nvSpPr>
          <p:cNvPr id="3620" name="Google Shape;3620;p479"/>
          <p:cNvSpPr/>
          <p:nvPr/>
        </p:nvSpPr>
        <p:spPr>
          <a:xfrm>
            <a:off x="5603000" y="3305012"/>
            <a:ext cx="626700" cy="342900"/>
          </a:xfrm>
          <a:prstGeom prst="roundRect">
            <a:avLst>
              <a:gd name="adj" fmla="val 16667"/>
            </a:avLst>
          </a:prstGeom>
          <a:solidFill>
            <a:srgbClr val="FFFFFF"/>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algn="ctr"/>
            <a:r>
              <a:rPr lang="en" sz="1000">
                <a:solidFill>
                  <a:schemeClr val="accent1"/>
                </a:solidFill>
                <a:latin typeface="DM Sans"/>
                <a:ea typeface="DM Sans"/>
                <a:cs typeface="DM Sans"/>
                <a:sym typeface="DM Sans"/>
              </a:rPr>
              <a:t>raw</a:t>
            </a:r>
            <a:br>
              <a:rPr lang="en" sz="1000">
                <a:solidFill>
                  <a:schemeClr val="accent1"/>
                </a:solidFill>
                <a:latin typeface="DM Sans"/>
                <a:ea typeface="DM Sans"/>
                <a:cs typeface="DM Sans"/>
                <a:sym typeface="DM Sans"/>
              </a:rPr>
            </a:br>
            <a:r>
              <a:rPr lang="en" sz="1000">
                <a:solidFill>
                  <a:schemeClr val="accent1"/>
                </a:solidFill>
                <a:latin typeface="DM Sans"/>
                <a:ea typeface="DM Sans"/>
                <a:cs typeface="DM Sans"/>
                <a:sym typeface="DM Sans"/>
              </a:rPr>
              <a:t>data</a:t>
            </a:r>
            <a:endParaRPr sz="1000">
              <a:solidFill>
                <a:schemeClr val="accent1"/>
              </a:solidFill>
              <a:latin typeface="DM Sans"/>
              <a:ea typeface="DM Sans"/>
              <a:cs typeface="DM Sans"/>
              <a:sym typeface="DM Sans"/>
            </a:endParaRPr>
          </a:p>
        </p:txBody>
      </p:sp>
      <p:sp>
        <p:nvSpPr>
          <p:cNvPr id="3621" name="Google Shape;3621;p479"/>
          <p:cNvSpPr/>
          <p:nvPr/>
        </p:nvSpPr>
        <p:spPr>
          <a:xfrm>
            <a:off x="6594190" y="3188175"/>
            <a:ext cx="198600" cy="247800"/>
          </a:xfrm>
          <a:prstGeom prst="rightArrow">
            <a:avLst>
              <a:gd name="adj1" fmla="val 50000"/>
              <a:gd name="adj2" fmla="val 50000"/>
            </a:avLst>
          </a:prstGeom>
          <a:solidFill>
            <a:schemeClr val="accent5"/>
          </a:solidFill>
          <a:ln>
            <a:noFill/>
          </a:ln>
        </p:spPr>
        <p:txBody>
          <a:bodyPr spcFirstLastPara="1" wrap="square" lIns="91425" tIns="91425" rIns="91425" bIns="91425" anchor="ctr" anchorCtr="0">
            <a:noAutofit/>
          </a:bodyPr>
          <a:lstStyle/>
          <a:p>
            <a:endParaRPr/>
          </a:p>
        </p:txBody>
      </p:sp>
      <p:sp>
        <p:nvSpPr>
          <p:cNvPr id="3622" name="Google Shape;3622;p479"/>
          <p:cNvSpPr/>
          <p:nvPr/>
        </p:nvSpPr>
        <p:spPr>
          <a:xfrm>
            <a:off x="5165288" y="1661775"/>
            <a:ext cx="1452000" cy="1057500"/>
          </a:xfrm>
          <a:prstGeom prst="rect">
            <a:avLst/>
          </a:prstGeom>
          <a:solidFill>
            <a:srgbClr val="F3ECE5">
              <a:alpha val="32960"/>
            </a:srgbClr>
          </a:solidFill>
          <a:ln>
            <a:noFill/>
          </a:ln>
        </p:spPr>
        <p:txBody>
          <a:bodyPr spcFirstLastPara="1" wrap="square" lIns="91425" tIns="0" rIns="91425" bIns="45700" anchor="b" anchorCtr="0">
            <a:noAutofit/>
          </a:bodyPr>
          <a:lstStyle/>
          <a:p>
            <a:pPr algn="ctr"/>
            <a:r>
              <a:rPr lang="en" sz="1000" i="1">
                <a:solidFill>
                  <a:schemeClr val="accent1"/>
                </a:solidFill>
              </a:rPr>
              <a:t>Landing</a:t>
            </a:r>
            <a:endParaRPr sz="1000" i="1">
              <a:solidFill>
                <a:schemeClr val="accent1"/>
              </a:solidFill>
            </a:endParaRPr>
          </a:p>
        </p:txBody>
      </p:sp>
      <p:sp>
        <p:nvSpPr>
          <p:cNvPr id="3623" name="Google Shape;3623;p479"/>
          <p:cNvSpPr/>
          <p:nvPr/>
        </p:nvSpPr>
        <p:spPr>
          <a:xfrm>
            <a:off x="5347838" y="1725975"/>
            <a:ext cx="1137000" cy="741900"/>
          </a:xfrm>
          <a:prstGeom prst="rect">
            <a:avLst/>
          </a:prstGeom>
          <a:solidFill>
            <a:srgbClr val="FFFFFF"/>
          </a:solidFill>
          <a:ln w="9525" cap="flat" cmpd="sng">
            <a:solidFill>
              <a:schemeClr val="accent1"/>
            </a:solidFill>
            <a:prstDash val="solid"/>
            <a:round/>
            <a:headEnd type="none" w="sm" len="sm"/>
            <a:tailEnd type="none" w="sm" len="sm"/>
          </a:ln>
        </p:spPr>
        <p:txBody>
          <a:bodyPr spcFirstLastPara="1" wrap="square" lIns="0" tIns="45700" rIns="0" bIns="0" anchor="t" anchorCtr="0">
            <a:noAutofit/>
          </a:bodyPr>
          <a:lstStyle/>
          <a:p>
            <a:pPr algn="ctr"/>
            <a:r>
              <a:rPr lang="en">
                <a:solidFill>
                  <a:schemeClr val="accent1"/>
                </a:solidFill>
                <a:latin typeface="DM Sans Medium"/>
                <a:ea typeface="DM Sans Medium"/>
                <a:cs typeface="DM Sans Medium"/>
                <a:sym typeface="DM Sans Medium"/>
              </a:rPr>
              <a:t>Staging</a:t>
            </a:r>
            <a:br>
              <a:rPr lang="en">
                <a:solidFill>
                  <a:schemeClr val="accent1"/>
                </a:solidFill>
                <a:latin typeface="DM Sans Medium"/>
                <a:ea typeface="DM Sans Medium"/>
                <a:cs typeface="DM Sans Medium"/>
                <a:sym typeface="DM Sans Medium"/>
              </a:rPr>
            </a:br>
            <a:endParaRPr>
              <a:solidFill>
                <a:schemeClr val="accent1"/>
              </a:solidFill>
              <a:latin typeface="DM Sans Medium"/>
              <a:ea typeface="DM Sans Medium"/>
              <a:cs typeface="DM Sans Medium"/>
              <a:sym typeface="DM Sans Medium"/>
            </a:endParaRPr>
          </a:p>
        </p:txBody>
      </p:sp>
      <p:sp>
        <p:nvSpPr>
          <p:cNvPr id="3624" name="Google Shape;3624;p479"/>
          <p:cNvSpPr/>
          <p:nvPr/>
        </p:nvSpPr>
        <p:spPr>
          <a:xfrm>
            <a:off x="5603000" y="2048036"/>
            <a:ext cx="626700" cy="342900"/>
          </a:xfrm>
          <a:prstGeom prst="roundRect">
            <a:avLst>
              <a:gd name="adj" fmla="val 16667"/>
            </a:avLst>
          </a:prstGeom>
          <a:solidFill>
            <a:srgbClr val="FFFFFF"/>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algn="ctr"/>
            <a:r>
              <a:rPr lang="en" sz="1000">
                <a:solidFill>
                  <a:schemeClr val="accent1"/>
                </a:solidFill>
                <a:latin typeface="DM Sans"/>
                <a:ea typeface="DM Sans"/>
                <a:cs typeface="DM Sans"/>
                <a:sym typeface="DM Sans"/>
              </a:rPr>
              <a:t>raw data</a:t>
            </a:r>
            <a:br>
              <a:rPr lang="en" sz="1000">
                <a:solidFill>
                  <a:schemeClr val="accent1"/>
                </a:solidFill>
                <a:latin typeface="DM Sans"/>
                <a:ea typeface="DM Sans"/>
                <a:cs typeface="DM Sans"/>
                <a:sym typeface="DM Sans"/>
              </a:rPr>
            </a:br>
            <a:r>
              <a:rPr lang="en" sz="1000">
                <a:solidFill>
                  <a:schemeClr val="accent1"/>
                </a:solidFill>
                <a:latin typeface="DM Sans"/>
                <a:ea typeface="DM Sans"/>
                <a:cs typeface="DM Sans"/>
                <a:sym typeface="DM Sans"/>
              </a:rPr>
              <a:t>(temp.)</a:t>
            </a:r>
            <a:endParaRPr sz="1000">
              <a:solidFill>
                <a:schemeClr val="accent1"/>
              </a:solidFill>
              <a:latin typeface="DM Sans"/>
              <a:ea typeface="DM Sans"/>
              <a:cs typeface="DM Sans"/>
              <a:sym typeface="DM Sans"/>
            </a:endParaRPr>
          </a:p>
        </p:txBody>
      </p:sp>
      <p:sp>
        <p:nvSpPr>
          <p:cNvPr id="3625" name="Google Shape;3625;p479"/>
          <p:cNvSpPr/>
          <p:nvPr/>
        </p:nvSpPr>
        <p:spPr>
          <a:xfrm rot="5400000">
            <a:off x="5792131" y="2691838"/>
            <a:ext cx="198300" cy="247800"/>
          </a:xfrm>
          <a:prstGeom prst="rightArrow">
            <a:avLst>
              <a:gd name="adj1" fmla="val 50000"/>
              <a:gd name="adj2" fmla="val 50000"/>
            </a:avLst>
          </a:prstGeom>
          <a:solidFill>
            <a:schemeClr val="accent5"/>
          </a:solidFill>
          <a:ln>
            <a:noFill/>
          </a:ln>
        </p:spPr>
        <p:txBody>
          <a:bodyPr spcFirstLastPara="1" wrap="square" lIns="91425" tIns="91425" rIns="91425" bIns="91425" anchor="ctr" anchorCtr="0">
            <a:noAutofit/>
          </a:bodyPr>
          <a:lstStyle/>
          <a:p>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629"/>
        <p:cNvGrpSpPr/>
        <p:nvPr/>
      </p:nvGrpSpPr>
      <p:grpSpPr>
        <a:xfrm>
          <a:off x="0" y="0"/>
          <a:ext cx="0" cy="0"/>
          <a:chOff x="0" y="0"/>
          <a:chExt cx="0" cy="0"/>
        </a:xfrm>
      </p:grpSpPr>
      <p:sp>
        <p:nvSpPr>
          <p:cNvPr id="3630" name="Google Shape;3630;p480"/>
          <p:cNvSpPr txBox="1">
            <a:spLocks noGrp="1"/>
          </p:cNvSpPr>
          <p:nvPr>
            <p:ph type="sldNum" idx="12"/>
          </p:nvPr>
        </p:nvSpPr>
        <p:spPr>
          <a:xfrm>
            <a:off x="11099257" y="6473300"/>
            <a:ext cx="324300" cy="186600"/>
          </a:xfrm>
          <a:prstGeom prst="rect">
            <a:avLst/>
          </a:prstGeom>
        </p:spPr>
        <p:txBody>
          <a:bodyPr spcFirstLastPara="1" vert="horz" wrap="square" lIns="0" tIns="0" rIns="0" bIns="0" rtlCol="0" anchor="t" anchorCtr="0">
            <a:noAutofit/>
          </a:bodyPr>
          <a:lstStyle/>
          <a:p>
            <a:fld id="{00000000-1234-1234-1234-123412341234}" type="slidenum">
              <a:rPr lang="en"/>
              <a:pPr/>
              <a:t>22</a:t>
            </a:fld>
            <a:endParaRPr/>
          </a:p>
        </p:txBody>
      </p:sp>
      <p:sp>
        <p:nvSpPr>
          <p:cNvPr id="3631" name="Google Shape;3631;p480"/>
          <p:cNvSpPr txBox="1">
            <a:spLocks noGrp="1"/>
          </p:cNvSpPr>
          <p:nvPr>
            <p:ph type="title"/>
          </p:nvPr>
        </p:nvSpPr>
        <p:spPr>
          <a:xfrm>
            <a:off x="750833" y="535597"/>
            <a:ext cx="10659300" cy="583500"/>
          </a:xfrm>
          <a:prstGeom prst="rect">
            <a:avLst/>
          </a:prstGeom>
        </p:spPr>
        <p:txBody>
          <a:bodyPr spcFirstLastPara="1" vert="horz" wrap="square" lIns="0" tIns="0" rIns="0" bIns="0" rtlCol="0" anchor="ctr" anchorCtr="0">
            <a:noAutofit/>
          </a:bodyPr>
          <a:lstStyle/>
          <a:p>
            <a:r>
              <a:rPr lang="en"/>
              <a:t>A Well Architected Lakehouse</a:t>
            </a:r>
            <a:endParaRPr/>
          </a:p>
        </p:txBody>
      </p:sp>
      <p:sp>
        <p:nvSpPr>
          <p:cNvPr id="3632" name="Google Shape;3632;p480"/>
          <p:cNvSpPr txBox="1"/>
          <p:nvPr/>
        </p:nvSpPr>
        <p:spPr>
          <a:xfrm>
            <a:off x="11649088" y="0"/>
            <a:ext cx="541500" cy="215400"/>
          </a:xfrm>
          <a:prstGeom prst="rect">
            <a:avLst/>
          </a:prstGeom>
          <a:noFill/>
          <a:ln>
            <a:noFill/>
          </a:ln>
        </p:spPr>
        <p:txBody>
          <a:bodyPr spcFirstLastPara="1" wrap="square" lIns="45700" tIns="45700" rIns="45700" bIns="45700" anchor="t" anchorCtr="0">
            <a:spAutoFit/>
          </a:bodyPr>
          <a:lstStyle/>
          <a:p>
            <a:r>
              <a:rPr lang="en" sz="800" i="1">
                <a:latin typeface="DM Sans"/>
                <a:ea typeface="DM Sans"/>
                <a:cs typeface="DM Sans"/>
                <a:sym typeface="DM Sans"/>
              </a:rPr>
              <a:t>animated</a:t>
            </a:r>
            <a:endParaRPr sz="800" i="1">
              <a:latin typeface="DM Sans"/>
              <a:ea typeface="DM Sans"/>
              <a:cs typeface="DM Sans"/>
              <a:sym typeface="DM Sans"/>
            </a:endParaRPr>
          </a:p>
        </p:txBody>
      </p:sp>
      <p:sp>
        <p:nvSpPr>
          <p:cNvPr id="3633" name="Google Shape;3633;p480"/>
          <p:cNvSpPr txBox="1"/>
          <p:nvPr/>
        </p:nvSpPr>
        <p:spPr>
          <a:xfrm>
            <a:off x="3967063" y="6502950"/>
            <a:ext cx="6312000" cy="553968"/>
          </a:xfrm>
          <a:prstGeom prst="rect">
            <a:avLst/>
          </a:prstGeom>
          <a:noFill/>
          <a:ln>
            <a:noFill/>
          </a:ln>
        </p:spPr>
        <p:txBody>
          <a:bodyPr spcFirstLastPara="1" wrap="square" lIns="91425" tIns="91425" rIns="91425" bIns="91425" anchor="t" anchorCtr="0">
            <a:spAutoFit/>
          </a:bodyPr>
          <a:lstStyle/>
          <a:p>
            <a:r>
              <a:rPr lang="en" sz="1200" i="1">
                <a:solidFill>
                  <a:schemeClr val="accent1"/>
                </a:solidFill>
                <a:latin typeface="DM Sans Medium"/>
                <a:ea typeface="DM Sans Medium"/>
                <a:cs typeface="DM Sans Medium"/>
                <a:sym typeface="DM Sans Medium"/>
              </a:rPr>
              <a:t>* </a:t>
            </a:r>
            <a:r>
              <a:rPr lang="en" sz="1200">
                <a:solidFill>
                  <a:schemeClr val="accent1"/>
                </a:solidFill>
                <a:latin typeface="DM Sans"/>
                <a:ea typeface="DM Sans"/>
                <a:cs typeface="DM Sans"/>
                <a:sym typeface="DM Sans"/>
              </a:rPr>
              <a:t>Batch process with CDF, DLT, …		** currently lineage is restricted per workspace</a:t>
            </a:r>
            <a:endParaRPr sz="1200">
              <a:solidFill>
                <a:schemeClr val="accent1"/>
              </a:solidFill>
              <a:latin typeface="DM Sans"/>
              <a:ea typeface="DM Sans"/>
              <a:cs typeface="DM Sans"/>
              <a:sym typeface="DM Sans"/>
            </a:endParaRPr>
          </a:p>
        </p:txBody>
      </p:sp>
      <p:sp>
        <p:nvSpPr>
          <p:cNvPr id="3634" name="Google Shape;3634;p480"/>
          <p:cNvSpPr txBox="1">
            <a:spLocks noGrp="1"/>
          </p:cNvSpPr>
          <p:nvPr>
            <p:ph type="subTitle" idx="1"/>
          </p:nvPr>
        </p:nvSpPr>
        <p:spPr>
          <a:xfrm>
            <a:off x="766397" y="1174702"/>
            <a:ext cx="10659300" cy="583500"/>
          </a:xfrm>
          <a:prstGeom prst="rect">
            <a:avLst/>
          </a:prstGeom>
        </p:spPr>
        <p:txBody>
          <a:bodyPr spcFirstLastPara="1" vert="horz" wrap="square" lIns="0" tIns="0" rIns="0" bIns="0" rtlCol="0" anchor="t" anchorCtr="0">
            <a:noAutofit/>
          </a:bodyPr>
          <a:lstStyle/>
          <a:p>
            <a:pPr marL="0" indent="0"/>
            <a:r>
              <a:rPr lang="en"/>
              <a:t>The Data Mesh</a:t>
            </a:r>
            <a:endParaRPr/>
          </a:p>
        </p:txBody>
      </p:sp>
      <p:sp>
        <p:nvSpPr>
          <p:cNvPr id="3635" name="Google Shape;3635;p480"/>
          <p:cNvSpPr txBox="1">
            <a:spLocks noGrp="1"/>
          </p:cNvSpPr>
          <p:nvPr>
            <p:ph type="body" idx="2"/>
          </p:nvPr>
        </p:nvSpPr>
        <p:spPr>
          <a:xfrm>
            <a:off x="763394" y="1988825"/>
            <a:ext cx="3963600" cy="4149900"/>
          </a:xfrm>
          <a:prstGeom prst="rect">
            <a:avLst/>
          </a:prstGeom>
        </p:spPr>
        <p:txBody>
          <a:bodyPr spcFirstLastPara="1" vert="horz" wrap="square" lIns="0" tIns="0" rIns="0" bIns="0" rtlCol="0" anchor="t" anchorCtr="0">
            <a:noAutofit/>
          </a:bodyPr>
          <a:lstStyle/>
          <a:p>
            <a:pPr indent="-314325">
              <a:spcBef>
                <a:spcPts val="400"/>
              </a:spcBef>
              <a:buClr>
                <a:schemeClr val="dk1"/>
              </a:buClr>
              <a:buSzPts val="1350"/>
              <a:buFont typeface="DM Sans"/>
              <a:buAutoNum type="arabicPeriod"/>
            </a:pPr>
            <a:r>
              <a:rPr lang="en" sz="1350" b="1"/>
              <a:t>Data Domain ownership: </a:t>
            </a:r>
            <a:r>
              <a:rPr lang="en" sz="1350"/>
              <a:t>The lakehouse provides an open, flexible architecture that allows for distributed ownership of data assets for each domain </a:t>
            </a:r>
            <a:endParaRPr sz="1350"/>
          </a:p>
          <a:p>
            <a:pPr indent="-314325">
              <a:spcBef>
                <a:spcPts val="0"/>
              </a:spcBef>
              <a:buClr>
                <a:schemeClr val="dk1"/>
              </a:buClr>
              <a:buSzPts val="1350"/>
              <a:buFont typeface="DM Sans"/>
              <a:buAutoNum type="arabicPeriod"/>
            </a:pPr>
            <a:r>
              <a:rPr lang="en" sz="1350" b="1"/>
              <a:t>Data as a product:</a:t>
            </a:r>
            <a:r>
              <a:rPr lang="en" sz="1350"/>
              <a:t> Delta provides an open and standard format for </a:t>
            </a:r>
            <a:r>
              <a:rPr lang="en" sz="1350" u="sng">
                <a:solidFill>
                  <a:schemeClr val="hlink"/>
                </a:solidFill>
                <a:hlinkClick r:id="rId3"/>
              </a:rPr>
              <a:t>FAIR data</a:t>
            </a:r>
            <a:r>
              <a:rPr lang="en" sz="1350"/>
              <a:t>, and Delta Live Tables allow for high quality, reliable data pipelines </a:t>
            </a:r>
            <a:endParaRPr sz="1350"/>
          </a:p>
          <a:p>
            <a:pPr indent="-314325">
              <a:spcBef>
                <a:spcPts val="0"/>
              </a:spcBef>
              <a:buClr>
                <a:schemeClr val="dk1"/>
              </a:buClr>
              <a:buSzPts val="1350"/>
              <a:buFont typeface="DM Sans"/>
              <a:buAutoNum type="arabicPeriod"/>
            </a:pPr>
            <a:r>
              <a:rPr lang="en" sz="1350" b="1"/>
              <a:t>Self-service infrastructure platform:</a:t>
            </a:r>
            <a:r>
              <a:rPr lang="en" sz="1350"/>
              <a:t> Databricks is a unified platform that can automate data processes through the use of Workflows, Terraform, and other tools</a:t>
            </a:r>
            <a:endParaRPr sz="1350"/>
          </a:p>
          <a:p>
            <a:pPr indent="-314325">
              <a:spcBef>
                <a:spcPts val="0"/>
              </a:spcBef>
              <a:buClr>
                <a:schemeClr val="dk1"/>
              </a:buClr>
              <a:buSzPts val="1350"/>
              <a:buFont typeface="DM Sans"/>
              <a:buAutoNum type="arabicPeriod"/>
            </a:pPr>
            <a:r>
              <a:rPr lang="en" sz="1350" b="1"/>
              <a:t>Federated governance: </a:t>
            </a:r>
            <a:r>
              <a:rPr lang="en" sz="1350"/>
              <a:t>Unity Catalog ensures global data discovery, access, and lineage</a:t>
            </a:r>
            <a:endParaRPr/>
          </a:p>
        </p:txBody>
      </p:sp>
      <p:pic>
        <p:nvPicPr>
          <p:cNvPr id="3636" name="Google Shape;3636;p480"/>
          <p:cNvPicPr preferRelativeResize="0"/>
          <p:nvPr/>
        </p:nvPicPr>
        <p:blipFill>
          <a:blip r:embed="rId4">
            <a:alphaModFix/>
          </a:blip>
          <a:stretch>
            <a:fillRect/>
          </a:stretch>
        </p:blipFill>
        <p:spPr>
          <a:xfrm>
            <a:off x="4879394" y="1988828"/>
            <a:ext cx="7158744" cy="324529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633"/>
                                        </p:tgtEl>
                                        <p:attrNameLst>
                                          <p:attrName>style.visibility</p:attrName>
                                        </p:attrNameLst>
                                      </p:cBhvr>
                                      <p:to>
                                        <p:strVal val="visible"/>
                                      </p:to>
                                    </p:set>
                                    <p:animEffect transition="in" filter="fade">
                                      <p:cBhvr>
                                        <p:cTn id="7" dur="1000"/>
                                        <p:tgtEl>
                                          <p:spTgt spid="36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2261</Words>
  <Application>Microsoft Macintosh PowerPoint</Application>
  <PresentationFormat>Widescreen</PresentationFormat>
  <Paragraphs>443</Paragraphs>
  <Slides>22</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Arial</vt:lpstr>
      <vt:lpstr>Calibri</vt:lpstr>
      <vt:lpstr>Calibri Light</vt:lpstr>
      <vt:lpstr>DM Mono Medium</vt:lpstr>
      <vt:lpstr>DM Sans</vt:lpstr>
      <vt:lpstr>DM Sans Medium</vt:lpstr>
      <vt:lpstr>Inter</vt:lpstr>
      <vt:lpstr>Noto Sans Symbols</vt:lpstr>
      <vt:lpstr>Office Theme</vt:lpstr>
      <vt:lpstr>Migration Assessment &amp; Strategy Workshop </vt:lpstr>
      <vt:lpstr>Tech leaders are to the right of the Data Maturity Curve</vt:lpstr>
      <vt:lpstr>Why not use a cloud data warehouse?</vt:lpstr>
      <vt:lpstr>Why not use a cloud data warehouse?</vt:lpstr>
      <vt:lpstr>Why not use a cloud data warehouse?</vt:lpstr>
      <vt:lpstr>Why not use a cloud data warehouse?</vt:lpstr>
      <vt:lpstr>The Databricks Lakehouse Platform</vt:lpstr>
      <vt:lpstr>Simple Migration Process</vt:lpstr>
      <vt:lpstr>Migration Methodology</vt:lpstr>
      <vt:lpstr>Discovery &amp; Assessment</vt:lpstr>
      <vt:lpstr>Architectural Discovery - Snowflake</vt:lpstr>
      <vt:lpstr>Pointers for discovery of the current Snowflake architecture</vt:lpstr>
      <vt:lpstr>The Snowflake Profiler is an important step</vt:lpstr>
      <vt:lpstr>Align on Target Architecture Designing a Well Architected Lakehouse</vt:lpstr>
      <vt:lpstr>Guiding Principles for the Lakehouse</vt:lpstr>
      <vt:lpstr>Cloud Data Analytics Framework</vt:lpstr>
      <vt:lpstr>Cloud Data Analytics Framework</vt:lpstr>
      <vt:lpstr>Databricks Lakehouse Reference Architecture</vt:lpstr>
      <vt:lpstr>Different Data Models on the Lakehouse</vt:lpstr>
      <vt:lpstr>A Well Architected Lakehouse</vt:lpstr>
      <vt:lpstr>A Well Architected Lakehouse</vt:lpstr>
      <vt:lpstr>A Well Architected Lakehouse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Migration Assessment &amp; Strategy Workshop </dc:title>
  <dc:creator>Bobby Alvarez</dc:creator>
  <cp:lastModifiedBy>Bobby Alvarez</cp:lastModifiedBy>
  <cp:revision>1</cp:revision>
  <dcterms:created xsi:type="dcterms:W3CDTF">2023-05-05T22:20:40Z</dcterms:created>
  <dcterms:modified xsi:type="dcterms:W3CDTF">2023-05-05T22:26:53Z</dcterms:modified>
</cp:coreProperties>
</file>