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XszZOfYDvnEWQLhqZkZqNZ+Nu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4"/>
  </p:normalViewPr>
  <p:slideViewPr>
    <p:cSldViewPr snapToGrid="0">
      <p:cViewPr varScale="1">
        <p:scale>
          <a:sx n="120" d="100"/>
          <a:sy n="12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09b21ed24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09b21ed24f_0_3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text">
  <p:cSld name="2_Custom Layout 1 1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409b21ed24f_0_257"/>
          <p:cNvSpPr txBox="1">
            <a:spLocks noGrp="1"/>
          </p:cNvSpPr>
          <p:nvPr>
            <p:ph type="body" idx="1"/>
          </p:nvPr>
        </p:nvSpPr>
        <p:spPr>
          <a:xfrm>
            <a:off x="515933" y="1411833"/>
            <a:ext cx="11159700" cy="48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900"/>
            </a:lvl2pPr>
            <a:lvl3pPr marL="1371600" lvl="2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Char char="▪"/>
              <a:defRPr sz="1900"/>
            </a:lvl3pPr>
            <a:lvl4pPr marL="1828800" lvl="3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▪"/>
              <a:defRPr sz="1900"/>
            </a:lvl4pPr>
            <a:lvl5pPr marL="2286000" lvl="4" indent="-2984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Char char="▪"/>
              <a:defRPr sz="1900"/>
            </a:lvl5pPr>
            <a:lvl6pPr marL="2743200" lvl="5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None/>
              <a:defRPr sz="1900"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13" name="Google Shape;13;g409b21ed24f_0_257"/>
          <p:cNvSpPr txBox="1">
            <a:spLocks noGrp="1"/>
          </p:cNvSpPr>
          <p:nvPr>
            <p:ph type="title"/>
          </p:nvPr>
        </p:nvSpPr>
        <p:spPr>
          <a:xfrm>
            <a:off x="514000" y="440159"/>
            <a:ext cx="8771100" cy="7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190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190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190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190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190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190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190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190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190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5303520" y="0"/>
            <a:ext cx="6885432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65750" y="1920250"/>
            <a:ext cx="4765500" cy="25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Data AI </a:t>
            </a:r>
            <a:endParaRPr sz="3000" b="1" i="0" u="none" strike="noStrike" cap="none">
              <a:solidFill>
                <a:srgbClr val="FF69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FF6900"/>
                </a:solidFill>
              </a:rPr>
              <a:t>Development Life Cycle</a:t>
            </a:r>
            <a:r>
              <a:rPr lang="en-US" sz="30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A Working Demo,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Not a Slide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1417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INTRO / PURPOSE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69280" y="82296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We Built It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669280" y="1645920"/>
            <a:ext cx="109728" cy="109728"/>
          </a:xfrm>
          <a:prstGeom prst="ellipse">
            <a:avLst/>
          </a:prstGeom>
          <a:solidFill>
            <a:srgbClr val="FF6900"/>
          </a:solidFill>
          <a:ln w="12700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870448" y="1508760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built a small, real, end-to-end </a:t>
            </a:r>
            <a:r>
              <a:rPr lang="en-US" sz="1300">
                <a:solidFill>
                  <a:srgbClr val="FFFFFF"/>
                </a:solidFill>
              </a:rPr>
              <a:t>prototype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to show — not just describe — how an AI-assisted delivery loop works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669280" y="2697480"/>
            <a:ext cx="109728" cy="109728"/>
          </a:xfrm>
          <a:prstGeom prst="ellipse">
            <a:avLst/>
          </a:prstGeom>
          <a:solidFill>
            <a:srgbClr val="FF6900"/>
          </a:solidFill>
          <a:ln w="12700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870448" y="2560320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loop: </a:t>
            </a:r>
            <a:r>
              <a:rPr lang="en-US" sz="1300">
                <a:solidFill>
                  <a:srgbClr val="FFFFFF"/>
                </a:solidFill>
              </a:rPr>
              <a:t>Jira Ticket → Technical Design Document → Implementation &amp; Tests → PR → Jira Update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669280" y="3749040"/>
            <a:ext cx="109728" cy="109728"/>
          </a:xfrm>
          <a:prstGeom prst="ellipse">
            <a:avLst/>
          </a:prstGeom>
          <a:solidFill>
            <a:srgbClr val="FF6900"/>
          </a:solidFill>
          <a:ln w="12700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870448" y="3611880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Goal: demonstrate how AI can enforce "define before build" discipline, with a s</a:t>
            </a:r>
            <a:r>
              <a:rPr lang="en-US" sz="1300">
                <a:solidFill>
                  <a:srgbClr val="FFFFFF"/>
                </a:solidFill>
              </a:rPr>
              <a:t>afe human-in-the-loop process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at AI speed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669280" y="4800600"/>
            <a:ext cx="109728" cy="109728"/>
          </a:xfrm>
          <a:prstGeom prst="ellipse">
            <a:avLst/>
          </a:prstGeom>
          <a:solidFill>
            <a:srgbClr val="FF6900"/>
          </a:solidFill>
          <a:ln w="12700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870448" y="4663440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FFFFF"/>
                </a:solidFill>
              </a:rPr>
              <a:t>Designed specifically around Basware's contex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669280" y="6263640"/>
            <a:ext cx="457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0789920" y="10972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N-i</a:t>
            </a:r>
            <a:r>
              <a:rPr lang="en-US" sz="1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74320" y="3200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SETTING THE STAGE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64008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What This Is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(and Isn’t)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2286000"/>
            <a:ext cx="29260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This is a working proof of concept — not a production-hardened platform. Built fast, on purpose, as a working illustration of the loop.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74320" y="4206240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No Basware systems or data are used — everything runs on N-iX-owned accounts with synthetic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840480" y="365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What’s Included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840480" y="841248"/>
            <a:ext cx="4114800" cy="365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840480" y="1078992"/>
            <a:ext cx="146304" cy="146304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114800" y="1024128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Runs entirely on N-iX-owned accounts and synthetic 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840480" y="1553625"/>
            <a:ext cx="146400" cy="146400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114800" y="1461757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Toy domain (invoice / AP automation) chosen because it mirrors your world — not because it is your world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840480" y="411825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Out of Scope for This Demo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840480" y="4593742"/>
            <a:ext cx="4114800" cy="36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840480" y="4831486"/>
            <a:ext cx="146400" cy="1464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114800" y="4776622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CI/CD automation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840480" y="5330362"/>
            <a:ext cx="146400" cy="1464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114800" y="5275498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Multi-domain canonical model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840480" y="5862415"/>
            <a:ext cx="146400" cy="1464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114800" y="5807551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Real Basware business logic and integratio</a:t>
            </a:r>
            <a:r>
              <a:rPr lang="en-US" sz="1300">
                <a:solidFill>
                  <a:srgbClr val="54565A"/>
                </a:solidFill>
              </a:rPr>
              <a:t>n patterns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840480" y="6377879"/>
            <a:ext cx="146400" cy="1464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114800" y="6323015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Production security / governance review</a:t>
            </a:r>
            <a:r>
              <a:rPr lang="en-US" sz="1300">
                <a:solidFill>
                  <a:srgbClr val="54565A"/>
                </a:solidFill>
              </a:rPr>
              <a:t> / data quality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789920" y="10972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N-i</a:t>
            </a:r>
            <a:r>
              <a:rPr lang="en-US" sz="1800" b="1" i="1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840418" y="2161958"/>
            <a:ext cx="146400" cy="146400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114725" y="2079318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4565A"/>
                </a:solidFill>
              </a:rPr>
              <a:t>Innovations of N-iX AI on a solid ground of Anthropic, Databricks, AWS AI Labs for </a:t>
            </a:r>
            <a:r>
              <a:rPr lang="en-US" sz="1300" b="1">
                <a:solidFill>
                  <a:srgbClr val="54565A"/>
                </a:solidFill>
              </a:rPr>
              <a:t>ClaudeCode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840466" y="2578157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3D3D3D"/>
                </a:solidFill>
              </a:rPr>
              <a:t>Perspectives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844866" y="3078184"/>
            <a:ext cx="4114800" cy="36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3844866" y="3328263"/>
            <a:ext cx="146400" cy="146400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114736" y="3264567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4565A"/>
                </a:solidFill>
              </a:rPr>
              <a:t>Custom AI agent framework tailored to this workflow, enforced by strict, deterministic guardrails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842641" y="3719138"/>
            <a:ext cx="146400" cy="146400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114725" y="3625650"/>
            <a:ext cx="783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4565A"/>
                </a:solidFill>
              </a:rPr>
              <a:t>Further optimize token usage querying other models (OpenAI, open-source, Databricks agents)</a:t>
            </a:r>
            <a:endParaRPr sz="1300">
              <a:solidFill>
                <a:srgbClr val="54565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09b21ed24f_0_38"/>
          <p:cNvSpPr/>
          <p:nvPr/>
        </p:nvSpPr>
        <p:spPr>
          <a:xfrm>
            <a:off x="2954000" y="5195877"/>
            <a:ext cx="6434100" cy="1293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CE5CD"/>
              </a:solidFill>
              <a:highlight>
                <a:srgbClr val="F9CB9C"/>
              </a:highlight>
            </a:endParaRPr>
          </a:p>
        </p:txBody>
      </p:sp>
      <p:sp>
        <p:nvSpPr>
          <p:cNvPr id="73" name="Google Shape;73;g409b21ed24f_0_38"/>
          <p:cNvSpPr txBox="1">
            <a:spLocks noGrp="1"/>
          </p:cNvSpPr>
          <p:nvPr>
            <p:ph type="title"/>
          </p:nvPr>
        </p:nvSpPr>
        <p:spPr>
          <a:xfrm>
            <a:off x="328325" y="264278"/>
            <a:ext cx="43845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3D3D3D"/>
                </a:solidFill>
              </a:rPr>
              <a:t>AI-Assisted Development Life Cycle</a:t>
            </a:r>
            <a:endParaRPr sz="1800" b="1" dirty="0">
              <a:solidFill>
                <a:srgbClr val="3D3D3D"/>
              </a:solidFill>
            </a:endParaRPr>
          </a:p>
        </p:txBody>
      </p:sp>
      <p:sp>
        <p:nvSpPr>
          <p:cNvPr id="74" name="Google Shape;74;g409b21ed24f_0_38"/>
          <p:cNvSpPr/>
          <p:nvPr/>
        </p:nvSpPr>
        <p:spPr>
          <a:xfrm>
            <a:off x="10791845" y="110363"/>
            <a:ext cx="1005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N-i</a:t>
            </a:r>
            <a:r>
              <a:rPr lang="en-US" sz="1800" b="1" i="1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409b21ed24f_0_38"/>
          <p:cNvSpPr/>
          <p:nvPr/>
        </p:nvSpPr>
        <p:spPr>
          <a:xfrm>
            <a:off x="4464825" y="3246727"/>
            <a:ext cx="1339200" cy="1127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SDR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/>
              <a:t>Software Decision Record</a:t>
            </a:r>
            <a:endParaRPr sz="1100" i="1" dirty="0"/>
          </a:p>
        </p:txBody>
      </p:sp>
      <p:sp>
        <p:nvSpPr>
          <p:cNvPr id="76" name="Google Shape;76;g409b21ed24f_0_38"/>
          <p:cNvSpPr/>
          <p:nvPr/>
        </p:nvSpPr>
        <p:spPr>
          <a:xfrm>
            <a:off x="6169925" y="2001227"/>
            <a:ext cx="1567800" cy="10734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Implementation</a:t>
            </a:r>
            <a:endParaRPr/>
          </a:p>
        </p:txBody>
      </p:sp>
      <p:sp>
        <p:nvSpPr>
          <p:cNvPr id="77" name="Google Shape;77;g409b21ed24f_0_38"/>
          <p:cNvSpPr/>
          <p:nvPr/>
        </p:nvSpPr>
        <p:spPr>
          <a:xfrm>
            <a:off x="6196387" y="3277027"/>
            <a:ext cx="1567800" cy="106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 Tests, </a:t>
            </a:r>
            <a:br>
              <a:rPr lang="en-US"/>
            </a:br>
            <a:r>
              <a:rPr lang="en-US"/>
              <a:t>e2e Tests,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DQ Rules</a:t>
            </a:r>
            <a:endParaRPr/>
          </a:p>
        </p:txBody>
      </p:sp>
      <p:sp>
        <p:nvSpPr>
          <p:cNvPr id="78" name="Google Shape;78;g409b21ed24f_0_38"/>
          <p:cNvSpPr/>
          <p:nvPr/>
        </p:nvSpPr>
        <p:spPr>
          <a:xfrm>
            <a:off x="8048938" y="2001227"/>
            <a:ext cx="1339200" cy="106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</a:t>
            </a:r>
            <a:endParaRPr/>
          </a:p>
        </p:txBody>
      </p:sp>
      <p:sp>
        <p:nvSpPr>
          <p:cNvPr id="79" name="Google Shape;79;g409b21ed24f_0_38"/>
          <p:cNvSpPr/>
          <p:nvPr/>
        </p:nvSpPr>
        <p:spPr>
          <a:xfrm>
            <a:off x="2930975" y="3260152"/>
            <a:ext cx="1141500" cy="1127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Jira Stories</a:t>
            </a:r>
            <a:endParaRPr/>
          </a:p>
        </p:txBody>
      </p:sp>
      <p:sp>
        <p:nvSpPr>
          <p:cNvPr id="80" name="Google Shape;80;g409b21ed24f_0_38"/>
          <p:cNvSpPr/>
          <p:nvPr/>
        </p:nvSpPr>
        <p:spPr>
          <a:xfrm>
            <a:off x="4464826" y="1974377"/>
            <a:ext cx="1339200" cy="1127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ADR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/>
              <a:t>Architecture Decision Record</a:t>
            </a:r>
            <a:endParaRPr sz="1100" i="1" dirty="0"/>
          </a:p>
        </p:txBody>
      </p:sp>
      <p:sp>
        <p:nvSpPr>
          <p:cNvPr id="81" name="Google Shape;81;g409b21ed24f_0_38"/>
          <p:cNvSpPr/>
          <p:nvPr/>
        </p:nvSpPr>
        <p:spPr>
          <a:xfrm>
            <a:off x="2916925" y="2001227"/>
            <a:ext cx="1141500" cy="1127100"/>
          </a:xfrm>
          <a:prstGeom prst="flowChartAlternateProcess">
            <a:avLst/>
          </a:prstGeom>
          <a:solidFill>
            <a:schemeClr val="tx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Business/Data Analysis</a:t>
            </a:r>
            <a:endParaRPr dirty="0"/>
          </a:p>
        </p:txBody>
      </p:sp>
      <p:sp>
        <p:nvSpPr>
          <p:cNvPr id="82" name="Google Shape;82;g409b21ed24f_0_38"/>
          <p:cNvSpPr/>
          <p:nvPr/>
        </p:nvSpPr>
        <p:spPr>
          <a:xfrm>
            <a:off x="8048938" y="3256989"/>
            <a:ext cx="1339200" cy="106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Jira Status</a:t>
            </a:r>
            <a:endParaRPr/>
          </a:p>
        </p:txBody>
      </p:sp>
      <p:sp>
        <p:nvSpPr>
          <p:cNvPr id="83" name="Google Shape;83;g409b21ed24f_0_38"/>
          <p:cNvSpPr/>
          <p:nvPr/>
        </p:nvSpPr>
        <p:spPr>
          <a:xfrm>
            <a:off x="3706935" y="2940823"/>
            <a:ext cx="1005900" cy="48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review</a:t>
            </a:r>
            <a:endParaRPr dirty="0"/>
          </a:p>
        </p:txBody>
      </p:sp>
      <p:sp>
        <p:nvSpPr>
          <p:cNvPr id="86" name="Google Shape;86;g409b21ed24f_0_38"/>
          <p:cNvSpPr txBox="1"/>
          <p:nvPr/>
        </p:nvSpPr>
        <p:spPr>
          <a:xfrm>
            <a:off x="7284375" y="5195865"/>
            <a:ext cx="2229036" cy="129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data-architect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data-modeler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integration-test-engineer</a:t>
            </a:r>
            <a:endParaRPr sz="1200" b="1" dirty="0">
              <a:solidFill>
                <a:schemeClr val="accent2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pipeline-engineer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pr-reviewer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unit-test-engineer</a:t>
            </a:r>
            <a:endParaRPr sz="1200" b="1" dirty="0">
              <a:solidFill>
                <a:schemeClr val="accent2"/>
              </a:solidFill>
            </a:endParaRPr>
          </a:p>
        </p:txBody>
      </p:sp>
      <p:sp>
        <p:nvSpPr>
          <p:cNvPr id="87" name="Google Shape;87;g409b21ed24f_0_38"/>
          <p:cNvSpPr/>
          <p:nvPr/>
        </p:nvSpPr>
        <p:spPr>
          <a:xfrm>
            <a:off x="811500" y="1940302"/>
            <a:ext cx="1141500" cy="2399450"/>
          </a:xfrm>
          <a:prstGeom prst="flowChartProcess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JIRA</a:t>
            </a:r>
            <a:endParaRPr b="1"/>
          </a:p>
        </p:txBody>
      </p:sp>
      <p:sp>
        <p:nvSpPr>
          <p:cNvPr id="88" name="Google Shape;88;g409b21ed24f_0_38"/>
          <p:cNvSpPr/>
          <p:nvPr/>
        </p:nvSpPr>
        <p:spPr>
          <a:xfrm>
            <a:off x="10203275" y="2559725"/>
            <a:ext cx="1141500" cy="1832875"/>
          </a:xfrm>
          <a:prstGeom prst="flowChartProcess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Databricks</a:t>
            </a:r>
            <a:endParaRPr b="1"/>
          </a:p>
        </p:txBody>
      </p:sp>
      <p:sp>
        <p:nvSpPr>
          <p:cNvPr id="89" name="Google Shape;89;g409b21ed24f_0_38"/>
          <p:cNvSpPr/>
          <p:nvPr/>
        </p:nvSpPr>
        <p:spPr>
          <a:xfrm>
            <a:off x="2954000" y="4519077"/>
            <a:ext cx="6434150" cy="481200"/>
          </a:xfrm>
          <a:prstGeom prst="flowChartProcess">
            <a:avLst/>
          </a:prstGeom>
          <a:solidFill>
            <a:schemeClr val="accent1">
              <a:lumMod val="5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Git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90" name="Google Shape;90;g409b21ed24f_0_38"/>
          <p:cNvSpPr/>
          <p:nvPr/>
        </p:nvSpPr>
        <p:spPr>
          <a:xfrm>
            <a:off x="3636525" y="5511964"/>
            <a:ext cx="1339200" cy="825575"/>
          </a:xfrm>
          <a:prstGeom prst="flowChartProcess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Agentic</a:t>
            </a:r>
            <a:br>
              <a:rPr lang="en-US" b="1"/>
            </a:br>
            <a:r>
              <a:rPr lang="en-US" b="1"/>
              <a:t>Loop</a:t>
            </a:r>
            <a:endParaRPr b="1"/>
          </a:p>
        </p:txBody>
      </p:sp>
      <p:sp>
        <p:nvSpPr>
          <p:cNvPr id="91" name="Google Shape;91;g409b21ed24f_0_38"/>
          <p:cNvSpPr/>
          <p:nvPr/>
        </p:nvSpPr>
        <p:spPr>
          <a:xfrm>
            <a:off x="5079525" y="5511977"/>
            <a:ext cx="1339200" cy="825575"/>
          </a:xfrm>
          <a:prstGeom prst="flowChartProcess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AI </a:t>
            </a:r>
            <a:br>
              <a:rPr lang="en-US" b="1" dirty="0"/>
            </a:br>
            <a:r>
              <a:rPr lang="en-US" b="1" dirty="0"/>
              <a:t>Models</a:t>
            </a:r>
            <a:endParaRPr b="1" dirty="0"/>
          </a:p>
        </p:txBody>
      </p:sp>
      <p:sp>
        <p:nvSpPr>
          <p:cNvPr id="92" name="Google Shape;92;g409b21ed24f_0_38"/>
          <p:cNvSpPr txBox="1"/>
          <p:nvPr/>
        </p:nvSpPr>
        <p:spPr>
          <a:xfrm>
            <a:off x="3215825" y="684949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</a:t>
            </a:r>
            <a:endParaRPr/>
          </a:p>
        </p:txBody>
      </p:sp>
      <p:sp>
        <p:nvSpPr>
          <p:cNvPr id="93" name="Google Shape;93;g409b21ed24f_0_38"/>
          <p:cNvSpPr txBox="1"/>
          <p:nvPr/>
        </p:nvSpPr>
        <p:spPr>
          <a:xfrm>
            <a:off x="4464834" y="657340"/>
            <a:ext cx="133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Architect</a:t>
            </a:r>
            <a:endParaRPr/>
          </a:p>
        </p:txBody>
      </p:sp>
      <p:sp>
        <p:nvSpPr>
          <p:cNvPr id="94" name="Google Shape;94;g409b21ed24f_0_38"/>
          <p:cNvSpPr txBox="1"/>
          <p:nvPr/>
        </p:nvSpPr>
        <p:spPr>
          <a:xfrm>
            <a:off x="7594538" y="671151"/>
            <a:ext cx="172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Developer</a:t>
            </a:r>
            <a:endParaRPr/>
          </a:p>
        </p:txBody>
      </p:sp>
      <p:sp>
        <p:nvSpPr>
          <p:cNvPr id="95" name="Google Shape;95;g409b21ed24f_0_38"/>
          <p:cNvSpPr/>
          <p:nvPr/>
        </p:nvSpPr>
        <p:spPr>
          <a:xfrm>
            <a:off x="9121987" y="2932615"/>
            <a:ext cx="1005900" cy="48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CI/CD</a:t>
            </a:r>
            <a:endParaRPr dirty="0"/>
          </a:p>
        </p:txBody>
      </p:sp>
      <p:cxnSp>
        <p:nvCxnSpPr>
          <p:cNvPr id="96" name="Google Shape;96;g409b21ed24f_0_38"/>
          <p:cNvCxnSpPr>
            <a:stCxn id="72" idx="1"/>
            <a:endCxn id="87" idx="2"/>
          </p:cNvCxnSpPr>
          <p:nvPr/>
        </p:nvCxnSpPr>
        <p:spPr>
          <a:xfrm rot="10800000">
            <a:off x="1382300" y="4339677"/>
            <a:ext cx="1571700" cy="15027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97" name="Google Shape;97;g409b21ed24f_0_38"/>
          <p:cNvCxnSpPr>
            <a:stCxn id="72" idx="3"/>
            <a:endCxn id="88" idx="2"/>
          </p:cNvCxnSpPr>
          <p:nvPr/>
        </p:nvCxnSpPr>
        <p:spPr>
          <a:xfrm rot="10800000" flipH="1">
            <a:off x="9388100" y="4392477"/>
            <a:ext cx="1386000" cy="1449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98" name="Google Shape;98;g409b21ed24f_0_38"/>
          <p:cNvCxnSpPr>
            <a:stCxn id="72" idx="0"/>
            <a:endCxn id="89" idx="2"/>
          </p:cNvCxnSpPr>
          <p:nvPr/>
        </p:nvCxnSpPr>
        <p:spPr>
          <a:xfrm rot="-5400000">
            <a:off x="6073550" y="5097777"/>
            <a:ext cx="195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99" name="Google Shape;99;g409b21ed24f_0_38"/>
          <p:cNvSpPr/>
          <p:nvPr/>
        </p:nvSpPr>
        <p:spPr>
          <a:xfrm>
            <a:off x="2143358" y="2940823"/>
            <a:ext cx="1005900" cy="48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refine</a:t>
            </a:r>
            <a:endParaRPr dirty="0"/>
          </a:p>
        </p:txBody>
      </p:sp>
      <p:sp>
        <p:nvSpPr>
          <p:cNvPr id="100" name="Google Shape;100;g409b21ed24f_0_38"/>
          <p:cNvSpPr txBox="1"/>
          <p:nvPr/>
        </p:nvSpPr>
        <p:spPr>
          <a:xfrm>
            <a:off x="10068859" y="684975"/>
            <a:ext cx="172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User</a:t>
            </a:r>
            <a:endParaRPr/>
          </a:p>
        </p:txBody>
      </p:sp>
      <p:sp>
        <p:nvSpPr>
          <p:cNvPr id="101" name="Google Shape;101;g409b21ed24f_0_38"/>
          <p:cNvSpPr/>
          <p:nvPr/>
        </p:nvSpPr>
        <p:spPr>
          <a:xfrm>
            <a:off x="10203275" y="2001225"/>
            <a:ext cx="1141500" cy="481200"/>
          </a:xfrm>
          <a:prstGeom prst="flowChartProcess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Power BI</a:t>
            </a:r>
            <a:endParaRPr b="1"/>
          </a:p>
        </p:txBody>
      </p:sp>
      <p:pic>
        <p:nvPicPr>
          <p:cNvPr id="102" name="Google Shape;102;g409b21ed24f_0_38" title="business-analy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175" y="1024575"/>
            <a:ext cx="918988" cy="91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409b21ed24f_0_38" title="data-archite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1475" y="967326"/>
            <a:ext cx="1005899" cy="100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409b21ed24f_0_38" title="business-us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14525" y="1004925"/>
            <a:ext cx="919000" cy="9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409b21ed24f_0_38" title="ai-agent-variant-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30527" y="5364976"/>
            <a:ext cx="1005899" cy="100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409b21ed24f_0_38" title="data-develop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67525" y="1002350"/>
            <a:ext cx="1066499" cy="106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409b21ed24f_0_38"/>
          <p:cNvSpPr/>
          <p:nvPr/>
        </p:nvSpPr>
        <p:spPr>
          <a:xfrm>
            <a:off x="6065198" y="1585821"/>
            <a:ext cx="1793400" cy="2865000"/>
          </a:xfrm>
          <a:prstGeom prst="flowChartAlternateProcess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06666"/>
                </a:solidFill>
              </a:rPr>
              <a:t>demo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85" name="Google Shape;85;g409b21ed24f_0_38"/>
          <p:cNvSpPr/>
          <p:nvPr/>
        </p:nvSpPr>
        <p:spPr>
          <a:xfrm>
            <a:off x="7267412" y="2932615"/>
            <a:ext cx="1005900" cy="48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review</a:t>
            </a:r>
            <a:endParaRPr dirty="0"/>
          </a:p>
        </p:txBody>
      </p:sp>
      <p:sp>
        <p:nvSpPr>
          <p:cNvPr id="84" name="Google Shape;84;g409b21ed24f_0_38"/>
          <p:cNvSpPr/>
          <p:nvPr/>
        </p:nvSpPr>
        <p:spPr>
          <a:xfrm>
            <a:off x="5412813" y="2952289"/>
            <a:ext cx="1005900" cy="48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review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This Means for Basware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858000" y="502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this matters for the next 16 KPIs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274320" y="1143000"/>
            <a:ext cx="571500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143000" y="1399032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Definitions Surfaced Early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94360" y="2057400"/>
            <a:ext cx="50749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54565A"/>
                </a:solidFill>
              </a:rPr>
              <a:t>Design documentation, ADRs, business definitions, roles &amp; responsibilities, conventions precede development. Each step leaves auditable records supporting consistent high-quality development process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263640" y="1143000"/>
            <a:ext cx="571500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492240" y="1371600"/>
            <a:ext cx="457200" cy="4572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649224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132320" y="1399032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Reviewable Checkpoints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583680" y="2057400"/>
            <a:ext cx="50749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A technical design document becomes a real checkpoint, not an afterthought buried in a commit.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274320" y="3794760"/>
            <a:ext cx="571500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02920" y="4023360"/>
            <a:ext cx="457200" cy="4572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502920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1143000" y="4050792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AI Absorbs the Mechanical Work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94360" y="4709160"/>
            <a:ext cx="50749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Pipeline code, tests, and documentation are generated — so your team’s time goes to definitions and review.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263640" y="3794760"/>
            <a:ext cx="571500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6492240" y="4023360"/>
            <a:ext cx="457200" cy="4572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492240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9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6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7132320" y="4050792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Discipline That Scales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583680" y="4709160"/>
            <a:ext cx="50749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54565A"/>
                </a:solidFill>
                <a:latin typeface="Arial"/>
                <a:ea typeface="Arial"/>
                <a:cs typeface="Arial"/>
                <a:sym typeface="Arial"/>
              </a:rPr>
              <a:t>The same rigor that catches one ambiguous metric extends structurally to the whole remaining KPI backlog.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0789920" y="10972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N-i</a:t>
            </a:r>
            <a:r>
              <a:rPr lang="en-US" sz="1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431</Words>
  <Application>Microsoft Macintosh PowerPoint</Application>
  <PresentationFormat>Widescreen</PresentationFormat>
  <Paragraphs>83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AI-Assisted Development Life Cycle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Ruslan Maznytsia</cp:lastModifiedBy>
  <cp:revision>2</cp:revision>
  <dcterms:created xsi:type="dcterms:W3CDTF">2026-08-13T15:21:41Z</dcterms:created>
  <dcterms:modified xsi:type="dcterms:W3CDTF">2026-08-17T15:01:30Z</dcterms:modified>
</cp:coreProperties>
</file>